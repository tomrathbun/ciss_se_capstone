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1970" cy="6858000"/>
  <p:notesSz cx="6858000" cy="1219197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1F47"/>
        </a:solidFill>
      </p:bgPr>
    </p:bg>
    <p:spTree>
      <p:nvGrpSpPr>
        <p:cNvPr id="1" name=""/>
        <p:cNvGrpSpPr/>
        <p:nvPr/>
      </p:nvGrpSpPr>
      <p:grpSpPr>
        <a:xfrm>
          <a:off x="0" y="0"/>
          <a:ext cx="0" cy="0"/>
          <a:chOff x="0" y="0"/>
          <a:chExt cx="0" cy="0"/>
        </a:xfrm>
      </p:grpSpPr>
      <p:sp>
        <p:nvSpPr>
          <p:cNvPr id="2" name="Shape 0"/>
          <p:cNvSpPr/>
          <p:nvPr/>
        </p:nvSpPr>
        <p:spPr>
          <a:xfrm>
            <a:off x="548640" y="548640"/>
            <a:ext cx="1051560" cy="0"/>
          </a:xfrm>
          <a:prstGeom prst="line">
            <a:avLst/>
          </a:prstGeom>
          <a:noFill/>
          <a:ln w="22225">
            <a:solidFill>
              <a:srgbClr val="DBA111"/>
            </a:solidFill>
            <a:prstDash val="solid"/>
          </a:ln>
        </p:spPr>
      </p:sp>
      <p:sp>
        <p:nvSpPr>
          <p:cNvPr id="3" name="Shape 1"/>
          <p:cNvSpPr/>
          <p:nvPr/>
        </p:nvSpPr>
        <p:spPr>
          <a:xfrm>
            <a:off x="548640" y="548640"/>
            <a:ext cx="0" cy="932688"/>
          </a:xfrm>
          <a:prstGeom prst="line">
            <a:avLst/>
          </a:prstGeom>
          <a:noFill/>
          <a:ln w="22225">
            <a:solidFill>
              <a:srgbClr val="DBA111"/>
            </a:solidFill>
            <a:prstDash val="solid"/>
          </a:ln>
        </p:spPr>
      </p:sp>
      <p:sp>
        <p:nvSpPr>
          <p:cNvPr id="4" name="Text 2"/>
          <p:cNvSpPr/>
          <p:nvPr/>
        </p:nvSpPr>
        <p:spPr>
          <a:xfrm>
            <a:off x="548640" y="1691640"/>
            <a:ext cx="10972800" cy="292608"/>
          </a:xfrm>
          <a:prstGeom prst="rect">
            <a:avLst/>
          </a:prstGeom>
          <a:noFill/>
          <a:ln/>
        </p:spPr>
        <p:txBody>
          <a:bodyPr wrap="square" lIns="0" tIns="0" rIns="0" bIns="0" rtlCol="0" anchor="ctr"/>
          <a:lstStyle/>
          <a:p>
            <a:pPr indent="0" marL="0">
              <a:buNone/>
            </a:pPr>
            <a:r>
              <a:rPr lang="en-US" sz="1300" b="1" spc="350" kern="0" dirty="0">
                <a:solidFill>
                  <a:srgbClr val="DBA111"/>
                </a:solidFill>
                <a:latin typeface="Calibri" pitchFamily="34" charset="0"/>
                <a:ea typeface="Calibri" pitchFamily="34" charset="-122"/>
                <a:cs typeface="Calibri" pitchFamily="34" charset="-120"/>
              </a:rPr>
              <a:t>LOCKHEED MARTIN  ·  CISS PROGRAM</a:t>
            </a:r>
            <a:endParaRPr lang="en-US" sz="1300" dirty="0"/>
          </a:p>
        </p:txBody>
      </p:sp>
      <p:sp>
        <p:nvSpPr>
          <p:cNvPr id="5" name="Text 3"/>
          <p:cNvSpPr/>
          <p:nvPr/>
        </p:nvSpPr>
        <p:spPr>
          <a:xfrm>
            <a:off x="548640" y="2057400"/>
            <a:ext cx="11064240" cy="868680"/>
          </a:xfrm>
          <a:prstGeom prst="rect">
            <a:avLst/>
          </a:prstGeom>
          <a:noFill/>
          <a:ln/>
        </p:spPr>
        <p:txBody>
          <a:bodyPr wrap="square" lIns="0" tIns="0" rIns="0" bIns="0" rtlCol="0" anchor="ctr"/>
          <a:lstStyle/>
          <a:p>
            <a:pPr indent="0" marL="0">
              <a:buNone/>
            </a:pPr>
            <a:r>
              <a:rPr lang="en-US" sz="4000" b="1" dirty="0">
                <a:solidFill>
                  <a:srgbClr val="FFFFFF"/>
                </a:solidFill>
                <a:latin typeface="Century Gothic" pitchFamily="34" charset="0"/>
                <a:ea typeface="Century Gothic" pitchFamily="34" charset="-122"/>
                <a:cs typeface="Century Gothic" pitchFamily="34" charset="-120"/>
              </a:rPr>
              <a:t>Internship Delivery Approach</a:t>
            </a:r>
            <a:endParaRPr lang="en-US" sz="4000" dirty="0"/>
          </a:p>
        </p:txBody>
      </p:sp>
      <p:sp>
        <p:nvSpPr>
          <p:cNvPr id="6" name="Text 4"/>
          <p:cNvSpPr/>
          <p:nvPr/>
        </p:nvSpPr>
        <p:spPr>
          <a:xfrm>
            <a:off x="548640" y="2944368"/>
            <a:ext cx="11064240" cy="384048"/>
          </a:xfrm>
          <a:prstGeom prst="rect">
            <a:avLst/>
          </a:prstGeom>
          <a:noFill/>
          <a:ln/>
        </p:spPr>
        <p:txBody>
          <a:bodyPr wrap="square" lIns="0" tIns="0" rIns="0" bIns="0" rtlCol="0" anchor="ctr"/>
          <a:lstStyle/>
          <a:p>
            <a:pPr indent="0" marL="0">
              <a:buNone/>
            </a:pPr>
            <a:r>
              <a:rPr lang="en-US" sz="1800" i="1" dirty="0">
                <a:solidFill>
                  <a:srgbClr val="9CA3AF"/>
                </a:solidFill>
                <a:latin typeface="Century Gothic" pitchFamily="34" charset="0"/>
                <a:ea typeface="Century Gothic" pitchFamily="34" charset="-122"/>
                <a:cs typeface="Century Gothic" pitchFamily="34" charset="-120"/>
              </a:rPr>
              <a:t>Masdar City afternoons  ·  common foundation  ·  capstone-driven depth</a:t>
            </a:r>
            <a:endParaRPr lang="en-US" sz="1800" dirty="0"/>
          </a:p>
        </p:txBody>
      </p:sp>
      <p:sp>
        <p:nvSpPr>
          <p:cNvPr id="7" name="Shape 5"/>
          <p:cNvSpPr/>
          <p:nvPr/>
        </p:nvSpPr>
        <p:spPr>
          <a:xfrm>
            <a:off x="548640" y="3493008"/>
            <a:ext cx="7406640" cy="0"/>
          </a:xfrm>
          <a:prstGeom prst="line">
            <a:avLst/>
          </a:prstGeom>
          <a:noFill/>
          <a:ln w="22225">
            <a:solidFill>
              <a:srgbClr val="DBA111"/>
            </a:solidFill>
            <a:prstDash val="solid"/>
          </a:ln>
        </p:spPr>
      </p:sp>
      <p:sp>
        <p:nvSpPr>
          <p:cNvPr id="8" name="Text 6"/>
          <p:cNvSpPr/>
          <p:nvPr/>
        </p:nvSpPr>
        <p:spPr>
          <a:xfrm>
            <a:off x="548640" y="3703320"/>
            <a:ext cx="10515600" cy="777240"/>
          </a:xfrm>
          <a:prstGeom prst="rect">
            <a:avLst/>
          </a:prstGeom>
          <a:noFill/>
          <a:ln/>
        </p:spPr>
        <p:txBody>
          <a:bodyPr wrap="square" lIns="0" tIns="0" rIns="0" bIns="0" rtlCol="0" anchor="ctr"/>
          <a:lstStyle/>
          <a:p>
            <a:pPr indent="0" marL="0">
              <a:buNone/>
            </a:pPr>
            <a:r>
              <a:rPr lang="en-US" sz="1500" dirty="0">
                <a:solidFill>
                  <a:srgbClr val="9CA3AF"/>
                </a:solidFill>
                <a:latin typeface="Calibri" pitchFamily="34" charset="0"/>
                <a:ea typeface="Calibri" pitchFamily="34" charset="-122"/>
                <a:cs typeface="Calibri" pitchFamily="34" charset="-120"/>
              </a:rPr>
              <a:t>A 36-week teaching model for CISS interns. Experts travel from the Software Development Center at Al Dhafra AFB to the Lockheed Martin office in Masdar City. Curriculum is not rewritten until this approach is agreed.</a:t>
            </a:r>
            <a:endParaRPr lang="en-US" sz="1500" dirty="0"/>
          </a:p>
        </p:txBody>
      </p:sp>
      <p:sp>
        <p:nvSpPr>
          <p:cNvPr id="9" name="Text 7"/>
          <p:cNvSpPr/>
          <p:nvPr/>
        </p:nvSpPr>
        <p:spPr>
          <a:xfrm>
            <a:off x="548640" y="6172200"/>
            <a:ext cx="4114800" cy="256032"/>
          </a:xfrm>
          <a:prstGeom prst="rect">
            <a:avLst/>
          </a:prstGeom>
          <a:noFill/>
          <a:ln/>
        </p:spPr>
        <p:txBody>
          <a:bodyPr wrap="square" lIns="0" tIns="0" rIns="0" bIns="0" rtlCol="0" anchor="ctr"/>
          <a:lstStyle/>
          <a:p>
            <a:pPr indent="0" marL="0">
              <a:buNone/>
            </a:pPr>
            <a:r>
              <a:rPr lang="en-US" sz="1100" b="1" spc="320" kern="0" dirty="0">
                <a:solidFill>
                  <a:srgbClr val="9CA3AF"/>
                </a:solidFill>
                <a:latin typeface="Calibri" pitchFamily="34" charset="0"/>
                <a:ea typeface="Calibri" pitchFamily="34" charset="-122"/>
                <a:cs typeface="Calibri" pitchFamily="34" charset="-120"/>
              </a:rPr>
              <a:t>SEPTEMBER 2026</a:t>
            </a:r>
            <a:endParaRPr lang="en-US" sz="1100" dirty="0"/>
          </a:p>
        </p:txBody>
      </p:sp>
      <p:sp>
        <p:nvSpPr>
          <p:cNvPr id="10" name="Text 8"/>
          <p:cNvSpPr/>
          <p:nvPr/>
        </p:nvSpPr>
        <p:spPr>
          <a:xfrm>
            <a:off x="6583680" y="6172200"/>
            <a:ext cx="5029200" cy="256032"/>
          </a:xfrm>
          <a:prstGeom prst="rect">
            <a:avLst/>
          </a:prstGeom>
          <a:noFill/>
          <a:ln/>
        </p:spPr>
        <p:txBody>
          <a:bodyPr wrap="square" lIns="0" tIns="0" rIns="0" bIns="0" rtlCol="0" anchor="ctr"/>
          <a:lstStyle/>
          <a:p>
            <a:pPr algn="r" indent="0" marL="0">
              <a:buNone/>
            </a:pPr>
            <a:r>
              <a:rPr lang="en-US" sz="1100" b="1" spc="240" kern="0" dirty="0">
                <a:solidFill>
                  <a:srgbClr val="9CA3AF"/>
                </a:solidFill>
                <a:latin typeface="Calibri" pitchFamily="34" charset="0"/>
                <a:ea typeface="Calibri" pitchFamily="34" charset="-122"/>
                <a:cs typeface="Calibri" pitchFamily="34" charset="-120"/>
              </a:rPr>
              <a:t>UNCLASSIFIED  |  FOR OFFICIAL USE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256032"/>
          </a:xfrm>
          <a:prstGeom prst="rect">
            <a:avLst/>
          </a:prstGeom>
          <a:noFill/>
          <a:ln/>
        </p:spPr>
        <p:txBody>
          <a:bodyPr wrap="square" lIns="0" tIns="0" rIns="0" bIns="0" rtlCol="0" anchor="ctr"/>
          <a:lstStyle/>
          <a:p>
            <a:pPr indent="0" marL="0">
              <a:buNone/>
            </a:pPr>
            <a:r>
              <a:rPr lang="en-US" sz="1100" b="1" spc="320" kern="0" dirty="0">
                <a:solidFill>
                  <a:srgbClr val="DBA111"/>
                </a:solidFill>
                <a:latin typeface="Calibri" pitchFamily="34" charset="0"/>
                <a:ea typeface="Calibri" pitchFamily="34" charset="-122"/>
                <a:cs typeface="Calibri" pitchFamily="34" charset="-120"/>
              </a:rPr>
              <a:t>PURPOSE</a:t>
            </a:r>
            <a:endParaRPr lang="en-US" sz="1100" dirty="0"/>
          </a:p>
        </p:txBody>
      </p:sp>
      <p:sp>
        <p:nvSpPr>
          <p:cNvPr id="3" name="Text 1"/>
          <p:cNvSpPr/>
          <p:nvPr/>
        </p:nvSpPr>
        <p:spPr>
          <a:xfrm>
            <a:off x="548640" y="621792"/>
            <a:ext cx="11064240" cy="566928"/>
          </a:xfrm>
          <a:prstGeom prst="rect">
            <a:avLst/>
          </a:prstGeom>
          <a:noFill/>
          <a:ln/>
        </p:spPr>
        <p:txBody>
          <a:bodyPr wrap="square" lIns="0" tIns="0" rIns="0" bIns="0" rtlCol="0" anchor="ctr"/>
          <a:lstStyle/>
          <a:p>
            <a:pPr indent="0" marL="0">
              <a:buNone/>
            </a:pPr>
            <a:r>
              <a:rPr lang="en-US" sz="2600" b="1" dirty="0">
                <a:solidFill>
                  <a:srgbClr val="034694"/>
                </a:solidFill>
                <a:latin typeface="Century Gothic" pitchFamily="34" charset="0"/>
                <a:ea typeface="Century Gothic" pitchFamily="34" charset="-122"/>
                <a:cs typeface="Century Gothic" pitchFamily="34" charset="-120"/>
              </a:rPr>
              <a:t>Agree the delivery model before rewriting training material</a:t>
            </a:r>
            <a:endParaRPr lang="en-US" sz="2600" dirty="0"/>
          </a:p>
        </p:txBody>
      </p:sp>
      <p:sp>
        <p:nvSpPr>
          <p:cNvPr id="4" name="Shape 2"/>
          <p:cNvSpPr/>
          <p:nvPr/>
        </p:nvSpPr>
        <p:spPr>
          <a:xfrm>
            <a:off x="548640" y="1371600"/>
            <a:ext cx="11064240" cy="713232"/>
          </a:xfrm>
          <a:prstGeom prst="rect">
            <a:avLst/>
          </a:prstGeom>
          <a:solidFill>
            <a:srgbClr val="F5F3EC"/>
          </a:solidFill>
          <a:ln/>
        </p:spPr>
      </p:sp>
      <p:sp>
        <p:nvSpPr>
          <p:cNvPr id="5" name="Text 3"/>
          <p:cNvSpPr/>
          <p:nvPr/>
        </p:nvSpPr>
        <p:spPr>
          <a:xfrm>
            <a:off x="749808" y="1426464"/>
            <a:ext cx="10698480" cy="603504"/>
          </a:xfrm>
          <a:prstGeom prst="rect">
            <a:avLst/>
          </a:prstGeom>
          <a:noFill/>
          <a:ln/>
        </p:spPr>
        <p:txBody>
          <a:bodyPr wrap="square" lIns="0" tIns="0" rIns="0" bIns="0" rtlCol="0" anchor="ctr"/>
          <a:lstStyle/>
          <a:p>
            <a:pPr indent="0" marL="0">
              <a:buNone/>
            </a:pPr>
            <a:r>
              <a:rPr lang="en-US" sz="1500" b="1" dirty="0">
                <a:solidFill>
                  <a:srgbClr val="034694"/>
                </a:solidFill>
                <a:latin typeface="Calibri" pitchFamily="34" charset="0"/>
                <a:ea typeface="Calibri" pitchFamily="34" charset="-122"/>
                <a:cs typeface="Calibri" pitchFamily="34" charset="-120"/>
              </a:rPr>
              <a:t>Ask:  </a:t>
            </a:r>
            <a:pPr indent="0" marL="0">
              <a:buNone/>
            </a:pPr>
            <a:r>
              <a:rPr lang="en-US" sz="1500" dirty="0">
                <a:solidFill>
                  <a:srgbClr val="111827"/>
                </a:solidFill>
                <a:latin typeface="Calibri" pitchFamily="34" charset="0"/>
                <a:ea typeface="Calibri" pitchFamily="34" charset="-122"/>
                <a:cs typeface="Calibri" pitchFamily="34" charset="-120"/>
              </a:rPr>
              <a:t>How do Lockheed Martin experts at Al Dhafra teach a 36-week internship that lives at Masdar City — without turning every afternoon into a commute problem, and without teaching defense services?</a:t>
            </a:r>
            <a:endParaRPr lang="en-US" sz="1500" dirty="0"/>
          </a:p>
        </p:txBody>
      </p:sp>
      <p:sp>
        <p:nvSpPr>
          <p:cNvPr id="6" name="Shape 4"/>
          <p:cNvSpPr/>
          <p:nvPr/>
        </p:nvSpPr>
        <p:spPr>
          <a:xfrm>
            <a:off x="548640" y="2304288"/>
            <a:ext cx="3566160" cy="3246120"/>
          </a:xfrm>
          <a:prstGeom prst="rect">
            <a:avLst/>
          </a:prstGeom>
          <a:solidFill>
            <a:srgbClr val="FFFFFF"/>
          </a:solidFill>
          <a:ln w="12700">
            <a:solidFill>
              <a:srgbClr val="E5E7EB"/>
            </a:solidFill>
            <a:prstDash val="solid"/>
          </a:ln>
        </p:spPr>
      </p:sp>
      <p:sp>
        <p:nvSpPr>
          <p:cNvPr id="7" name="Shape 5"/>
          <p:cNvSpPr/>
          <p:nvPr/>
        </p:nvSpPr>
        <p:spPr>
          <a:xfrm>
            <a:off x="548640" y="2304288"/>
            <a:ext cx="3566160" cy="73152"/>
          </a:xfrm>
          <a:prstGeom prst="rect">
            <a:avLst/>
          </a:prstGeom>
          <a:solidFill>
            <a:srgbClr val="DBA111"/>
          </a:solidFill>
          <a:ln/>
        </p:spPr>
      </p:sp>
      <p:sp>
        <p:nvSpPr>
          <p:cNvPr id="8" name="Text 6"/>
          <p:cNvSpPr/>
          <p:nvPr/>
        </p:nvSpPr>
        <p:spPr>
          <a:xfrm>
            <a:off x="804672" y="2542032"/>
            <a:ext cx="3017520" cy="502920"/>
          </a:xfrm>
          <a:prstGeom prst="rect">
            <a:avLst/>
          </a:prstGeom>
          <a:noFill/>
          <a:ln/>
        </p:spPr>
        <p:txBody>
          <a:bodyPr wrap="square" lIns="0" tIns="0" rIns="0" bIns="0" rtlCol="0" anchor="ctr"/>
          <a:lstStyle/>
          <a:p>
            <a:pPr indent="0" marL="0">
              <a:buNone/>
            </a:pPr>
            <a:r>
              <a:rPr lang="en-US" sz="3200" b="1" dirty="0">
                <a:solidFill>
                  <a:srgbClr val="034694"/>
                </a:solidFill>
                <a:latin typeface="Century Gothic" pitchFamily="34" charset="0"/>
                <a:ea typeface="Century Gothic" pitchFamily="34" charset="-122"/>
                <a:cs typeface="Century Gothic" pitchFamily="34" charset="-120"/>
              </a:rPr>
              <a:t>01</a:t>
            </a:r>
            <a:endParaRPr lang="en-US" sz="3200" dirty="0"/>
          </a:p>
        </p:txBody>
      </p:sp>
      <p:sp>
        <p:nvSpPr>
          <p:cNvPr id="9" name="Text 7"/>
          <p:cNvSpPr/>
          <p:nvPr/>
        </p:nvSpPr>
        <p:spPr>
          <a:xfrm>
            <a:off x="804672" y="3108960"/>
            <a:ext cx="3063240" cy="777240"/>
          </a:xfrm>
          <a:prstGeom prst="rect">
            <a:avLst/>
          </a:prstGeom>
          <a:noFill/>
          <a:ln/>
        </p:spPr>
        <p:txBody>
          <a:bodyPr wrap="square" lIns="0" tIns="0" rIns="0" bIns="0" rtlCol="0" anchor="ctr"/>
          <a:lstStyle/>
          <a:p>
            <a:pPr indent="0" marL="0">
              <a:buNone/>
            </a:pPr>
            <a:r>
              <a:rPr lang="en-US" sz="1800" b="1" dirty="0">
                <a:solidFill>
                  <a:srgbClr val="034694"/>
                </a:solidFill>
                <a:latin typeface="Century Gothic" pitchFamily="34" charset="0"/>
                <a:ea typeface="Century Gothic" pitchFamily="34" charset="-122"/>
                <a:cs typeface="Century Gothic" pitchFamily="34" charset="-120"/>
              </a:rPr>
              <a:t>Define the operating picture</a:t>
            </a:r>
            <a:endParaRPr lang="en-US" sz="1800" dirty="0"/>
          </a:p>
        </p:txBody>
      </p:sp>
      <p:sp>
        <p:nvSpPr>
          <p:cNvPr id="10" name="Text 8"/>
          <p:cNvSpPr/>
          <p:nvPr/>
        </p:nvSpPr>
        <p:spPr>
          <a:xfrm>
            <a:off x="804672" y="3931920"/>
            <a:ext cx="3063240" cy="1325880"/>
          </a:xfrm>
          <a:prstGeom prst="rect">
            <a:avLst/>
          </a:prstGeom>
          <a:noFill/>
          <a:ln/>
        </p:spPr>
        <p:txBody>
          <a:bodyPr wrap="square" lIns="0" tIns="0" rIns="0" bIns="0" rtlCol="0" anchor="ctr"/>
          <a:lstStyle/>
          <a:p>
            <a:pPr indent="0" marL="0">
              <a:buNone/>
            </a:pPr>
            <a:r>
              <a:rPr lang="en-US" sz="1400" dirty="0">
                <a:solidFill>
                  <a:srgbClr val="111827"/>
                </a:solidFill>
                <a:latin typeface="Calibri" pitchFamily="34" charset="0"/>
                <a:ea typeface="Calibri" pitchFamily="34" charset="-122"/>
                <a:cs typeface="Calibri" pitchFamily="34" charset="-120"/>
              </a:rPr>
              <a:t>Who travels, where teaching happens, and how a five-day afternoon cadence maps to four disciplines.</a:t>
            </a:r>
            <a:endParaRPr lang="en-US" sz="1400" dirty="0"/>
          </a:p>
        </p:txBody>
      </p:sp>
      <p:sp>
        <p:nvSpPr>
          <p:cNvPr id="11" name="Shape 9"/>
          <p:cNvSpPr/>
          <p:nvPr/>
        </p:nvSpPr>
        <p:spPr>
          <a:xfrm>
            <a:off x="4297680" y="2304288"/>
            <a:ext cx="3566160" cy="3246120"/>
          </a:xfrm>
          <a:prstGeom prst="rect">
            <a:avLst/>
          </a:prstGeom>
          <a:solidFill>
            <a:srgbClr val="FFFFFF"/>
          </a:solidFill>
          <a:ln w="12700">
            <a:solidFill>
              <a:srgbClr val="E5E7EB"/>
            </a:solidFill>
            <a:prstDash val="solid"/>
          </a:ln>
        </p:spPr>
      </p:sp>
      <p:sp>
        <p:nvSpPr>
          <p:cNvPr id="12" name="Shape 10"/>
          <p:cNvSpPr/>
          <p:nvPr/>
        </p:nvSpPr>
        <p:spPr>
          <a:xfrm>
            <a:off x="4297680" y="2304288"/>
            <a:ext cx="3566160" cy="73152"/>
          </a:xfrm>
          <a:prstGeom prst="rect">
            <a:avLst/>
          </a:prstGeom>
          <a:solidFill>
            <a:srgbClr val="DBA111"/>
          </a:solidFill>
          <a:ln/>
        </p:spPr>
      </p:sp>
      <p:sp>
        <p:nvSpPr>
          <p:cNvPr id="13" name="Text 11"/>
          <p:cNvSpPr/>
          <p:nvPr/>
        </p:nvSpPr>
        <p:spPr>
          <a:xfrm>
            <a:off x="4553712" y="2542032"/>
            <a:ext cx="3017520" cy="502920"/>
          </a:xfrm>
          <a:prstGeom prst="rect">
            <a:avLst/>
          </a:prstGeom>
          <a:noFill/>
          <a:ln/>
        </p:spPr>
        <p:txBody>
          <a:bodyPr wrap="square" lIns="0" tIns="0" rIns="0" bIns="0" rtlCol="0" anchor="ctr"/>
          <a:lstStyle/>
          <a:p>
            <a:pPr indent="0" marL="0">
              <a:buNone/>
            </a:pPr>
            <a:r>
              <a:rPr lang="en-US" sz="3200" b="1" dirty="0">
                <a:solidFill>
                  <a:srgbClr val="034694"/>
                </a:solidFill>
                <a:latin typeface="Century Gothic" pitchFamily="34" charset="0"/>
                <a:ea typeface="Century Gothic" pitchFamily="34" charset="-122"/>
                <a:cs typeface="Century Gothic" pitchFamily="34" charset="-120"/>
              </a:rPr>
              <a:t>02</a:t>
            </a:r>
            <a:endParaRPr lang="en-US" sz="3200" dirty="0"/>
          </a:p>
        </p:txBody>
      </p:sp>
      <p:sp>
        <p:nvSpPr>
          <p:cNvPr id="14" name="Text 12"/>
          <p:cNvSpPr/>
          <p:nvPr/>
        </p:nvSpPr>
        <p:spPr>
          <a:xfrm>
            <a:off x="4553712" y="3108960"/>
            <a:ext cx="3063240" cy="777240"/>
          </a:xfrm>
          <a:prstGeom prst="rect">
            <a:avLst/>
          </a:prstGeom>
          <a:noFill/>
          <a:ln/>
        </p:spPr>
        <p:txBody>
          <a:bodyPr wrap="square" lIns="0" tIns="0" rIns="0" bIns="0" rtlCol="0" anchor="ctr"/>
          <a:lstStyle/>
          <a:p>
            <a:pPr indent="0" marL="0">
              <a:buNone/>
            </a:pPr>
            <a:r>
              <a:rPr lang="en-US" sz="1800" b="1" dirty="0">
                <a:solidFill>
                  <a:srgbClr val="034694"/>
                </a:solidFill>
                <a:latin typeface="Century Gothic" pitchFamily="34" charset="0"/>
                <a:ea typeface="Century Gothic" pitchFamily="34" charset="-122"/>
                <a:cs typeface="Century Gothic" pitchFamily="34" charset="-120"/>
              </a:rPr>
              <a:t>Lock the 36-week phasing</a:t>
            </a:r>
            <a:endParaRPr lang="en-US" sz="1800" dirty="0"/>
          </a:p>
        </p:txBody>
      </p:sp>
      <p:sp>
        <p:nvSpPr>
          <p:cNvPr id="15" name="Text 13"/>
          <p:cNvSpPr/>
          <p:nvPr/>
        </p:nvSpPr>
        <p:spPr>
          <a:xfrm>
            <a:off x="4553712" y="3931920"/>
            <a:ext cx="3063240" cy="1325880"/>
          </a:xfrm>
          <a:prstGeom prst="rect">
            <a:avLst/>
          </a:prstGeom>
          <a:noFill/>
          <a:ln/>
        </p:spPr>
        <p:txBody>
          <a:bodyPr wrap="square" lIns="0" tIns="0" rIns="0" bIns="0" rtlCol="0" anchor="ctr"/>
          <a:lstStyle/>
          <a:p>
            <a:pPr indent="0" marL="0">
              <a:buNone/>
            </a:pPr>
            <a:r>
              <a:rPr lang="en-US" sz="1400" dirty="0">
                <a:solidFill>
                  <a:srgbClr val="111827"/>
                </a:solidFill>
                <a:latin typeface="Calibri" pitchFamily="34" charset="0"/>
                <a:ea typeface="Calibri" pitchFamily="34" charset="-122"/>
                <a:cs typeface="Calibri" pitchFamily="34" charset="-120"/>
              </a:rPr>
              <a:t>Common foundation, capstone kickoff, weekly work loop, military insertion, and a possible SDC phase.</a:t>
            </a:r>
            <a:endParaRPr lang="en-US" sz="1400" dirty="0"/>
          </a:p>
        </p:txBody>
      </p:sp>
      <p:sp>
        <p:nvSpPr>
          <p:cNvPr id="16" name="Shape 14"/>
          <p:cNvSpPr/>
          <p:nvPr/>
        </p:nvSpPr>
        <p:spPr>
          <a:xfrm>
            <a:off x="8046720" y="2304288"/>
            <a:ext cx="3566160" cy="3246120"/>
          </a:xfrm>
          <a:prstGeom prst="rect">
            <a:avLst/>
          </a:prstGeom>
          <a:solidFill>
            <a:srgbClr val="FFFFFF"/>
          </a:solidFill>
          <a:ln w="12700">
            <a:solidFill>
              <a:srgbClr val="E5E7EB"/>
            </a:solidFill>
            <a:prstDash val="solid"/>
          </a:ln>
        </p:spPr>
      </p:sp>
      <p:sp>
        <p:nvSpPr>
          <p:cNvPr id="17" name="Shape 15"/>
          <p:cNvSpPr/>
          <p:nvPr/>
        </p:nvSpPr>
        <p:spPr>
          <a:xfrm>
            <a:off x="8046720" y="2304288"/>
            <a:ext cx="3566160" cy="73152"/>
          </a:xfrm>
          <a:prstGeom prst="rect">
            <a:avLst/>
          </a:prstGeom>
          <a:solidFill>
            <a:srgbClr val="DBA111"/>
          </a:solidFill>
          <a:ln/>
        </p:spPr>
      </p:sp>
      <p:sp>
        <p:nvSpPr>
          <p:cNvPr id="18" name="Text 16"/>
          <p:cNvSpPr/>
          <p:nvPr/>
        </p:nvSpPr>
        <p:spPr>
          <a:xfrm>
            <a:off x="8302752" y="2542032"/>
            <a:ext cx="3017520" cy="502920"/>
          </a:xfrm>
          <a:prstGeom prst="rect">
            <a:avLst/>
          </a:prstGeom>
          <a:noFill/>
          <a:ln/>
        </p:spPr>
        <p:txBody>
          <a:bodyPr wrap="square" lIns="0" tIns="0" rIns="0" bIns="0" rtlCol="0" anchor="ctr"/>
          <a:lstStyle/>
          <a:p>
            <a:pPr indent="0" marL="0">
              <a:buNone/>
            </a:pPr>
            <a:r>
              <a:rPr lang="en-US" sz="3200" b="1" dirty="0">
                <a:solidFill>
                  <a:srgbClr val="034694"/>
                </a:solidFill>
                <a:latin typeface="Century Gothic" pitchFamily="34" charset="0"/>
                <a:ea typeface="Century Gothic" pitchFamily="34" charset="-122"/>
                <a:cs typeface="Century Gothic" pitchFamily="34" charset="-120"/>
              </a:rPr>
              <a:t>03</a:t>
            </a:r>
            <a:endParaRPr lang="en-US" sz="3200" dirty="0"/>
          </a:p>
        </p:txBody>
      </p:sp>
      <p:sp>
        <p:nvSpPr>
          <p:cNvPr id="19" name="Text 17"/>
          <p:cNvSpPr/>
          <p:nvPr/>
        </p:nvSpPr>
        <p:spPr>
          <a:xfrm>
            <a:off x="8302752" y="3108960"/>
            <a:ext cx="3063240" cy="777240"/>
          </a:xfrm>
          <a:prstGeom prst="rect">
            <a:avLst/>
          </a:prstGeom>
          <a:noFill/>
          <a:ln/>
        </p:spPr>
        <p:txBody>
          <a:bodyPr wrap="square" lIns="0" tIns="0" rIns="0" bIns="0" rtlCol="0" anchor="ctr"/>
          <a:lstStyle/>
          <a:p>
            <a:pPr indent="0" marL="0">
              <a:buNone/>
            </a:pPr>
            <a:r>
              <a:rPr lang="en-US" sz="1800" b="1" dirty="0">
                <a:solidFill>
                  <a:srgbClr val="034694"/>
                </a:solidFill>
                <a:latin typeface="Century Gothic" pitchFamily="34" charset="0"/>
                <a:ea typeface="Century Gothic" pitchFamily="34" charset="-122"/>
                <a:cs typeface="Century Gothic" pitchFamily="34" charset="-120"/>
              </a:rPr>
              <a:t>Name the first-four-week topics</a:t>
            </a:r>
            <a:endParaRPr lang="en-US" sz="1800" dirty="0"/>
          </a:p>
        </p:txBody>
      </p:sp>
      <p:sp>
        <p:nvSpPr>
          <p:cNvPr id="20" name="Text 18"/>
          <p:cNvSpPr/>
          <p:nvPr/>
        </p:nvSpPr>
        <p:spPr>
          <a:xfrm>
            <a:off x="8302752" y="3931920"/>
            <a:ext cx="3063240" cy="1325880"/>
          </a:xfrm>
          <a:prstGeom prst="rect">
            <a:avLst/>
          </a:prstGeom>
          <a:noFill/>
          <a:ln/>
        </p:spPr>
        <p:txBody>
          <a:bodyPr wrap="square" lIns="0" tIns="0" rIns="0" bIns="0" rtlCol="0" anchor="ctr"/>
          <a:lstStyle/>
          <a:p>
            <a:pPr indent="0" marL="0">
              <a:buNone/>
            </a:pPr>
            <a:r>
              <a:rPr lang="en-US" sz="1400" dirty="0">
                <a:solidFill>
                  <a:srgbClr val="111827"/>
                </a:solidFill>
                <a:latin typeface="Calibri" pitchFamily="34" charset="0"/>
                <a:ea typeface="Calibri" pitchFamily="34" charset="-122"/>
                <a:cs typeface="Calibri" pitchFamily="34" charset="-120"/>
              </a:rPr>
              <a:t>General, useful literacy per discipline — before any track dives into its craft.</a:t>
            </a:r>
            <a:endParaRPr lang="en-US" sz="1400" dirty="0"/>
          </a:p>
        </p:txBody>
      </p:sp>
      <p:sp>
        <p:nvSpPr>
          <p:cNvPr id="21" name="Shape 19"/>
          <p:cNvSpPr/>
          <p:nvPr/>
        </p:nvSpPr>
        <p:spPr>
          <a:xfrm>
            <a:off x="548640" y="6501384"/>
            <a:ext cx="320040" cy="36576"/>
          </a:xfrm>
          <a:prstGeom prst="rect">
            <a:avLst/>
          </a:prstGeom>
          <a:solidFill>
            <a:srgbClr val="DBA111"/>
          </a:solidFill>
          <a:ln/>
        </p:spPr>
      </p:sp>
      <p:sp>
        <p:nvSpPr>
          <p:cNvPr id="22" name="Text 20"/>
          <p:cNvSpPr/>
          <p:nvPr/>
        </p:nvSpPr>
        <p:spPr>
          <a:xfrm>
            <a:off x="960120" y="6382512"/>
            <a:ext cx="6583680" cy="274320"/>
          </a:xfrm>
          <a:prstGeom prst="rect">
            <a:avLst/>
          </a:prstGeom>
          <a:noFill/>
          <a:ln/>
        </p:spPr>
        <p:txBody>
          <a:bodyPr wrap="square" lIns="0" tIns="0" rIns="0" bIns="0" rtlCol="0" anchor="ctr"/>
          <a:lstStyle/>
          <a:p>
            <a:pPr indent="0" marL="0">
              <a:buNone/>
            </a:pPr>
            <a:r>
              <a:rPr lang="en-US" sz="1000" b="1" spc="160" kern="0" dirty="0">
                <a:solidFill>
                  <a:srgbClr val="475569"/>
                </a:solidFill>
                <a:latin typeface="Calibri" pitchFamily="34" charset="0"/>
                <a:ea typeface="Calibri" pitchFamily="34" charset="-122"/>
                <a:cs typeface="Calibri" pitchFamily="34" charset="-120"/>
              </a:rPr>
              <a:t>CISS INTERNSHIP  |  DELIVERY APPROACH</a:t>
            </a:r>
            <a:endParaRPr lang="en-US" sz="1000" dirty="0"/>
          </a:p>
        </p:txBody>
      </p:sp>
      <p:sp>
        <p:nvSpPr>
          <p:cNvPr id="23" name="Text 21"/>
          <p:cNvSpPr/>
          <p:nvPr/>
        </p:nvSpPr>
        <p:spPr>
          <a:xfrm>
            <a:off x="7406640" y="6382512"/>
            <a:ext cx="3291840" cy="274320"/>
          </a:xfrm>
          <a:prstGeom prst="rect">
            <a:avLst/>
          </a:prstGeom>
          <a:noFill/>
          <a:ln/>
        </p:spPr>
        <p:txBody>
          <a:bodyPr wrap="square" lIns="0" tIns="0" rIns="0" bIns="0" rtlCol="0" anchor="ctr"/>
          <a:lstStyle/>
          <a:p>
            <a:pPr algn="r" indent="0" marL="0">
              <a:buNone/>
            </a:pPr>
            <a:r>
              <a:rPr lang="en-US" sz="1000" i="1" dirty="0">
                <a:solidFill>
                  <a:srgbClr val="475569"/>
                </a:solidFill>
                <a:latin typeface="Calibri" pitchFamily="34" charset="0"/>
                <a:ea typeface="Calibri" pitchFamily="34" charset="-122"/>
                <a:cs typeface="Calibri" pitchFamily="34" charset="-120"/>
              </a:rPr>
              <a:t>Purpose</a:t>
            </a:r>
            <a:endParaRPr lang="en-US" sz="1000" dirty="0"/>
          </a:p>
        </p:txBody>
      </p:sp>
      <p:sp>
        <p:nvSpPr>
          <p:cNvPr id="24" name="Text 22"/>
          <p:cNvSpPr/>
          <p:nvPr/>
        </p:nvSpPr>
        <p:spPr>
          <a:xfrm>
            <a:off x="10835640" y="6382512"/>
            <a:ext cx="777240" cy="274320"/>
          </a:xfrm>
          <a:prstGeom prst="rect">
            <a:avLst/>
          </a:prstGeom>
          <a:noFill/>
          <a:ln/>
        </p:spPr>
        <p:txBody>
          <a:bodyPr wrap="square" lIns="0" tIns="0" rIns="0" bIns="0" rtlCol="0" anchor="ctr"/>
          <a:lstStyle/>
          <a:p>
            <a:pPr algn="r" indent="0" marL="0">
              <a:buNone/>
            </a:pPr>
            <a:r>
              <a:rPr lang="en-US" sz="1200" b="1" dirty="0">
                <a:solidFill>
                  <a:srgbClr val="034694"/>
                </a:solidFill>
                <a:latin typeface="Century Gothic" pitchFamily="34" charset="0"/>
                <a:ea typeface="Century Gothic" pitchFamily="34" charset="-122"/>
                <a:cs typeface="Century Gothic"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256032"/>
          </a:xfrm>
          <a:prstGeom prst="rect">
            <a:avLst/>
          </a:prstGeom>
          <a:noFill/>
          <a:ln/>
        </p:spPr>
        <p:txBody>
          <a:bodyPr wrap="square" lIns="0" tIns="0" rIns="0" bIns="0" rtlCol="0" anchor="ctr"/>
          <a:lstStyle/>
          <a:p>
            <a:pPr indent="0" marL="0">
              <a:buNone/>
            </a:pPr>
            <a:r>
              <a:rPr lang="en-US" sz="1100" b="1" spc="320" kern="0" dirty="0">
                <a:solidFill>
                  <a:srgbClr val="DBA111"/>
                </a:solidFill>
                <a:latin typeface="Calibri" pitchFamily="34" charset="0"/>
                <a:ea typeface="Calibri" pitchFamily="34" charset="-122"/>
                <a:cs typeface="Calibri" pitchFamily="34" charset="-120"/>
              </a:rPr>
              <a:t>OPERATING PICTURE</a:t>
            </a:r>
            <a:endParaRPr lang="en-US" sz="1100" dirty="0"/>
          </a:p>
        </p:txBody>
      </p:sp>
      <p:sp>
        <p:nvSpPr>
          <p:cNvPr id="3" name="Text 1"/>
          <p:cNvSpPr/>
          <p:nvPr/>
        </p:nvSpPr>
        <p:spPr>
          <a:xfrm>
            <a:off x="548640" y="621792"/>
            <a:ext cx="11064240" cy="566928"/>
          </a:xfrm>
          <a:prstGeom prst="rect">
            <a:avLst/>
          </a:prstGeom>
          <a:noFill/>
          <a:ln/>
        </p:spPr>
        <p:txBody>
          <a:bodyPr wrap="square" lIns="0" tIns="0" rIns="0" bIns="0" rtlCol="0" anchor="ctr"/>
          <a:lstStyle/>
          <a:p>
            <a:pPr indent="0" marL="0">
              <a:buNone/>
            </a:pPr>
            <a:r>
              <a:rPr lang="en-US" sz="2600" b="1" dirty="0">
                <a:solidFill>
                  <a:srgbClr val="034694"/>
                </a:solidFill>
                <a:latin typeface="Century Gothic" pitchFamily="34" charset="0"/>
                <a:ea typeface="Century Gothic" pitchFamily="34" charset="-122"/>
                <a:cs typeface="Century Gothic" pitchFamily="34" charset="-120"/>
              </a:rPr>
              <a:t>Experts stay at the SDC. Teaching happens at Masdar.</a:t>
            </a:r>
            <a:endParaRPr lang="en-US" sz="2600" dirty="0"/>
          </a:p>
        </p:txBody>
      </p:sp>
      <p:sp>
        <p:nvSpPr>
          <p:cNvPr id="4" name="Shape 2"/>
          <p:cNvSpPr/>
          <p:nvPr/>
        </p:nvSpPr>
        <p:spPr>
          <a:xfrm>
            <a:off x="548640" y="1371600"/>
            <a:ext cx="4892040" cy="3246120"/>
          </a:xfrm>
          <a:prstGeom prst="rect">
            <a:avLst/>
          </a:prstGeom>
          <a:solidFill>
            <a:srgbClr val="021F47"/>
          </a:solidFill>
          <a:ln/>
        </p:spPr>
      </p:sp>
      <p:sp>
        <p:nvSpPr>
          <p:cNvPr id="5" name="Shape 3"/>
          <p:cNvSpPr/>
          <p:nvPr/>
        </p:nvSpPr>
        <p:spPr>
          <a:xfrm>
            <a:off x="548640" y="1371600"/>
            <a:ext cx="4892040" cy="73152"/>
          </a:xfrm>
          <a:prstGeom prst="rect">
            <a:avLst/>
          </a:prstGeom>
          <a:solidFill>
            <a:srgbClr val="DBA111"/>
          </a:solidFill>
          <a:ln/>
        </p:spPr>
      </p:sp>
      <p:sp>
        <p:nvSpPr>
          <p:cNvPr id="6" name="Text 4"/>
          <p:cNvSpPr/>
          <p:nvPr/>
        </p:nvSpPr>
        <p:spPr>
          <a:xfrm>
            <a:off x="777240" y="1572768"/>
            <a:ext cx="4480560" cy="256032"/>
          </a:xfrm>
          <a:prstGeom prst="rect">
            <a:avLst/>
          </a:prstGeom>
          <a:noFill/>
          <a:ln/>
        </p:spPr>
        <p:txBody>
          <a:bodyPr wrap="square" lIns="0" tIns="0" rIns="0" bIns="0" rtlCol="0" anchor="ctr"/>
          <a:lstStyle/>
          <a:p>
            <a:pPr indent="0" marL="0">
              <a:buNone/>
            </a:pPr>
            <a:r>
              <a:rPr lang="en-US" sz="1100" b="1" spc="180" kern="0" dirty="0">
                <a:solidFill>
                  <a:srgbClr val="DBA111"/>
                </a:solidFill>
                <a:latin typeface="Calibri" pitchFamily="34" charset="0"/>
                <a:ea typeface="Calibri" pitchFamily="34" charset="-122"/>
                <a:cs typeface="Calibri" pitchFamily="34" charset="-120"/>
              </a:rPr>
              <a:t>SOFTWARE DEVELOPMENT CENTER</a:t>
            </a:r>
            <a:endParaRPr lang="en-US" sz="1100" dirty="0"/>
          </a:p>
        </p:txBody>
      </p:sp>
      <p:sp>
        <p:nvSpPr>
          <p:cNvPr id="7" name="Text 5"/>
          <p:cNvSpPr/>
          <p:nvPr/>
        </p:nvSpPr>
        <p:spPr>
          <a:xfrm>
            <a:off x="777240" y="1847088"/>
            <a:ext cx="4480560" cy="438912"/>
          </a:xfrm>
          <a:prstGeom prst="rect">
            <a:avLst/>
          </a:prstGeom>
          <a:noFill/>
          <a:ln/>
        </p:spPr>
        <p:txBody>
          <a:bodyPr wrap="square" lIns="0" tIns="0" rIns="0" bIns="0" rtlCol="0" anchor="ctr"/>
          <a:lstStyle/>
          <a:p>
            <a:pPr indent="0" marL="0">
              <a:buNone/>
            </a:pPr>
            <a:r>
              <a:rPr lang="en-US" sz="2600" b="1" dirty="0">
                <a:solidFill>
                  <a:srgbClr val="FFFFFF"/>
                </a:solidFill>
                <a:latin typeface="Century Gothic" pitchFamily="34" charset="0"/>
                <a:ea typeface="Century Gothic" pitchFamily="34" charset="-122"/>
                <a:cs typeface="Century Gothic" pitchFamily="34" charset="-120"/>
              </a:rPr>
              <a:t>Al Dhafra AFB</a:t>
            </a:r>
            <a:endParaRPr lang="en-US" sz="2600" dirty="0"/>
          </a:p>
        </p:txBody>
      </p:sp>
      <p:sp>
        <p:nvSpPr>
          <p:cNvPr id="8" name="Text 6"/>
          <p:cNvSpPr/>
          <p:nvPr/>
        </p:nvSpPr>
        <p:spPr>
          <a:xfrm>
            <a:off x="777240" y="2359152"/>
            <a:ext cx="4434840" cy="123444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Home station for the Lockheed Martin technical team. Systems Engineering, Networking, System Administration, and Software experts work here. Interns are not based here for the first 24 weeks.</a:t>
            </a:r>
            <a:endParaRPr lang="en-US" sz="1400" dirty="0"/>
          </a:p>
        </p:txBody>
      </p:sp>
      <p:sp>
        <p:nvSpPr>
          <p:cNvPr id="9" name="Text 7"/>
          <p:cNvSpPr/>
          <p:nvPr/>
        </p:nvSpPr>
        <p:spPr>
          <a:xfrm>
            <a:off x="777240" y="3794760"/>
            <a:ext cx="4434840" cy="502920"/>
          </a:xfrm>
          <a:prstGeom prst="rect">
            <a:avLst/>
          </a:prstGeom>
          <a:noFill/>
          <a:ln/>
        </p:spPr>
        <p:txBody>
          <a:bodyPr wrap="square" lIns="0" tIns="0" rIns="0" bIns="0" rtlCol="0" anchor="ctr"/>
          <a:lstStyle/>
          <a:p>
            <a:pPr indent="0" marL="0">
              <a:buNone/>
            </a:pPr>
            <a:r>
              <a:rPr lang="en-US" sz="1400" i="1" dirty="0">
                <a:solidFill>
                  <a:srgbClr val="DBA111"/>
                </a:solidFill>
                <a:latin typeface="Calibri" pitchFamily="34" charset="0"/>
                <a:ea typeface="Calibri" pitchFamily="34" charset="-122"/>
                <a:cs typeface="Calibri" pitchFamily="34" charset="-120"/>
              </a:rPr>
              <a:t>One SME travels each afternoon  ·  Mon–Fri</a:t>
            </a:r>
            <a:endParaRPr lang="en-US" sz="1400" dirty="0"/>
          </a:p>
        </p:txBody>
      </p:sp>
      <p:sp>
        <p:nvSpPr>
          <p:cNvPr id="10" name="Shape 8"/>
          <p:cNvSpPr/>
          <p:nvPr/>
        </p:nvSpPr>
        <p:spPr>
          <a:xfrm>
            <a:off x="6748272" y="1371600"/>
            <a:ext cx="4892040" cy="3246120"/>
          </a:xfrm>
          <a:prstGeom prst="rect">
            <a:avLst/>
          </a:prstGeom>
          <a:solidFill>
            <a:srgbClr val="034694"/>
          </a:solidFill>
          <a:ln/>
        </p:spPr>
      </p:sp>
      <p:sp>
        <p:nvSpPr>
          <p:cNvPr id="11" name="Shape 9"/>
          <p:cNvSpPr/>
          <p:nvPr/>
        </p:nvSpPr>
        <p:spPr>
          <a:xfrm>
            <a:off x="6748272" y="1371600"/>
            <a:ext cx="4892040" cy="73152"/>
          </a:xfrm>
          <a:prstGeom prst="rect">
            <a:avLst/>
          </a:prstGeom>
          <a:solidFill>
            <a:srgbClr val="DBA111"/>
          </a:solidFill>
          <a:ln/>
        </p:spPr>
      </p:sp>
      <p:sp>
        <p:nvSpPr>
          <p:cNvPr id="12" name="Text 10"/>
          <p:cNvSpPr/>
          <p:nvPr/>
        </p:nvSpPr>
        <p:spPr>
          <a:xfrm>
            <a:off x="6976872" y="1572768"/>
            <a:ext cx="4480560" cy="256032"/>
          </a:xfrm>
          <a:prstGeom prst="rect">
            <a:avLst/>
          </a:prstGeom>
          <a:noFill/>
          <a:ln/>
        </p:spPr>
        <p:txBody>
          <a:bodyPr wrap="square" lIns="0" tIns="0" rIns="0" bIns="0" rtlCol="0" anchor="ctr"/>
          <a:lstStyle/>
          <a:p>
            <a:pPr indent="0" marL="0">
              <a:buNone/>
            </a:pPr>
            <a:r>
              <a:rPr lang="en-US" sz="1100" b="1" spc="180" kern="0" dirty="0">
                <a:solidFill>
                  <a:srgbClr val="DBA111"/>
                </a:solidFill>
                <a:latin typeface="Calibri" pitchFamily="34" charset="0"/>
                <a:ea typeface="Calibri" pitchFamily="34" charset="-122"/>
                <a:cs typeface="Calibri" pitchFamily="34" charset="-120"/>
              </a:rPr>
              <a:t>CISS PROJECT OFFICE</a:t>
            </a:r>
            <a:endParaRPr lang="en-US" sz="1100" dirty="0"/>
          </a:p>
        </p:txBody>
      </p:sp>
      <p:sp>
        <p:nvSpPr>
          <p:cNvPr id="13" name="Text 11"/>
          <p:cNvSpPr/>
          <p:nvPr/>
        </p:nvSpPr>
        <p:spPr>
          <a:xfrm>
            <a:off x="6976872" y="1847088"/>
            <a:ext cx="4480560" cy="438912"/>
          </a:xfrm>
          <a:prstGeom prst="rect">
            <a:avLst/>
          </a:prstGeom>
          <a:noFill/>
          <a:ln/>
        </p:spPr>
        <p:txBody>
          <a:bodyPr wrap="square" lIns="0" tIns="0" rIns="0" bIns="0" rtlCol="0" anchor="ctr"/>
          <a:lstStyle/>
          <a:p>
            <a:pPr indent="0" marL="0">
              <a:buNone/>
            </a:pPr>
            <a:r>
              <a:rPr lang="en-US" sz="2600" b="1" dirty="0">
                <a:solidFill>
                  <a:srgbClr val="FFFFFF"/>
                </a:solidFill>
                <a:latin typeface="Century Gothic" pitchFamily="34" charset="0"/>
                <a:ea typeface="Century Gothic" pitchFamily="34" charset="-122"/>
                <a:cs typeface="Century Gothic" pitchFamily="34" charset="-120"/>
              </a:rPr>
              <a:t>Masdar City</a:t>
            </a:r>
            <a:endParaRPr lang="en-US" sz="2600" dirty="0"/>
          </a:p>
        </p:txBody>
      </p:sp>
      <p:sp>
        <p:nvSpPr>
          <p:cNvPr id="14" name="Text 12"/>
          <p:cNvSpPr/>
          <p:nvPr/>
        </p:nvSpPr>
        <p:spPr>
          <a:xfrm>
            <a:off x="6976872" y="2359152"/>
            <a:ext cx="4434840" cy="123444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Lockheed Martin office where the CISS internship and capstone live. Interns stay here. Morning is intern work time. Afternoon is instruction by the visiting SME.</a:t>
            </a:r>
            <a:endParaRPr lang="en-US" sz="1400" dirty="0"/>
          </a:p>
        </p:txBody>
      </p:sp>
      <p:sp>
        <p:nvSpPr>
          <p:cNvPr id="15" name="Text 13"/>
          <p:cNvSpPr/>
          <p:nvPr/>
        </p:nvSpPr>
        <p:spPr>
          <a:xfrm>
            <a:off x="6976872" y="3794760"/>
            <a:ext cx="4434840" cy="502920"/>
          </a:xfrm>
          <a:prstGeom prst="rect">
            <a:avLst/>
          </a:prstGeom>
          <a:noFill/>
          <a:ln/>
        </p:spPr>
        <p:txBody>
          <a:bodyPr wrap="square" lIns="0" tIns="0" rIns="0" bIns="0" rtlCol="0" anchor="ctr"/>
          <a:lstStyle/>
          <a:p>
            <a:pPr indent="0" marL="0">
              <a:buNone/>
            </a:pPr>
            <a:r>
              <a:rPr lang="en-US" sz="1400" i="1" dirty="0">
                <a:solidFill>
                  <a:srgbClr val="DBA111"/>
                </a:solidFill>
                <a:latin typeface="Calibri" pitchFamily="34" charset="0"/>
                <a:ea typeface="Calibri" pitchFamily="34" charset="-122"/>
                <a:cs typeface="Calibri" pitchFamily="34" charset="-120"/>
              </a:rPr>
              <a:t>All lectures and capstone work for weeks 1–24</a:t>
            </a:r>
            <a:endParaRPr lang="en-US" sz="1400" dirty="0"/>
          </a:p>
        </p:txBody>
      </p:sp>
      <p:sp>
        <p:nvSpPr>
          <p:cNvPr id="16" name="Shape 14"/>
          <p:cNvSpPr/>
          <p:nvPr/>
        </p:nvSpPr>
        <p:spPr>
          <a:xfrm>
            <a:off x="548640" y="4773168"/>
            <a:ext cx="11091672" cy="1325880"/>
          </a:xfrm>
          <a:prstGeom prst="rect">
            <a:avLst/>
          </a:prstGeom>
          <a:solidFill>
            <a:srgbClr val="F5F3EC"/>
          </a:solidFill>
          <a:ln/>
        </p:spPr>
      </p:sp>
      <p:sp>
        <p:nvSpPr>
          <p:cNvPr id="17" name="Text 15"/>
          <p:cNvSpPr/>
          <p:nvPr/>
        </p:nvSpPr>
        <p:spPr>
          <a:xfrm>
            <a:off x="777240" y="4919472"/>
            <a:ext cx="2194560" cy="365760"/>
          </a:xfrm>
          <a:prstGeom prst="rect">
            <a:avLst/>
          </a:prstGeom>
          <a:noFill/>
          <a:ln/>
        </p:spPr>
        <p:txBody>
          <a:bodyPr wrap="square" lIns="0" tIns="0" rIns="0" bIns="0" rtlCol="0" anchor="ctr"/>
          <a:lstStyle/>
          <a:p>
            <a:pPr indent="0" marL="0">
              <a:buNone/>
            </a:pPr>
            <a:r>
              <a:rPr lang="en-US" sz="1800" b="1" dirty="0">
                <a:solidFill>
                  <a:srgbClr val="034694"/>
                </a:solidFill>
                <a:latin typeface="Century Gothic" pitchFamily="34" charset="0"/>
                <a:ea typeface="Century Gothic" pitchFamily="34" charset="-122"/>
                <a:cs typeface="Century Gothic" pitchFamily="34" charset="-120"/>
              </a:rPr>
              <a:t>~30 MINUTES</a:t>
            </a:r>
            <a:endParaRPr lang="en-US" sz="1800" dirty="0"/>
          </a:p>
        </p:txBody>
      </p:sp>
      <p:sp>
        <p:nvSpPr>
          <p:cNvPr id="18" name="Text 16"/>
          <p:cNvSpPr/>
          <p:nvPr/>
        </p:nvSpPr>
        <p:spPr>
          <a:xfrm>
            <a:off x="777240" y="5285232"/>
            <a:ext cx="2194560" cy="50292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drive between sites</a:t>
            </a:r>
            <a:endParaRPr lang="en-US" sz="1300" dirty="0"/>
          </a:p>
        </p:txBody>
      </p:sp>
      <p:sp>
        <p:nvSpPr>
          <p:cNvPr id="19" name="Text 17"/>
          <p:cNvSpPr/>
          <p:nvPr/>
        </p:nvSpPr>
        <p:spPr>
          <a:xfrm>
            <a:off x="3154680" y="4919472"/>
            <a:ext cx="8183880" cy="1005840"/>
          </a:xfrm>
          <a:prstGeom prst="rect">
            <a:avLst/>
          </a:prstGeom>
          <a:noFill/>
          <a:ln/>
        </p:spPr>
        <p:txBody>
          <a:bodyPr wrap="square" lIns="0" tIns="0" rIns="0" bIns="0" rtlCol="0" anchor="ctr"/>
          <a:lstStyle/>
          <a:p>
            <a:pPr indent="0" marL="0">
              <a:buNone/>
            </a:pPr>
            <a:r>
              <a:rPr lang="en-US" sz="1400" dirty="0">
                <a:solidFill>
                  <a:srgbClr val="111827"/>
                </a:solidFill>
                <a:latin typeface="Calibri" pitchFamily="34" charset="0"/>
                <a:ea typeface="Calibri" pitchFamily="34" charset="-122"/>
                <a:cs typeface="Calibri" pitchFamily="34" charset="-120"/>
              </a:rPr>
              <a:t>The intern cohort does not commute to the air base for class. One expert from one discipline goes to Masdar each afternoon. After week 24, selected students may come to the SDC — if approvals are in place. They are not in place today.</a:t>
            </a:r>
            <a:endParaRPr lang="en-US" sz="1400" dirty="0"/>
          </a:p>
        </p:txBody>
      </p:sp>
      <p:sp>
        <p:nvSpPr>
          <p:cNvPr id="20" name="Shape 18"/>
          <p:cNvSpPr/>
          <p:nvPr/>
        </p:nvSpPr>
        <p:spPr>
          <a:xfrm>
            <a:off x="548640" y="6501384"/>
            <a:ext cx="320040" cy="36576"/>
          </a:xfrm>
          <a:prstGeom prst="rect">
            <a:avLst/>
          </a:prstGeom>
          <a:solidFill>
            <a:srgbClr val="DBA111"/>
          </a:solidFill>
          <a:ln/>
        </p:spPr>
      </p:sp>
      <p:sp>
        <p:nvSpPr>
          <p:cNvPr id="21" name="Text 19"/>
          <p:cNvSpPr/>
          <p:nvPr/>
        </p:nvSpPr>
        <p:spPr>
          <a:xfrm>
            <a:off x="960120" y="6382512"/>
            <a:ext cx="6583680" cy="274320"/>
          </a:xfrm>
          <a:prstGeom prst="rect">
            <a:avLst/>
          </a:prstGeom>
          <a:noFill/>
          <a:ln/>
        </p:spPr>
        <p:txBody>
          <a:bodyPr wrap="square" lIns="0" tIns="0" rIns="0" bIns="0" rtlCol="0" anchor="ctr"/>
          <a:lstStyle/>
          <a:p>
            <a:pPr indent="0" marL="0">
              <a:buNone/>
            </a:pPr>
            <a:r>
              <a:rPr lang="en-US" sz="1000" b="1" spc="160" kern="0" dirty="0">
                <a:solidFill>
                  <a:srgbClr val="475569"/>
                </a:solidFill>
                <a:latin typeface="Calibri" pitchFamily="34" charset="0"/>
                <a:ea typeface="Calibri" pitchFamily="34" charset="-122"/>
                <a:cs typeface="Calibri" pitchFamily="34" charset="-120"/>
              </a:rPr>
              <a:t>CISS INTERNSHIP  |  DELIVERY APPROACH</a:t>
            </a:r>
            <a:endParaRPr lang="en-US" sz="1000" dirty="0"/>
          </a:p>
        </p:txBody>
      </p:sp>
      <p:sp>
        <p:nvSpPr>
          <p:cNvPr id="22" name="Text 20"/>
          <p:cNvSpPr/>
          <p:nvPr/>
        </p:nvSpPr>
        <p:spPr>
          <a:xfrm>
            <a:off x="7406640" y="6382512"/>
            <a:ext cx="3291840" cy="274320"/>
          </a:xfrm>
          <a:prstGeom prst="rect">
            <a:avLst/>
          </a:prstGeom>
          <a:noFill/>
          <a:ln/>
        </p:spPr>
        <p:txBody>
          <a:bodyPr wrap="square" lIns="0" tIns="0" rIns="0" bIns="0" rtlCol="0" anchor="ctr"/>
          <a:lstStyle/>
          <a:p>
            <a:pPr algn="r" indent="0" marL="0">
              <a:buNone/>
            </a:pPr>
            <a:r>
              <a:rPr lang="en-US" sz="1000" i="1" dirty="0">
                <a:solidFill>
                  <a:srgbClr val="475569"/>
                </a:solidFill>
                <a:latin typeface="Calibri" pitchFamily="34" charset="0"/>
                <a:ea typeface="Calibri" pitchFamily="34" charset="-122"/>
                <a:cs typeface="Calibri" pitchFamily="34" charset="-120"/>
              </a:rPr>
              <a:t>Operating picture</a:t>
            </a:r>
            <a:endParaRPr lang="en-US" sz="1000" dirty="0"/>
          </a:p>
        </p:txBody>
      </p:sp>
      <p:sp>
        <p:nvSpPr>
          <p:cNvPr id="23" name="Text 21"/>
          <p:cNvSpPr/>
          <p:nvPr/>
        </p:nvSpPr>
        <p:spPr>
          <a:xfrm>
            <a:off x="10835640" y="6382512"/>
            <a:ext cx="777240" cy="274320"/>
          </a:xfrm>
          <a:prstGeom prst="rect">
            <a:avLst/>
          </a:prstGeom>
          <a:noFill/>
          <a:ln/>
        </p:spPr>
        <p:txBody>
          <a:bodyPr wrap="square" lIns="0" tIns="0" rIns="0" bIns="0" rtlCol="0" anchor="ctr"/>
          <a:lstStyle/>
          <a:p>
            <a:pPr algn="r" indent="0" marL="0">
              <a:buNone/>
            </a:pPr>
            <a:r>
              <a:rPr lang="en-US" sz="1200" b="1" dirty="0">
                <a:solidFill>
                  <a:srgbClr val="034694"/>
                </a:solidFill>
                <a:latin typeface="Century Gothic" pitchFamily="34" charset="0"/>
                <a:ea typeface="Century Gothic" pitchFamily="34" charset="-122"/>
                <a:cs typeface="Century Gothic"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256032"/>
          </a:xfrm>
          <a:prstGeom prst="rect">
            <a:avLst/>
          </a:prstGeom>
          <a:noFill/>
          <a:ln/>
        </p:spPr>
        <p:txBody>
          <a:bodyPr wrap="square" lIns="0" tIns="0" rIns="0" bIns="0" rtlCol="0" anchor="ctr"/>
          <a:lstStyle/>
          <a:p>
            <a:pPr indent="0" marL="0">
              <a:buNone/>
            </a:pPr>
            <a:r>
              <a:rPr lang="en-US" sz="1100" b="1" spc="320" kern="0" dirty="0">
                <a:solidFill>
                  <a:srgbClr val="DBA111"/>
                </a:solidFill>
                <a:latin typeface="Calibri" pitchFamily="34" charset="0"/>
                <a:ea typeface="Calibri" pitchFamily="34" charset="-122"/>
                <a:cs typeface="Calibri" pitchFamily="34" charset="-120"/>
              </a:rPr>
              <a:t>PROGRAM AT A GLANCE</a:t>
            </a:r>
            <a:endParaRPr lang="en-US" sz="1100" dirty="0"/>
          </a:p>
        </p:txBody>
      </p:sp>
      <p:sp>
        <p:nvSpPr>
          <p:cNvPr id="3" name="Text 1"/>
          <p:cNvSpPr/>
          <p:nvPr/>
        </p:nvSpPr>
        <p:spPr>
          <a:xfrm>
            <a:off x="548640" y="621792"/>
            <a:ext cx="11064240" cy="566928"/>
          </a:xfrm>
          <a:prstGeom prst="rect">
            <a:avLst/>
          </a:prstGeom>
          <a:noFill/>
          <a:ln/>
        </p:spPr>
        <p:txBody>
          <a:bodyPr wrap="square" lIns="0" tIns="0" rIns="0" bIns="0" rtlCol="0" anchor="ctr"/>
          <a:lstStyle/>
          <a:p>
            <a:pPr indent="0" marL="0">
              <a:buNone/>
            </a:pPr>
            <a:r>
              <a:rPr lang="en-US" sz="2600" b="1" dirty="0">
                <a:solidFill>
                  <a:srgbClr val="034694"/>
                </a:solidFill>
                <a:latin typeface="Century Gothic" pitchFamily="34" charset="0"/>
                <a:ea typeface="Century Gothic" pitchFamily="34" charset="-122"/>
                <a:cs typeface="Century Gothic" pitchFamily="34" charset="-120"/>
              </a:rPr>
              <a:t>Four Lockheed Martin disciplines. SE is the spine.</a:t>
            </a:r>
            <a:endParaRPr lang="en-US" sz="2600" dirty="0"/>
          </a:p>
        </p:txBody>
      </p:sp>
      <p:sp>
        <p:nvSpPr>
          <p:cNvPr id="4" name="Shape 2"/>
          <p:cNvSpPr/>
          <p:nvPr/>
        </p:nvSpPr>
        <p:spPr>
          <a:xfrm>
            <a:off x="548640" y="1353312"/>
            <a:ext cx="2743200" cy="1234440"/>
          </a:xfrm>
          <a:prstGeom prst="rect">
            <a:avLst/>
          </a:prstGeom>
          <a:solidFill>
            <a:srgbClr val="F5F3EC"/>
          </a:solidFill>
          <a:ln/>
        </p:spPr>
      </p:sp>
      <p:sp>
        <p:nvSpPr>
          <p:cNvPr id="5" name="Shape 3"/>
          <p:cNvSpPr/>
          <p:nvPr/>
        </p:nvSpPr>
        <p:spPr>
          <a:xfrm>
            <a:off x="548640" y="1353312"/>
            <a:ext cx="73152" cy="1234440"/>
          </a:xfrm>
          <a:prstGeom prst="rect">
            <a:avLst/>
          </a:prstGeom>
          <a:solidFill>
            <a:srgbClr val="034694"/>
          </a:solidFill>
          <a:ln/>
        </p:spPr>
      </p:sp>
      <p:sp>
        <p:nvSpPr>
          <p:cNvPr id="6" name="Text 4"/>
          <p:cNvSpPr/>
          <p:nvPr/>
        </p:nvSpPr>
        <p:spPr>
          <a:xfrm>
            <a:off x="777240" y="1417320"/>
            <a:ext cx="2377440" cy="640080"/>
          </a:xfrm>
          <a:prstGeom prst="rect">
            <a:avLst/>
          </a:prstGeom>
          <a:noFill/>
          <a:ln/>
        </p:spPr>
        <p:txBody>
          <a:bodyPr wrap="square" lIns="0" tIns="0" rIns="0" bIns="0" rtlCol="0" anchor="ctr"/>
          <a:lstStyle/>
          <a:p>
            <a:pPr indent="0" marL="0">
              <a:buNone/>
            </a:pPr>
            <a:r>
              <a:rPr lang="en-US" sz="3200" b="1" dirty="0">
                <a:solidFill>
                  <a:srgbClr val="034694"/>
                </a:solidFill>
                <a:latin typeface="Century Gothic" pitchFamily="34" charset="0"/>
                <a:ea typeface="Century Gothic" pitchFamily="34" charset="-122"/>
                <a:cs typeface="Century Gothic" pitchFamily="34" charset="-120"/>
              </a:rPr>
              <a:t>36</a:t>
            </a:r>
            <a:endParaRPr lang="en-US" sz="3200" dirty="0"/>
          </a:p>
        </p:txBody>
      </p:sp>
      <p:sp>
        <p:nvSpPr>
          <p:cNvPr id="7" name="Text 5"/>
          <p:cNvSpPr/>
          <p:nvPr/>
        </p:nvSpPr>
        <p:spPr>
          <a:xfrm>
            <a:off x="777240" y="2029968"/>
            <a:ext cx="2377440" cy="384048"/>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Week internship</a:t>
            </a:r>
            <a:endParaRPr lang="en-US" sz="1300" dirty="0"/>
          </a:p>
        </p:txBody>
      </p:sp>
      <p:sp>
        <p:nvSpPr>
          <p:cNvPr id="8" name="Shape 6"/>
          <p:cNvSpPr/>
          <p:nvPr/>
        </p:nvSpPr>
        <p:spPr>
          <a:xfrm>
            <a:off x="3429000" y="1353312"/>
            <a:ext cx="2743200" cy="1234440"/>
          </a:xfrm>
          <a:prstGeom prst="rect">
            <a:avLst/>
          </a:prstGeom>
          <a:solidFill>
            <a:srgbClr val="F5F3EC"/>
          </a:solidFill>
          <a:ln/>
        </p:spPr>
      </p:sp>
      <p:sp>
        <p:nvSpPr>
          <p:cNvPr id="9" name="Shape 7"/>
          <p:cNvSpPr/>
          <p:nvPr/>
        </p:nvSpPr>
        <p:spPr>
          <a:xfrm>
            <a:off x="3429000" y="1353312"/>
            <a:ext cx="73152" cy="1234440"/>
          </a:xfrm>
          <a:prstGeom prst="rect">
            <a:avLst/>
          </a:prstGeom>
          <a:solidFill>
            <a:srgbClr val="034694"/>
          </a:solidFill>
          <a:ln/>
        </p:spPr>
      </p:sp>
      <p:sp>
        <p:nvSpPr>
          <p:cNvPr id="10" name="Text 8"/>
          <p:cNvSpPr/>
          <p:nvPr/>
        </p:nvSpPr>
        <p:spPr>
          <a:xfrm>
            <a:off x="3657600" y="1417320"/>
            <a:ext cx="2377440" cy="640080"/>
          </a:xfrm>
          <a:prstGeom prst="rect">
            <a:avLst/>
          </a:prstGeom>
          <a:noFill/>
          <a:ln/>
        </p:spPr>
        <p:txBody>
          <a:bodyPr wrap="square" lIns="0" tIns="0" rIns="0" bIns="0" rtlCol="0" anchor="ctr"/>
          <a:lstStyle/>
          <a:p>
            <a:pPr indent="0" marL="0">
              <a:buNone/>
            </a:pPr>
            <a:r>
              <a:rPr lang="en-US" sz="3200" b="1" dirty="0">
                <a:solidFill>
                  <a:srgbClr val="034694"/>
                </a:solidFill>
                <a:latin typeface="Century Gothic" pitchFamily="34" charset="0"/>
                <a:ea typeface="Century Gothic" pitchFamily="34" charset="-122"/>
                <a:cs typeface="Century Gothic" pitchFamily="34" charset="-120"/>
              </a:rPr>
              <a:t>4</a:t>
            </a:r>
            <a:endParaRPr lang="en-US" sz="3200" dirty="0"/>
          </a:p>
        </p:txBody>
      </p:sp>
      <p:sp>
        <p:nvSpPr>
          <p:cNvPr id="11" name="Text 9"/>
          <p:cNvSpPr/>
          <p:nvPr/>
        </p:nvSpPr>
        <p:spPr>
          <a:xfrm>
            <a:off x="3657600" y="2029968"/>
            <a:ext cx="2377440" cy="384048"/>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LM teaching disciplines</a:t>
            </a:r>
            <a:endParaRPr lang="en-US" sz="1300" dirty="0"/>
          </a:p>
        </p:txBody>
      </p:sp>
      <p:sp>
        <p:nvSpPr>
          <p:cNvPr id="12" name="Shape 10"/>
          <p:cNvSpPr/>
          <p:nvPr/>
        </p:nvSpPr>
        <p:spPr>
          <a:xfrm>
            <a:off x="6309360" y="1353312"/>
            <a:ext cx="2743200" cy="1234440"/>
          </a:xfrm>
          <a:prstGeom prst="rect">
            <a:avLst/>
          </a:prstGeom>
          <a:solidFill>
            <a:srgbClr val="F5F3EC"/>
          </a:solidFill>
          <a:ln/>
        </p:spPr>
      </p:sp>
      <p:sp>
        <p:nvSpPr>
          <p:cNvPr id="13" name="Shape 11"/>
          <p:cNvSpPr/>
          <p:nvPr/>
        </p:nvSpPr>
        <p:spPr>
          <a:xfrm>
            <a:off x="6309360" y="1353312"/>
            <a:ext cx="73152" cy="1234440"/>
          </a:xfrm>
          <a:prstGeom prst="rect">
            <a:avLst/>
          </a:prstGeom>
          <a:solidFill>
            <a:srgbClr val="034694"/>
          </a:solidFill>
          <a:ln/>
        </p:spPr>
      </p:sp>
      <p:sp>
        <p:nvSpPr>
          <p:cNvPr id="14" name="Text 12"/>
          <p:cNvSpPr/>
          <p:nvPr/>
        </p:nvSpPr>
        <p:spPr>
          <a:xfrm>
            <a:off x="6537960" y="1417320"/>
            <a:ext cx="2377440" cy="640080"/>
          </a:xfrm>
          <a:prstGeom prst="rect">
            <a:avLst/>
          </a:prstGeom>
          <a:noFill/>
          <a:ln/>
        </p:spPr>
        <p:txBody>
          <a:bodyPr wrap="square" lIns="0" tIns="0" rIns="0" bIns="0" rtlCol="0" anchor="ctr"/>
          <a:lstStyle/>
          <a:p>
            <a:pPr indent="0" marL="0">
              <a:buNone/>
            </a:pPr>
            <a:r>
              <a:rPr lang="en-US" sz="3200" b="1" dirty="0">
                <a:solidFill>
                  <a:srgbClr val="034694"/>
                </a:solidFill>
                <a:latin typeface="Century Gothic" pitchFamily="34" charset="0"/>
                <a:ea typeface="Century Gothic" pitchFamily="34" charset="-122"/>
                <a:cs typeface="Century Gothic" pitchFamily="34" charset="-120"/>
              </a:rPr>
              <a:t>5</a:t>
            </a:r>
            <a:endParaRPr lang="en-US" sz="3200" dirty="0"/>
          </a:p>
        </p:txBody>
      </p:sp>
      <p:sp>
        <p:nvSpPr>
          <p:cNvPr id="15" name="Text 13"/>
          <p:cNvSpPr/>
          <p:nvPr/>
        </p:nvSpPr>
        <p:spPr>
          <a:xfrm>
            <a:off x="6537960" y="2029968"/>
            <a:ext cx="2377440" cy="384048"/>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Afternoons at Masdar</a:t>
            </a:r>
            <a:endParaRPr lang="en-US" sz="1300" dirty="0"/>
          </a:p>
        </p:txBody>
      </p:sp>
      <p:sp>
        <p:nvSpPr>
          <p:cNvPr id="16" name="Shape 14"/>
          <p:cNvSpPr/>
          <p:nvPr/>
        </p:nvSpPr>
        <p:spPr>
          <a:xfrm>
            <a:off x="9189720" y="1353312"/>
            <a:ext cx="2743200" cy="1234440"/>
          </a:xfrm>
          <a:prstGeom prst="rect">
            <a:avLst/>
          </a:prstGeom>
          <a:solidFill>
            <a:srgbClr val="F5F3EC"/>
          </a:solidFill>
          <a:ln/>
        </p:spPr>
      </p:sp>
      <p:sp>
        <p:nvSpPr>
          <p:cNvPr id="17" name="Shape 15"/>
          <p:cNvSpPr/>
          <p:nvPr/>
        </p:nvSpPr>
        <p:spPr>
          <a:xfrm>
            <a:off x="9189720" y="1353312"/>
            <a:ext cx="73152" cy="1234440"/>
          </a:xfrm>
          <a:prstGeom prst="rect">
            <a:avLst/>
          </a:prstGeom>
          <a:solidFill>
            <a:srgbClr val="034694"/>
          </a:solidFill>
          <a:ln/>
        </p:spPr>
      </p:sp>
      <p:sp>
        <p:nvSpPr>
          <p:cNvPr id="18" name="Text 16"/>
          <p:cNvSpPr/>
          <p:nvPr/>
        </p:nvSpPr>
        <p:spPr>
          <a:xfrm>
            <a:off x="9418320" y="1417320"/>
            <a:ext cx="2377440" cy="640080"/>
          </a:xfrm>
          <a:prstGeom prst="rect">
            <a:avLst/>
          </a:prstGeom>
          <a:noFill/>
          <a:ln/>
        </p:spPr>
        <p:txBody>
          <a:bodyPr wrap="square" lIns="0" tIns="0" rIns="0" bIns="0" rtlCol="0" anchor="ctr"/>
          <a:lstStyle/>
          <a:p>
            <a:pPr indent="0" marL="0">
              <a:buNone/>
            </a:pPr>
            <a:r>
              <a:rPr lang="en-US" sz="3200" b="1" dirty="0">
                <a:solidFill>
                  <a:srgbClr val="034694"/>
                </a:solidFill>
                <a:latin typeface="Century Gothic" pitchFamily="34" charset="0"/>
                <a:ea typeface="Century Gothic" pitchFamily="34" charset="-122"/>
                <a:cs typeface="Century Gothic" pitchFamily="34" charset="-120"/>
              </a:rPr>
              <a:t>24</a:t>
            </a:r>
            <a:endParaRPr lang="en-US" sz="3200" dirty="0"/>
          </a:p>
        </p:txBody>
      </p:sp>
      <p:sp>
        <p:nvSpPr>
          <p:cNvPr id="19" name="Text 17"/>
          <p:cNvSpPr/>
          <p:nvPr/>
        </p:nvSpPr>
        <p:spPr>
          <a:xfrm>
            <a:off x="9418320" y="2029968"/>
            <a:ext cx="2377440" cy="384048"/>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Weeks before any SDC option</a:t>
            </a:r>
            <a:endParaRPr lang="en-US" sz="1300" dirty="0"/>
          </a:p>
        </p:txBody>
      </p:sp>
      <p:sp>
        <p:nvSpPr>
          <p:cNvPr id="20" name="Shape 18"/>
          <p:cNvSpPr/>
          <p:nvPr/>
        </p:nvSpPr>
        <p:spPr>
          <a:xfrm>
            <a:off x="548640" y="2788920"/>
            <a:ext cx="2743200" cy="2331720"/>
          </a:xfrm>
          <a:prstGeom prst="rect">
            <a:avLst/>
          </a:prstGeom>
          <a:solidFill>
            <a:srgbClr val="FFFFFF"/>
          </a:solidFill>
          <a:ln w="12700">
            <a:solidFill>
              <a:srgbClr val="E5E7EB"/>
            </a:solidFill>
            <a:prstDash val="solid"/>
          </a:ln>
        </p:spPr>
      </p:sp>
      <p:sp>
        <p:nvSpPr>
          <p:cNvPr id="21" name="Shape 19"/>
          <p:cNvSpPr/>
          <p:nvPr/>
        </p:nvSpPr>
        <p:spPr>
          <a:xfrm>
            <a:off x="548640" y="2788920"/>
            <a:ext cx="2743200" cy="640080"/>
          </a:xfrm>
          <a:prstGeom prst="rect">
            <a:avLst/>
          </a:prstGeom>
          <a:solidFill>
            <a:srgbClr val="021F47"/>
          </a:solidFill>
          <a:ln/>
        </p:spPr>
      </p:sp>
      <p:sp>
        <p:nvSpPr>
          <p:cNvPr id="22" name="Text 20"/>
          <p:cNvSpPr/>
          <p:nvPr/>
        </p:nvSpPr>
        <p:spPr>
          <a:xfrm>
            <a:off x="713232" y="2907792"/>
            <a:ext cx="2423160" cy="420624"/>
          </a:xfrm>
          <a:prstGeom prst="rect">
            <a:avLst/>
          </a:prstGeom>
          <a:noFill/>
          <a:ln/>
        </p:spPr>
        <p:txBody>
          <a:bodyPr wrap="square" lIns="0" tIns="0" rIns="0" bIns="0" rtlCol="0" anchor="ctr"/>
          <a:lstStyle/>
          <a:p>
            <a:pPr indent="0" marL="0">
              <a:buNone/>
            </a:pPr>
            <a:r>
              <a:rPr lang="en-US" sz="1800" b="1" dirty="0">
                <a:solidFill>
                  <a:srgbClr val="DBA111"/>
                </a:solidFill>
                <a:latin typeface="Century Gothic" pitchFamily="34" charset="0"/>
                <a:ea typeface="Century Gothic" pitchFamily="34" charset="-122"/>
                <a:cs typeface="Century Gothic" pitchFamily="34" charset="-120"/>
              </a:rPr>
              <a:t>SE</a:t>
            </a:r>
            <a:endParaRPr lang="en-US" sz="1800" dirty="0"/>
          </a:p>
        </p:txBody>
      </p:sp>
      <p:sp>
        <p:nvSpPr>
          <p:cNvPr id="23" name="Text 21"/>
          <p:cNvSpPr/>
          <p:nvPr/>
        </p:nvSpPr>
        <p:spPr>
          <a:xfrm>
            <a:off x="713232" y="3547872"/>
            <a:ext cx="2423160" cy="640080"/>
          </a:xfrm>
          <a:prstGeom prst="rect">
            <a:avLst/>
          </a:prstGeom>
          <a:noFill/>
          <a:ln/>
        </p:spPr>
        <p:txBody>
          <a:bodyPr wrap="square" lIns="0" tIns="0" rIns="0" bIns="0" rtlCol="0" anchor="ctr"/>
          <a:lstStyle/>
          <a:p>
            <a:pPr indent="0" marL="0">
              <a:buNone/>
            </a:pPr>
            <a:r>
              <a:rPr lang="en-US" sz="1500" b="1" dirty="0">
                <a:solidFill>
                  <a:srgbClr val="034694"/>
                </a:solidFill>
                <a:latin typeface="Calibri" pitchFamily="34" charset="0"/>
                <a:ea typeface="Calibri" pitchFamily="34" charset="-122"/>
                <a:cs typeface="Calibri" pitchFamily="34" charset="-120"/>
              </a:rPr>
              <a:t>Systems Engineering</a:t>
            </a:r>
            <a:endParaRPr lang="en-US" sz="1500" dirty="0"/>
          </a:p>
        </p:txBody>
      </p:sp>
      <p:sp>
        <p:nvSpPr>
          <p:cNvPr id="24" name="Text 22"/>
          <p:cNvSpPr/>
          <p:nvPr/>
        </p:nvSpPr>
        <p:spPr>
          <a:xfrm>
            <a:off x="713232" y="4187952"/>
            <a:ext cx="2423160" cy="77724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Mandatory entire 36 weeks. Coordinates the capstone.</a:t>
            </a:r>
            <a:endParaRPr lang="en-US" sz="1300" dirty="0"/>
          </a:p>
        </p:txBody>
      </p:sp>
      <p:sp>
        <p:nvSpPr>
          <p:cNvPr id="25" name="Shape 23"/>
          <p:cNvSpPr/>
          <p:nvPr/>
        </p:nvSpPr>
        <p:spPr>
          <a:xfrm>
            <a:off x="3429000" y="2788920"/>
            <a:ext cx="2743200" cy="2331720"/>
          </a:xfrm>
          <a:prstGeom prst="rect">
            <a:avLst/>
          </a:prstGeom>
          <a:solidFill>
            <a:srgbClr val="FFFFFF"/>
          </a:solidFill>
          <a:ln w="12700">
            <a:solidFill>
              <a:srgbClr val="E5E7EB"/>
            </a:solidFill>
            <a:prstDash val="solid"/>
          </a:ln>
        </p:spPr>
      </p:sp>
      <p:sp>
        <p:nvSpPr>
          <p:cNvPr id="26" name="Shape 24"/>
          <p:cNvSpPr/>
          <p:nvPr/>
        </p:nvSpPr>
        <p:spPr>
          <a:xfrm>
            <a:off x="3429000" y="2788920"/>
            <a:ext cx="2743200" cy="640080"/>
          </a:xfrm>
          <a:prstGeom prst="rect">
            <a:avLst/>
          </a:prstGeom>
          <a:solidFill>
            <a:srgbClr val="034694"/>
          </a:solidFill>
          <a:ln/>
        </p:spPr>
      </p:sp>
      <p:sp>
        <p:nvSpPr>
          <p:cNvPr id="27" name="Text 25"/>
          <p:cNvSpPr/>
          <p:nvPr/>
        </p:nvSpPr>
        <p:spPr>
          <a:xfrm>
            <a:off x="3593592" y="2907792"/>
            <a:ext cx="2423160" cy="420624"/>
          </a:xfrm>
          <a:prstGeom prst="rect">
            <a:avLst/>
          </a:prstGeom>
          <a:noFill/>
          <a:ln/>
        </p:spPr>
        <p:txBody>
          <a:bodyPr wrap="square" lIns="0" tIns="0" rIns="0" bIns="0" rtlCol="0" anchor="ctr"/>
          <a:lstStyle/>
          <a:p>
            <a:pPr indent="0" marL="0">
              <a:buNone/>
            </a:pPr>
            <a:r>
              <a:rPr lang="en-US" sz="1800" b="1" dirty="0">
                <a:solidFill>
                  <a:srgbClr val="DBA111"/>
                </a:solidFill>
                <a:latin typeface="Century Gothic" pitchFamily="34" charset="0"/>
                <a:ea typeface="Century Gothic" pitchFamily="34" charset="-122"/>
                <a:cs typeface="Century Gothic" pitchFamily="34" charset="-120"/>
              </a:rPr>
              <a:t>NET</a:t>
            </a:r>
            <a:endParaRPr lang="en-US" sz="1800" dirty="0"/>
          </a:p>
        </p:txBody>
      </p:sp>
      <p:sp>
        <p:nvSpPr>
          <p:cNvPr id="28" name="Text 26"/>
          <p:cNvSpPr/>
          <p:nvPr/>
        </p:nvSpPr>
        <p:spPr>
          <a:xfrm>
            <a:off x="3593592" y="3547872"/>
            <a:ext cx="2423160" cy="640080"/>
          </a:xfrm>
          <a:prstGeom prst="rect">
            <a:avLst/>
          </a:prstGeom>
          <a:noFill/>
          <a:ln/>
        </p:spPr>
        <p:txBody>
          <a:bodyPr wrap="square" lIns="0" tIns="0" rIns="0" bIns="0" rtlCol="0" anchor="ctr"/>
          <a:lstStyle/>
          <a:p>
            <a:pPr indent="0" marL="0">
              <a:buNone/>
            </a:pPr>
            <a:r>
              <a:rPr lang="en-US" sz="1500" b="1" dirty="0">
                <a:solidFill>
                  <a:srgbClr val="034694"/>
                </a:solidFill>
                <a:latin typeface="Calibri" pitchFamily="34" charset="0"/>
                <a:ea typeface="Calibri" pitchFamily="34" charset="-122"/>
                <a:cs typeface="Calibri" pitchFamily="34" charset="-120"/>
              </a:rPr>
              <a:t>Networking</a:t>
            </a:r>
            <a:endParaRPr lang="en-US" sz="1500" dirty="0"/>
          </a:p>
        </p:txBody>
      </p:sp>
      <p:sp>
        <p:nvSpPr>
          <p:cNvPr id="29" name="Text 27"/>
          <p:cNvSpPr/>
          <p:nvPr/>
        </p:nvSpPr>
        <p:spPr>
          <a:xfrm>
            <a:off x="3593592" y="4187952"/>
            <a:ext cx="2423160" cy="77724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Elective after week 4. Path, policy, and protection.</a:t>
            </a:r>
            <a:endParaRPr lang="en-US" sz="1300" dirty="0"/>
          </a:p>
        </p:txBody>
      </p:sp>
      <p:sp>
        <p:nvSpPr>
          <p:cNvPr id="30" name="Shape 28"/>
          <p:cNvSpPr/>
          <p:nvPr/>
        </p:nvSpPr>
        <p:spPr>
          <a:xfrm>
            <a:off x="6309360" y="2788920"/>
            <a:ext cx="2743200" cy="2331720"/>
          </a:xfrm>
          <a:prstGeom prst="rect">
            <a:avLst/>
          </a:prstGeom>
          <a:solidFill>
            <a:srgbClr val="FFFFFF"/>
          </a:solidFill>
          <a:ln w="12700">
            <a:solidFill>
              <a:srgbClr val="E5E7EB"/>
            </a:solidFill>
            <a:prstDash val="solid"/>
          </a:ln>
        </p:spPr>
      </p:sp>
      <p:sp>
        <p:nvSpPr>
          <p:cNvPr id="31" name="Shape 29"/>
          <p:cNvSpPr/>
          <p:nvPr/>
        </p:nvSpPr>
        <p:spPr>
          <a:xfrm>
            <a:off x="6309360" y="2788920"/>
            <a:ext cx="2743200" cy="640080"/>
          </a:xfrm>
          <a:prstGeom prst="rect">
            <a:avLst/>
          </a:prstGeom>
          <a:solidFill>
            <a:srgbClr val="034694"/>
          </a:solidFill>
          <a:ln/>
        </p:spPr>
      </p:sp>
      <p:sp>
        <p:nvSpPr>
          <p:cNvPr id="32" name="Text 30"/>
          <p:cNvSpPr/>
          <p:nvPr/>
        </p:nvSpPr>
        <p:spPr>
          <a:xfrm>
            <a:off x="6473952" y="2907792"/>
            <a:ext cx="2423160" cy="420624"/>
          </a:xfrm>
          <a:prstGeom prst="rect">
            <a:avLst/>
          </a:prstGeom>
          <a:noFill/>
          <a:ln/>
        </p:spPr>
        <p:txBody>
          <a:bodyPr wrap="square" lIns="0" tIns="0" rIns="0" bIns="0" rtlCol="0" anchor="ctr"/>
          <a:lstStyle/>
          <a:p>
            <a:pPr indent="0" marL="0">
              <a:buNone/>
            </a:pPr>
            <a:r>
              <a:rPr lang="en-US" sz="1800" b="1" dirty="0">
                <a:solidFill>
                  <a:srgbClr val="DBA111"/>
                </a:solidFill>
                <a:latin typeface="Century Gothic" pitchFamily="34" charset="0"/>
                <a:ea typeface="Century Gothic" pitchFamily="34" charset="-122"/>
                <a:cs typeface="Century Gothic" pitchFamily="34" charset="-120"/>
              </a:rPr>
              <a:t>ADMIN</a:t>
            </a:r>
            <a:endParaRPr lang="en-US" sz="1800" dirty="0"/>
          </a:p>
        </p:txBody>
      </p:sp>
      <p:sp>
        <p:nvSpPr>
          <p:cNvPr id="33" name="Text 31"/>
          <p:cNvSpPr/>
          <p:nvPr/>
        </p:nvSpPr>
        <p:spPr>
          <a:xfrm>
            <a:off x="6473952" y="3547872"/>
            <a:ext cx="2423160" cy="640080"/>
          </a:xfrm>
          <a:prstGeom prst="rect">
            <a:avLst/>
          </a:prstGeom>
          <a:noFill/>
          <a:ln/>
        </p:spPr>
        <p:txBody>
          <a:bodyPr wrap="square" lIns="0" tIns="0" rIns="0" bIns="0" rtlCol="0" anchor="ctr"/>
          <a:lstStyle/>
          <a:p>
            <a:pPr indent="0" marL="0">
              <a:buNone/>
            </a:pPr>
            <a:r>
              <a:rPr lang="en-US" sz="1500" b="1" dirty="0">
                <a:solidFill>
                  <a:srgbClr val="034694"/>
                </a:solidFill>
                <a:latin typeface="Calibri" pitchFamily="34" charset="0"/>
                <a:ea typeface="Calibri" pitchFamily="34" charset="-122"/>
                <a:cs typeface="Calibri" pitchFamily="34" charset="-120"/>
              </a:rPr>
              <a:t>System Administration</a:t>
            </a:r>
            <a:endParaRPr lang="en-US" sz="1500" dirty="0"/>
          </a:p>
        </p:txBody>
      </p:sp>
      <p:sp>
        <p:nvSpPr>
          <p:cNvPr id="34" name="Text 32"/>
          <p:cNvSpPr/>
          <p:nvPr/>
        </p:nvSpPr>
        <p:spPr>
          <a:xfrm>
            <a:off x="6473952" y="4187952"/>
            <a:ext cx="2423160" cy="77724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Elective after week 4. Hosts, identity, and runtime.</a:t>
            </a:r>
            <a:endParaRPr lang="en-US" sz="1300" dirty="0"/>
          </a:p>
        </p:txBody>
      </p:sp>
      <p:sp>
        <p:nvSpPr>
          <p:cNvPr id="35" name="Shape 33"/>
          <p:cNvSpPr/>
          <p:nvPr/>
        </p:nvSpPr>
        <p:spPr>
          <a:xfrm>
            <a:off x="9189720" y="2788920"/>
            <a:ext cx="2743200" cy="2331720"/>
          </a:xfrm>
          <a:prstGeom prst="rect">
            <a:avLst/>
          </a:prstGeom>
          <a:solidFill>
            <a:srgbClr val="FFFFFF"/>
          </a:solidFill>
          <a:ln w="12700">
            <a:solidFill>
              <a:srgbClr val="E5E7EB"/>
            </a:solidFill>
            <a:prstDash val="solid"/>
          </a:ln>
        </p:spPr>
      </p:sp>
      <p:sp>
        <p:nvSpPr>
          <p:cNvPr id="36" name="Shape 34"/>
          <p:cNvSpPr/>
          <p:nvPr/>
        </p:nvSpPr>
        <p:spPr>
          <a:xfrm>
            <a:off x="9189720" y="2788920"/>
            <a:ext cx="2743200" cy="640080"/>
          </a:xfrm>
          <a:prstGeom prst="rect">
            <a:avLst/>
          </a:prstGeom>
          <a:solidFill>
            <a:srgbClr val="034694"/>
          </a:solidFill>
          <a:ln/>
        </p:spPr>
      </p:sp>
      <p:sp>
        <p:nvSpPr>
          <p:cNvPr id="37" name="Text 35"/>
          <p:cNvSpPr/>
          <p:nvPr/>
        </p:nvSpPr>
        <p:spPr>
          <a:xfrm>
            <a:off x="9354312" y="2907792"/>
            <a:ext cx="2423160" cy="420624"/>
          </a:xfrm>
          <a:prstGeom prst="rect">
            <a:avLst/>
          </a:prstGeom>
          <a:noFill/>
          <a:ln/>
        </p:spPr>
        <p:txBody>
          <a:bodyPr wrap="square" lIns="0" tIns="0" rIns="0" bIns="0" rtlCol="0" anchor="ctr"/>
          <a:lstStyle/>
          <a:p>
            <a:pPr indent="0" marL="0">
              <a:buNone/>
            </a:pPr>
            <a:r>
              <a:rPr lang="en-US" sz="1800" b="1" dirty="0">
                <a:solidFill>
                  <a:srgbClr val="DBA111"/>
                </a:solidFill>
                <a:latin typeface="Century Gothic" pitchFamily="34" charset="0"/>
                <a:ea typeface="Century Gothic" pitchFamily="34" charset="-122"/>
                <a:cs typeface="Century Gothic" pitchFamily="34" charset="-120"/>
              </a:rPr>
              <a:t>SW</a:t>
            </a:r>
            <a:endParaRPr lang="en-US" sz="1800" dirty="0"/>
          </a:p>
        </p:txBody>
      </p:sp>
      <p:sp>
        <p:nvSpPr>
          <p:cNvPr id="38" name="Text 36"/>
          <p:cNvSpPr/>
          <p:nvPr/>
        </p:nvSpPr>
        <p:spPr>
          <a:xfrm>
            <a:off x="9354312" y="3547872"/>
            <a:ext cx="2423160" cy="640080"/>
          </a:xfrm>
          <a:prstGeom prst="rect">
            <a:avLst/>
          </a:prstGeom>
          <a:noFill/>
          <a:ln/>
        </p:spPr>
        <p:txBody>
          <a:bodyPr wrap="square" lIns="0" tIns="0" rIns="0" bIns="0" rtlCol="0" anchor="ctr"/>
          <a:lstStyle/>
          <a:p>
            <a:pPr indent="0" marL="0">
              <a:buNone/>
            </a:pPr>
            <a:r>
              <a:rPr lang="en-US" sz="1500" b="1" dirty="0">
                <a:solidFill>
                  <a:srgbClr val="034694"/>
                </a:solidFill>
                <a:latin typeface="Calibri" pitchFamily="34" charset="0"/>
                <a:ea typeface="Calibri" pitchFamily="34" charset="-122"/>
                <a:cs typeface="Calibri" pitchFamily="34" charset="-120"/>
              </a:rPr>
              <a:t>Software Development</a:t>
            </a:r>
            <a:endParaRPr lang="en-US" sz="1500" dirty="0"/>
          </a:p>
        </p:txBody>
      </p:sp>
      <p:sp>
        <p:nvSpPr>
          <p:cNvPr id="39" name="Text 37"/>
          <p:cNvSpPr/>
          <p:nvPr/>
        </p:nvSpPr>
        <p:spPr>
          <a:xfrm>
            <a:off x="9354312" y="4187952"/>
            <a:ext cx="2423160" cy="77724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Elective after week 4. Build, integrate, and ship.</a:t>
            </a:r>
            <a:endParaRPr lang="en-US" sz="1300" dirty="0"/>
          </a:p>
        </p:txBody>
      </p:sp>
      <p:sp>
        <p:nvSpPr>
          <p:cNvPr id="40" name="Shape 38"/>
          <p:cNvSpPr/>
          <p:nvPr/>
        </p:nvSpPr>
        <p:spPr>
          <a:xfrm>
            <a:off x="548640" y="5285232"/>
            <a:ext cx="11091672" cy="822960"/>
          </a:xfrm>
          <a:prstGeom prst="rect">
            <a:avLst/>
          </a:prstGeom>
          <a:solidFill>
            <a:srgbClr val="021F47"/>
          </a:solidFill>
          <a:ln/>
        </p:spPr>
      </p:sp>
      <p:sp>
        <p:nvSpPr>
          <p:cNvPr id="41" name="Text 39"/>
          <p:cNvSpPr/>
          <p:nvPr/>
        </p:nvSpPr>
        <p:spPr>
          <a:xfrm>
            <a:off x="777240" y="5376672"/>
            <a:ext cx="10652760" cy="640080"/>
          </a:xfrm>
          <a:prstGeom prst="rect">
            <a:avLst/>
          </a:prstGeom>
          <a:noFill/>
          <a:ln/>
        </p:spPr>
        <p:txBody>
          <a:bodyPr wrap="square" lIns="0" tIns="0" rIns="0" bIns="0" rtlCol="0" anchor="ctr"/>
          <a:lstStyle/>
          <a:p>
            <a:pPr indent="0" marL="0">
              <a:buNone/>
            </a:pPr>
            <a:r>
              <a:rPr lang="en-US" sz="1300" b="1" dirty="0">
                <a:solidFill>
                  <a:srgbClr val="DBA111"/>
                </a:solidFill>
                <a:latin typeface="Calibri" pitchFamily="34" charset="0"/>
                <a:ea typeface="Calibri" pitchFamily="34" charset="-122"/>
                <a:cs typeface="Calibri" pitchFamily="34" charset="-120"/>
              </a:rPr>
              <a:t>MILITARY LECTURES  </a:t>
            </a:r>
            <a:pPr indent="0" marL="0">
              <a:buNone/>
            </a:pPr>
            <a:r>
              <a:rPr lang="en-US" sz="1300" dirty="0">
                <a:solidFill>
                  <a:srgbClr val="FFFFFF"/>
                </a:solidFill>
                <a:latin typeface="Calibri" pitchFamily="34" charset="0"/>
                <a:ea typeface="Calibri" pitchFamily="34" charset="-122"/>
                <a:cs typeface="Calibri" pitchFamily="34" charset="-120"/>
              </a:rPr>
              <a:t>are not a fifth daily commute. They are inserted as needed — and only after review against the Technical Assistance Agreement so they are not treated as defense services.</a:t>
            </a:r>
            <a:endParaRPr lang="en-US" sz="1300" dirty="0"/>
          </a:p>
        </p:txBody>
      </p:sp>
      <p:sp>
        <p:nvSpPr>
          <p:cNvPr id="42" name="Shape 40"/>
          <p:cNvSpPr/>
          <p:nvPr/>
        </p:nvSpPr>
        <p:spPr>
          <a:xfrm>
            <a:off x="548640" y="6501384"/>
            <a:ext cx="320040" cy="36576"/>
          </a:xfrm>
          <a:prstGeom prst="rect">
            <a:avLst/>
          </a:prstGeom>
          <a:solidFill>
            <a:srgbClr val="DBA111"/>
          </a:solidFill>
          <a:ln/>
        </p:spPr>
      </p:sp>
      <p:sp>
        <p:nvSpPr>
          <p:cNvPr id="43" name="Text 41"/>
          <p:cNvSpPr/>
          <p:nvPr/>
        </p:nvSpPr>
        <p:spPr>
          <a:xfrm>
            <a:off x="960120" y="6382512"/>
            <a:ext cx="6583680" cy="274320"/>
          </a:xfrm>
          <a:prstGeom prst="rect">
            <a:avLst/>
          </a:prstGeom>
          <a:noFill/>
          <a:ln/>
        </p:spPr>
        <p:txBody>
          <a:bodyPr wrap="square" lIns="0" tIns="0" rIns="0" bIns="0" rtlCol="0" anchor="ctr"/>
          <a:lstStyle/>
          <a:p>
            <a:pPr indent="0" marL="0">
              <a:buNone/>
            </a:pPr>
            <a:r>
              <a:rPr lang="en-US" sz="1000" b="1" spc="160" kern="0" dirty="0">
                <a:solidFill>
                  <a:srgbClr val="475569"/>
                </a:solidFill>
                <a:latin typeface="Calibri" pitchFamily="34" charset="0"/>
                <a:ea typeface="Calibri" pitchFamily="34" charset="-122"/>
                <a:cs typeface="Calibri" pitchFamily="34" charset="-120"/>
              </a:rPr>
              <a:t>CISS INTERNSHIP  |  DELIVERY APPROACH</a:t>
            </a:r>
            <a:endParaRPr lang="en-US" sz="1000" dirty="0"/>
          </a:p>
        </p:txBody>
      </p:sp>
      <p:sp>
        <p:nvSpPr>
          <p:cNvPr id="44" name="Text 42"/>
          <p:cNvSpPr/>
          <p:nvPr/>
        </p:nvSpPr>
        <p:spPr>
          <a:xfrm>
            <a:off x="7406640" y="6382512"/>
            <a:ext cx="3291840" cy="274320"/>
          </a:xfrm>
          <a:prstGeom prst="rect">
            <a:avLst/>
          </a:prstGeom>
          <a:noFill/>
          <a:ln/>
        </p:spPr>
        <p:txBody>
          <a:bodyPr wrap="square" lIns="0" tIns="0" rIns="0" bIns="0" rtlCol="0" anchor="ctr"/>
          <a:lstStyle/>
          <a:p>
            <a:pPr algn="r" indent="0" marL="0">
              <a:buNone/>
            </a:pPr>
            <a:r>
              <a:rPr lang="en-US" sz="1000" i="1" dirty="0">
                <a:solidFill>
                  <a:srgbClr val="475569"/>
                </a:solidFill>
                <a:latin typeface="Calibri" pitchFamily="34" charset="0"/>
                <a:ea typeface="Calibri" pitchFamily="34" charset="-122"/>
                <a:cs typeface="Calibri" pitchFamily="34" charset="-120"/>
              </a:rPr>
              <a:t>Program at a glance</a:t>
            </a:r>
            <a:endParaRPr lang="en-US" sz="1000" dirty="0"/>
          </a:p>
        </p:txBody>
      </p:sp>
      <p:sp>
        <p:nvSpPr>
          <p:cNvPr id="45" name="Text 43"/>
          <p:cNvSpPr/>
          <p:nvPr/>
        </p:nvSpPr>
        <p:spPr>
          <a:xfrm>
            <a:off x="10835640" y="6382512"/>
            <a:ext cx="777240" cy="274320"/>
          </a:xfrm>
          <a:prstGeom prst="rect">
            <a:avLst/>
          </a:prstGeom>
          <a:noFill/>
          <a:ln/>
        </p:spPr>
        <p:txBody>
          <a:bodyPr wrap="square" lIns="0" tIns="0" rIns="0" bIns="0" rtlCol="0" anchor="ctr"/>
          <a:lstStyle/>
          <a:p>
            <a:pPr algn="r" indent="0" marL="0">
              <a:buNone/>
            </a:pPr>
            <a:r>
              <a:rPr lang="en-US" sz="1200" b="1" dirty="0">
                <a:solidFill>
                  <a:srgbClr val="034694"/>
                </a:solidFill>
                <a:latin typeface="Century Gothic" pitchFamily="34" charset="0"/>
                <a:ea typeface="Century Gothic" pitchFamily="34" charset="-122"/>
                <a:cs typeface="Century Gothic"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256032"/>
          </a:xfrm>
          <a:prstGeom prst="rect">
            <a:avLst/>
          </a:prstGeom>
          <a:noFill/>
          <a:ln/>
        </p:spPr>
        <p:txBody>
          <a:bodyPr wrap="square" lIns="0" tIns="0" rIns="0" bIns="0" rtlCol="0" anchor="ctr"/>
          <a:lstStyle/>
          <a:p>
            <a:pPr indent="0" marL="0">
              <a:buNone/>
            </a:pPr>
            <a:r>
              <a:rPr lang="en-US" sz="1100" b="1" spc="320" kern="0" dirty="0">
                <a:solidFill>
                  <a:srgbClr val="DBA111"/>
                </a:solidFill>
                <a:latin typeface="Calibri" pitchFamily="34" charset="0"/>
                <a:ea typeface="Calibri" pitchFamily="34" charset="-122"/>
                <a:cs typeface="Calibri" pitchFamily="34" charset="-120"/>
              </a:rPr>
              <a:t>GUIDING PRINCIPLES</a:t>
            </a:r>
            <a:endParaRPr lang="en-US" sz="1100" dirty="0"/>
          </a:p>
        </p:txBody>
      </p:sp>
      <p:sp>
        <p:nvSpPr>
          <p:cNvPr id="3" name="Text 1"/>
          <p:cNvSpPr/>
          <p:nvPr/>
        </p:nvSpPr>
        <p:spPr>
          <a:xfrm>
            <a:off x="548640" y="621792"/>
            <a:ext cx="11064240" cy="566928"/>
          </a:xfrm>
          <a:prstGeom prst="rect">
            <a:avLst/>
          </a:prstGeom>
          <a:noFill/>
          <a:ln/>
        </p:spPr>
        <p:txBody>
          <a:bodyPr wrap="square" lIns="0" tIns="0" rIns="0" bIns="0" rtlCol="0" anchor="ctr"/>
          <a:lstStyle/>
          <a:p>
            <a:pPr indent="0" marL="0">
              <a:buNone/>
            </a:pPr>
            <a:r>
              <a:rPr lang="en-US" sz="2600" b="1" dirty="0">
                <a:solidFill>
                  <a:srgbClr val="034694"/>
                </a:solidFill>
                <a:latin typeface="Century Gothic" pitchFamily="34" charset="0"/>
                <a:ea typeface="Century Gothic" pitchFamily="34" charset="-122"/>
                <a:cs typeface="Century Gothic" pitchFamily="34" charset="-120"/>
              </a:rPr>
              <a:t>Six rules that keep the model simple</a:t>
            </a:r>
            <a:endParaRPr lang="en-US" sz="2600" dirty="0"/>
          </a:p>
        </p:txBody>
      </p:sp>
      <p:sp>
        <p:nvSpPr>
          <p:cNvPr id="4" name="Shape 2"/>
          <p:cNvSpPr/>
          <p:nvPr/>
        </p:nvSpPr>
        <p:spPr>
          <a:xfrm>
            <a:off x="548640" y="1371600"/>
            <a:ext cx="5532120" cy="1417320"/>
          </a:xfrm>
          <a:prstGeom prst="rect">
            <a:avLst/>
          </a:prstGeom>
          <a:solidFill>
            <a:srgbClr val="FFFFFF"/>
          </a:solidFill>
          <a:ln w="12700">
            <a:solidFill>
              <a:srgbClr val="E5E7EB"/>
            </a:solidFill>
            <a:prstDash val="solid"/>
          </a:ln>
        </p:spPr>
      </p:sp>
      <p:sp>
        <p:nvSpPr>
          <p:cNvPr id="5" name="Shape 3"/>
          <p:cNvSpPr/>
          <p:nvPr/>
        </p:nvSpPr>
        <p:spPr>
          <a:xfrm>
            <a:off x="713232" y="1755648"/>
            <a:ext cx="502920" cy="502920"/>
          </a:xfrm>
          <a:prstGeom prst="ellipse">
            <a:avLst/>
          </a:prstGeom>
          <a:solidFill>
            <a:srgbClr val="034694"/>
          </a:solidFill>
          <a:ln/>
        </p:spPr>
      </p:sp>
      <p:sp>
        <p:nvSpPr>
          <p:cNvPr id="6" name="Text 4"/>
          <p:cNvSpPr/>
          <p:nvPr/>
        </p:nvSpPr>
        <p:spPr>
          <a:xfrm>
            <a:off x="713232" y="175564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entury Gothic" pitchFamily="34" charset="0"/>
                <a:ea typeface="Century Gothic" pitchFamily="34" charset="-122"/>
                <a:cs typeface="Century Gothic" pitchFamily="34" charset="-120"/>
              </a:rPr>
              <a:t>1</a:t>
            </a:r>
            <a:endParaRPr lang="en-US" sz="1600" dirty="0"/>
          </a:p>
        </p:txBody>
      </p:sp>
      <p:sp>
        <p:nvSpPr>
          <p:cNvPr id="7" name="Text 5"/>
          <p:cNvSpPr/>
          <p:nvPr/>
        </p:nvSpPr>
        <p:spPr>
          <a:xfrm>
            <a:off x="1371600" y="1517904"/>
            <a:ext cx="4526280" cy="384048"/>
          </a:xfrm>
          <a:prstGeom prst="rect">
            <a:avLst/>
          </a:prstGeom>
          <a:noFill/>
          <a:ln/>
        </p:spPr>
        <p:txBody>
          <a:bodyPr wrap="square" lIns="0" tIns="0" rIns="0" bIns="0" rtlCol="0" anchor="ctr"/>
          <a:lstStyle/>
          <a:p>
            <a:pPr indent="0" marL="0">
              <a:buNone/>
            </a:pPr>
            <a:r>
              <a:rPr lang="en-US" sz="1600" b="1" dirty="0">
                <a:solidFill>
                  <a:srgbClr val="034694"/>
                </a:solidFill>
                <a:latin typeface="Century Gothic" pitchFamily="34" charset="0"/>
                <a:ea typeface="Century Gothic" pitchFamily="34" charset="-122"/>
                <a:cs typeface="Century Gothic" pitchFamily="34" charset="-120"/>
              </a:rPr>
              <a:t>Take the expert to the intern</a:t>
            </a:r>
            <a:endParaRPr lang="en-US" sz="1600" dirty="0"/>
          </a:p>
        </p:txBody>
      </p:sp>
      <p:sp>
        <p:nvSpPr>
          <p:cNvPr id="8" name="Text 6"/>
          <p:cNvSpPr/>
          <p:nvPr/>
        </p:nvSpPr>
        <p:spPr>
          <a:xfrm>
            <a:off x="1371600" y="1901952"/>
            <a:ext cx="4526280" cy="749808"/>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Masdar is the classroom. SDC is home station. We do not move the cohort to the air base for daily class.</a:t>
            </a:r>
            <a:endParaRPr lang="en-US" sz="1300" dirty="0"/>
          </a:p>
        </p:txBody>
      </p:sp>
      <p:sp>
        <p:nvSpPr>
          <p:cNvPr id="9" name="Shape 7"/>
          <p:cNvSpPr/>
          <p:nvPr/>
        </p:nvSpPr>
        <p:spPr>
          <a:xfrm>
            <a:off x="548640" y="2926080"/>
            <a:ext cx="5532120" cy="1417320"/>
          </a:xfrm>
          <a:prstGeom prst="rect">
            <a:avLst/>
          </a:prstGeom>
          <a:solidFill>
            <a:srgbClr val="FFFFFF"/>
          </a:solidFill>
          <a:ln w="12700">
            <a:solidFill>
              <a:srgbClr val="E5E7EB"/>
            </a:solidFill>
            <a:prstDash val="solid"/>
          </a:ln>
        </p:spPr>
      </p:sp>
      <p:sp>
        <p:nvSpPr>
          <p:cNvPr id="10" name="Shape 8"/>
          <p:cNvSpPr/>
          <p:nvPr/>
        </p:nvSpPr>
        <p:spPr>
          <a:xfrm>
            <a:off x="713232" y="3310128"/>
            <a:ext cx="502920" cy="502920"/>
          </a:xfrm>
          <a:prstGeom prst="ellipse">
            <a:avLst/>
          </a:prstGeom>
          <a:solidFill>
            <a:srgbClr val="034694"/>
          </a:solidFill>
          <a:ln/>
        </p:spPr>
      </p:sp>
      <p:sp>
        <p:nvSpPr>
          <p:cNvPr id="11" name="Text 9"/>
          <p:cNvSpPr/>
          <p:nvPr/>
        </p:nvSpPr>
        <p:spPr>
          <a:xfrm>
            <a:off x="713232" y="331012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entury Gothic" pitchFamily="34" charset="0"/>
                <a:ea typeface="Century Gothic" pitchFamily="34" charset="-122"/>
                <a:cs typeface="Century Gothic" pitchFamily="34" charset="-120"/>
              </a:rPr>
              <a:t>2</a:t>
            </a:r>
            <a:endParaRPr lang="en-US" sz="1600" dirty="0"/>
          </a:p>
        </p:txBody>
      </p:sp>
      <p:sp>
        <p:nvSpPr>
          <p:cNvPr id="12" name="Text 10"/>
          <p:cNvSpPr/>
          <p:nvPr/>
        </p:nvSpPr>
        <p:spPr>
          <a:xfrm>
            <a:off x="1371600" y="3072384"/>
            <a:ext cx="4526280" cy="384048"/>
          </a:xfrm>
          <a:prstGeom prst="rect">
            <a:avLst/>
          </a:prstGeom>
          <a:noFill/>
          <a:ln/>
        </p:spPr>
        <p:txBody>
          <a:bodyPr wrap="square" lIns="0" tIns="0" rIns="0" bIns="0" rtlCol="0" anchor="ctr"/>
          <a:lstStyle/>
          <a:p>
            <a:pPr indent="0" marL="0">
              <a:buNone/>
            </a:pPr>
            <a:r>
              <a:rPr lang="en-US" sz="1600" b="1" dirty="0">
                <a:solidFill>
                  <a:srgbClr val="034694"/>
                </a:solidFill>
                <a:latin typeface="Century Gothic" pitchFamily="34" charset="0"/>
                <a:ea typeface="Century Gothic" pitchFamily="34" charset="-122"/>
                <a:cs typeface="Century Gothic" pitchFamily="34" charset="-120"/>
              </a:rPr>
              <a:t>Common first, specialty later</a:t>
            </a:r>
            <a:endParaRPr lang="en-US" sz="1600" dirty="0"/>
          </a:p>
        </p:txBody>
      </p:sp>
      <p:sp>
        <p:nvSpPr>
          <p:cNvPr id="13" name="Text 11"/>
          <p:cNvSpPr/>
          <p:nvPr/>
        </p:nvSpPr>
        <p:spPr>
          <a:xfrm>
            <a:off x="1371600" y="3456432"/>
            <a:ext cx="4526280" cy="749808"/>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Weeks 1–4 are general and useful for every intern. Depth waits until people have a shared vocabulary.</a:t>
            </a:r>
            <a:endParaRPr lang="en-US" sz="1300" dirty="0"/>
          </a:p>
        </p:txBody>
      </p:sp>
      <p:sp>
        <p:nvSpPr>
          <p:cNvPr id="14" name="Shape 12"/>
          <p:cNvSpPr/>
          <p:nvPr/>
        </p:nvSpPr>
        <p:spPr>
          <a:xfrm>
            <a:off x="548640" y="4480560"/>
            <a:ext cx="5532120" cy="1417320"/>
          </a:xfrm>
          <a:prstGeom prst="rect">
            <a:avLst/>
          </a:prstGeom>
          <a:solidFill>
            <a:srgbClr val="FFFFFF"/>
          </a:solidFill>
          <a:ln w="12700">
            <a:solidFill>
              <a:srgbClr val="E5E7EB"/>
            </a:solidFill>
            <a:prstDash val="solid"/>
          </a:ln>
        </p:spPr>
      </p:sp>
      <p:sp>
        <p:nvSpPr>
          <p:cNvPr id="15" name="Shape 13"/>
          <p:cNvSpPr/>
          <p:nvPr/>
        </p:nvSpPr>
        <p:spPr>
          <a:xfrm>
            <a:off x="713232" y="4864608"/>
            <a:ext cx="502920" cy="502920"/>
          </a:xfrm>
          <a:prstGeom prst="ellipse">
            <a:avLst/>
          </a:prstGeom>
          <a:solidFill>
            <a:srgbClr val="034694"/>
          </a:solidFill>
          <a:ln/>
        </p:spPr>
      </p:sp>
      <p:sp>
        <p:nvSpPr>
          <p:cNvPr id="16" name="Text 14"/>
          <p:cNvSpPr/>
          <p:nvPr/>
        </p:nvSpPr>
        <p:spPr>
          <a:xfrm>
            <a:off x="713232" y="486460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entury Gothic" pitchFamily="34" charset="0"/>
                <a:ea typeface="Century Gothic" pitchFamily="34" charset="-122"/>
                <a:cs typeface="Century Gothic" pitchFamily="34" charset="-120"/>
              </a:rPr>
              <a:t>3</a:t>
            </a:r>
            <a:endParaRPr lang="en-US" sz="1600" dirty="0"/>
          </a:p>
        </p:txBody>
      </p:sp>
      <p:sp>
        <p:nvSpPr>
          <p:cNvPr id="17" name="Text 15"/>
          <p:cNvSpPr/>
          <p:nvPr/>
        </p:nvSpPr>
        <p:spPr>
          <a:xfrm>
            <a:off x="1371600" y="4626864"/>
            <a:ext cx="4526280" cy="384048"/>
          </a:xfrm>
          <a:prstGeom prst="rect">
            <a:avLst/>
          </a:prstGeom>
          <a:noFill/>
          <a:ln/>
        </p:spPr>
        <p:txBody>
          <a:bodyPr wrap="square" lIns="0" tIns="0" rIns="0" bIns="0" rtlCol="0" anchor="ctr"/>
          <a:lstStyle/>
          <a:p>
            <a:pPr indent="0" marL="0">
              <a:buNone/>
            </a:pPr>
            <a:r>
              <a:rPr lang="en-US" sz="1600" b="1" dirty="0">
                <a:solidFill>
                  <a:srgbClr val="034694"/>
                </a:solidFill>
                <a:latin typeface="Century Gothic" pitchFamily="34" charset="0"/>
                <a:ea typeface="Century Gothic" pitchFamily="34" charset="-122"/>
                <a:cs typeface="Century Gothic" pitchFamily="34" charset="-120"/>
              </a:rPr>
              <a:t>SE never becomes optional</a:t>
            </a:r>
            <a:endParaRPr lang="en-US" sz="1600" dirty="0"/>
          </a:p>
        </p:txBody>
      </p:sp>
      <p:sp>
        <p:nvSpPr>
          <p:cNvPr id="18" name="Text 16"/>
          <p:cNvSpPr/>
          <p:nvPr/>
        </p:nvSpPr>
        <p:spPr>
          <a:xfrm>
            <a:off x="1371600" y="5010912"/>
            <a:ext cx="4526280" cy="749808"/>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After week 4, interns choose which other disciplines to keep attending. Everyone stays in Systems Engineering.</a:t>
            </a:r>
            <a:endParaRPr lang="en-US" sz="1300" dirty="0"/>
          </a:p>
        </p:txBody>
      </p:sp>
      <p:sp>
        <p:nvSpPr>
          <p:cNvPr id="19" name="Shape 17"/>
          <p:cNvSpPr/>
          <p:nvPr/>
        </p:nvSpPr>
        <p:spPr>
          <a:xfrm>
            <a:off x="6263640" y="1371600"/>
            <a:ext cx="5532120" cy="1417320"/>
          </a:xfrm>
          <a:prstGeom prst="rect">
            <a:avLst/>
          </a:prstGeom>
          <a:solidFill>
            <a:srgbClr val="FFFFFF"/>
          </a:solidFill>
          <a:ln w="12700">
            <a:solidFill>
              <a:srgbClr val="E5E7EB"/>
            </a:solidFill>
            <a:prstDash val="solid"/>
          </a:ln>
        </p:spPr>
      </p:sp>
      <p:sp>
        <p:nvSpPr>
          <p:cNvPr id="20" name="Shape 18"/>
          <p:cNvSpPr/>
          <p:nvPr/>
        </p:nvSpPr>
        <p:spPr>
          <a:xfrm>
            <a:off x="6428232" y="1755648"/>
            <a:ext cx="502920" cy="502920"/>
          </a:xfrm>
          <a:prstGeom prst="ellipse">
            <a:avLst/>
          </a:prstGeom>
          <a:solidFill>
            <a:srgbClr val="034694"/>
          </a:solidFill>
          <a:ln/>
        </p:spPr>
      </p:sp>
      <p:sp>
        <p:nvSpPr>
          <p:cNvPr id="21" name="Text 19"/>
          <p:cNvSpPr/>
          <p:nvPr/>
        </p:nvSpPr>
        <p:spPr>
          <a:xfrm>
            <a:off x="6428232" y="175564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entury Gothic" pitchFamily="34" charset="0"/>
                <a:ea typeface="Century Gothic" pitchFamily="34" charset="-122"/>
                <a:cs typeface="Century Gothic" pitchFamily="34" charset="-120"/>
              </a:rPr>
              <a:t>4</a:t>
            </a:r>
            <a:endParaRPr lang="en-US" sz="1600" dirty="0"/>
          </a:p>
        </p:txBody>
      </p:sp>
      <p:sp>
        <p:nvSpPr>
          <p:cNvPr id="22" name="Text 20"/>
          <p:cNvSpPr/>
          <p:nvPr/>
        </p:nvSpPr>
        <p:spPr>
          <a:xfrm>
            <a:off x="7086600" y="1517904"/>
            <a:ext cx="4526280" cy="384048"/>
          </a:xfrm>
          <a:prstGeom prst="rect">
            <a:avLst/>
          </a:prstGeom>
          <a:noFill/>
          <a:ln/>
        </p:spPr>
        <p:txBody>
          <a:bodyPr wrap="square" lIns="0" tIns="0" rIns="0" bIns="0" rtlCol="0" anchor="ctr"/>
          <a:lstStyle/>
          <a:p>
            <a:pPr indent="0" marL="0">
              <a:buNone/>
            </a:pPr>
            <a:r>
              <a:rPr lang="en-US" sz="1600" b="1" dirty="0">
                <a:solidFill>
                  <a:srgbClr val="034694"/>
                </a:solidFill>
                <a:latin typeface="Century Gothic" pitchFamily="34" charset="0"/>
                <a:ea typeface="Century Gothic" pitchFamily="34" charset="-122"/>
                <a:cs typeface="Century Gothic" pitchFamily="34" charset="-120"/>
              </a:rPr>
              <a:t>The capstone organizes the work</a:t>
            </a:r>
            <a:endParaRPr lang="en-US" sz="1600" dirty="0"/>
          </a:p>
        </p:txBody>
      </p:sp>
      <p:sp>
        <p:nvSpPr>
          <p:cNvPr id="23" name="Text 21"/>
          <p:cNvSpPr/>
          <p:nvPr/>
        </p:nvSpPr>
        <p:spPr>
          <a:xfrm>
            <a:off x="7086600" y="1901952"/>
            <a:ext cx="4526280" cy="749808"/>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Week 5 opens the project. From week 6, each afternoon reviews last week’s work, teaches, exercises, and assigns next week’s capstone tasks.</a:t>
            </a:r>
            <a:endParaRPr lang="en-US" sz="1300" dirty="0"/>
          </a:p>
        </p:txBody>
      </p:sp>
      <p:sp>
        <p:nvSpPr>
          <p:cNvPr id="24" name="Shape 22"/>
          <p:cNvSpPr/>
          <p:nvPr/>
        </p:nvSpPr>
        <p:spPr>
          <a:xfrm>
            <a:off x="6263640" y="2926080"/>
            <a:ext cx="5532120" cy="1417320"/>
          </a:xfrm>
          <a:prstGeom prst="rect">
            <a:avLst/>
          </a:prstGeom>
          <a:solidFill>
            <a:srgbClr val="FFFFFF"/>
          </a:solidFill>
          <a:ln w="12700">
            <a:solidFill>
              <a:srgbClr val="E5E7EB"/>
            </a:solidFill>
            <a:prstDash val="solid"/>
          </a:ln>
        </p:spPr>
      </p:sp>
      <p:sp>
        <p:nvSpPr>
          <p:cNvPr id="25" name="Shape 23"/>
          <p:cNvSpPr/>
          <p:nvPr/>
        </p:nvSpPr>
        <p:spPr>
          <a:xfrm>
            <a:off x="6428232" y="3310128"/>
            <a:ext cx="502920" cy="502920"/>
          </a:xfrm>
          <a:prstGeom prst="ellipse">
            <a:avLst/>
          </a:prstGeom>
          <a:solidFill>
            <a:srgbClr val="034694"/>
          </a:solidFill>
          <a:ln/>
        </p:spPr>
      </p:sp>
      <p:sp>
        <p:nvSpPr>
          <p:cNvPr id="26" name="Text 24"/>
          <p:cNvSpPr/>
          <p:nvPr/>
        </p:nvSpPr>
        <p:spPr>
          <a:xfrm>
            <a:off x="6428232" y="331012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entury Gothic" pitchFamily="34" charset="0"/>
                <a:ea typeface="Century Gothic" pitchFamily="34" charset="-122"/>
                <a:cs typeface="Century Gothic" pitchFamily="34" charset="-120"/>
              </a:rPr>
              <a:t>5</a:t>
            </a:r>
            <a:endParaRPr lang="en-US" sz="1600" dirty="0"/>
          </a:p>
        </p:txBody>
      </p:sp>
      <p:sp>
        <p:nvSpPr>
          <p:cNvPr id="27" name="Text 25"/>
          <p:cNvSpPr/>
          <p:nvPr/>
        </p:nvSpPr>
        <p:spPr>
          <a:xfrm>
            <a:off x="7086600" y="3072384"/>
            <a:ext cx="4526280" cy="384048"/>
          </a:xfrm>
          <a:prstGeom prst="rect">
            <a:avLst/>
          </a:prstGeom>
          <a:noFill/>
          <a:ln/>
        </p:spPr>
        <p:txBody>
          <a:bodyPr wrap="square" lIns="0" tIns="0" rIns="0" bIns="0" rtlCol="0" anchor="ctr"/>
          <a:lstStyle/>
          <a:p>
            <a:pPr indent="0" marL="0">
              <a:buNone/>
            </a:pPr>
            <a:r>
              <a:rPr lang="en-US" sz="1600" b="1" dirty="0">
                <a:solidFill>
                  <a:srgbClr val="034694"/>
                </a:solidFill>
                <a:latin typeface="Century Gothic" pitchFamily="34" charset="0"/>
                <a:ea typeface="Century Gothic" pitchFamily="34" charset="-122"/>
                <a:cs typeface="Century Gothic" pitchFamily="34" charset="-120"/>
              </a:rPr>
              <a:t>Military is inserted, not assumed</a:t>
            </a:r>
            <a:endParaRPr lang="en-US" sz="1600" dirty="0"/>
          </a:p>
        </p:txBody>
      </p:sp>
      <p:sp>
        <p:nvSpPr>
          <p:cNvPr id="28" name="Text 26"/>
          <p:cNvSpPr/>
          <p:nvPr/>
        </p:nvSpPr>
        <p:spPr>
          <a:xfrm>
            <a:off x="7086600" y="3456432"/>
            <a:ext cx="4526280" cy="749808"/>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Ops lectures are scheduled when they help — and only if TAA review says they are not defense services.</a:t>
            </a:r>
            <a:endParaRPr lang="en-US" sz="1300" dirty="0"/>
          </a:p>
        </p:txBody>
      </p:sp>
      <p:sp>
        <p:nvSpPr>
          <p:cNvPr id="29" name="Shape 27"/>
          <p:cNvSpPr/>
          <p:nvPr/>
        </p:nvSpPr>
        <p:spPr>
          <a:xfrm>
            <a:off x="6263640" y="4480560"/>
            <a:ext cx="5532120" cy="1417320"/>
          </a:xfrm>
          <a:prstGeom prst="rect">
            <a:avLst/>
          </a:prstGeom>
          <a:solidFill>
            <a:srgbClr val="FFFFFF"/>
          </a:solidFill>
          <a:ln w="12700">
            <a:solidFill>
              <a:srgbClr val="E5E7EB"/>
            </a:solidFill>
            <a:prstDash val="solid"/>
          </a:ln>
        </p:spPr>
      </p:sp>
      <p:sp>
        <p:nvSpPr>
          <p:cNvPr id="30" name="Shape 28"/>
          <p:cNvSpPr/>
          <p:nvPr/>
        </p:nvSpPr>
        <p:spPr>
          <a:xfrm>
            <a:off x="6428232" y="4864608"/>
            <a:ext cx="502920" cy="502920"/>
          </a:xfrm>
          <a:prstGeom prst="ellipse">
            <a:avLst/>
          </a:prstGeom>
          <a:solidFill>
            <a:srgbClr val="034694"/>
          </a:solidFill>
          <a:ln/>
        </p:spPr>
      </p:sp>
      <p:sp>
        <p:nvSpPr>
          <p:cNvPr id="31" name="Text 29"/>
          <p:cNvSpPr/>
          <p:nvPr/>
        </p:nvSpPr>
        <p:spPr>
          <a:xfrm>
            <a:off x="6428232" y="486460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entury Gothic" pitchFamily="34" charset="0"/>
                <a:ea typeface="Century Gothic" pitchFamily="34" charset="-122"/>
                <a:cs typeface="Century Gothic" pitchFamily="34" charset="-120"/>
              </a:rPr>
              <a:t>6</a:t>
            </a:r>
            <a:endParaRPr lang="en-US" sz="1600" dirty="0"/>
          </a:p>
        </p:txBody>
      </p:sp>
      <p:sp>
        <p:nvSpPr>
          <p:cNvPr id="32" name="Text 30"/>
          <p:cNvSpPr/>
          <p:nvPr/>
        </p:nvSpPr>
        <p:spPr>
          <a:xfrm>
            <a:off x="7086600" y="4626864"/>
            <a:ext cx="4526280" cy="384048"/>
          </a:xfrm>
          <a:prstGeom prst="rect">
            <a:avLst/>
          </a:prstGeom>
          <a:noFill/>
          <a:ln/>
        </p:spPr>
        <p:txBody>
          <a:bodyPr wrap="square" lIns="0" tIns="0" rIns="0" bIns="0" rtlCol="0" anchor="ctr"/>
          <a:lstStyle/>
          <a:p>
            <a:pPr indent="0" marL="0">
              <a:buNone/>
            </a:pPr>
            <a:r>
              <a:rPr lang="en-US" sz="1600" b="1" dirty="0">
                <a:solidFill>
                  <a:srgbClr val="034694"/>
                </a:solidFill>
                <a:latin typeface="Century Gothic" pitchFamily="34" charset="0"/>
                <a:ea typeface="Century Gothic" pitchFamily="34" charset="-122"/>
                <a:cs typeface="Century Gothic" pitchFamily="34" charset="-120"/>
              </a:rPr>
              <a:t>SDC access is a maybe</a:t>
            </a:r>
            <a:endParaRPr lang="en-US" sz="1600" dirty="0"/>
          </a:p>
        </p:txBody>
      </p:sp>
      <p:sp>
        <p:nvSpPr>
          <p:cNvPr id="33" name="Text 31"/>
          <p:cNvSpPr/>
          <p:nvPr/>
        </p:nvSpPr>
        <p:spPr>
          <a:xfrm>
            <a:off x="7086600" y="5010912"/>
            <a:ext cx="4526280" cy="749808"/>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After week 24, a student in a given discipline may train at the SDC. Approvals are not in place. The plan of record stays Masdar.</a:t>
            </a:r>
            <a:endParaRPr lang="en-US" sz="1300" dirty="0"/>
          </a:p>
        </p:txBody>
      </p:sp>
      <p:sp>
        <p:nvSpPr>
          <p:cNvPr id="34" name="Shape 32"/>
          <p:cNvSpPr/>
          <p:nvPr/>
        </p:nvSpPr>
        <p:spPr>
          <a:xfrm>
            <a:off x="548640" y="6501384"/>
            <a:ext cx="320040" cy="36576"/>
          </a:xfrm>
          <a:prstGeom prst="rect">
            <a:avLst/>
          </a:prstGeom>
          <a:solidFill>
            <a:srgbClr val="DBA111"/>
          </a:solidFill>
          <a:ln/>
        </p:spPr>
      </p:sp>
      <p:sp>
        <p:nvSpPr>
          <p:cNvPr id="35" name="Text 33"/>
          <p:cNvSpPr/>
          <p:nvPr/>
        </p:nvSpPr>
        <p:spPr>
          <a:xfrm>
            <a:off x="960120" y="6382512"/>
            <a:ext cx="6583680" cy="274320"/>
          </a:xfrm>
          <a:prstGeom prst="rect">
            <a:avLst/>
          </a:prstGeom>
          <a:noFill/>
          <a:ln/>
        </p:spPr>
        <p:txBody>
          <a:bodyPr wrap="square" lIns="0" tIns="0" rIns="0" bIns="0" rtlCol="0" anchor="ctr"/>
          <a:lstStyle/>
          <a:p>
            <a:pPr indent="0" marL="0">
              <a:buNone/>
            </a:pPr>
            <a:r>
              <a:rPr lang="en-US" sz="1000" b="1" spc="160" kern="0" dirty="0">
                <a:solidFill>
                  <a:srgbClr val="475569"/>
                </a:solidFill>
                <a:latin typeface="Calibri" pitchFamily="34" charset="0"/>
                <a:ea typeface="Calibri" pitchFamily="34" charset="-122"/>
                <a:cs typeface="Calibri" pitchFamily="34" charset="-120"/>
              </a:rPr>
              <a:t>CISS INTERNSHIP  |  DELIVERY APPROACH</a:t>
            </a:r>
            <a:endParaRPr lang="en-US" sz="1000" dirty="0"/>
          </a:p>
        </p:txBody>
      </p:sp>
      <p:sp>
        <p:nvSpPr>
          <p:cNvPr id="36" name="Text 34"/>
          <p:cNvSpPr/>
          <p:nvPr/>
        </p:nvSpPr>
        <p:spPr>
          <a:xfrm>
            <a:off x="7406640" y="6382512"/>
            <a:ext cx="3291840" cy="274320"/>
          </a:xfrm>
          <a:prstGeom prst="rect">
            <a:avLst/>
          </a:prstGeom>
          <a:noFill/>
          <a:ln/>
        </p:spPr>
        <p:txBody>
          <a:bodyPr wrap="square" lIns="0" tIns="0" rIns="0" bIns="0" rtlCol="0" anchor="ctr"/>
          <a:lstStyle/>
          <a:p>
            <a:pPr algn="r" indent="0" marL="0">
              <a:buNone/>
            </a:pPr>
            <a:r>
              <a:rPr lang="en-US" sz="1000" i="1" dirty="0">
                <a:solidFill>
                  <a:srgbClr val="475569"/>
                </a:solidFill>
                <a:latin typeface="Calibri" pitchFamily="34" charset="0"/>
                <a:ea typeface="Calibri" pitchFamily="34" charset="-122"/>
                <a:cs typeface="Calibri" pitchFamily="34" charset="-120"/>
              </a:rPr>
              <a:t>Principles</a:t>
            </a:r>
            <a:endParaRPr lang="en-US" sz="1000" dirty="0"/>
          </a:p>
        </p:txBody>
      </p:sp>
      <p:sp>
        <p:nvSpPr>
          <p:cNvPr id="37" name="Text 35"/>
          <p:cNvSpPr/>
          <p:nvPr/>
        </p:nvSpPr>
        <p:spPr>
          <a:xfrm>
            <a:off x="10835640" y="6382512"/>
            <a:ext cx="777240" cy="274320"/>
          </a:xfrm>
          <a:prstGeom prst="rect">
            <a:avLst/>
          </a:prstGeom>
          <a:noFill/>
          <a:ln/>
        </p:spPr>
        <p:txBody>
          <a:bodyPr wrap="square" lIns="0" tIns="0" rIns="0" bIns="0" rtlCol="0" anchor="ctr"/>
          <a:lstStyle/>
          <a:p>
            <a:pPr algn="r" indent="0" marL="0">
              <a:buNone/>
            </a:pPr>
            <a:r>
              <a:rPr lang="en-US" sz="1200" b="1" dirty="0">
                <a:solidFill>
                  <a:srgbClr val="034694"/>
                </a:solidFill>
                <a:latin typeface="Century Gothic" pitchFamily="34" charset="0"/>
                <a:ea typeface="Century Gothic" pitchFamily="34" charset="-122"/>
                <a:cs typeface="Century Gothic"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256032"/>
          </a:xfrm>
          <a:prstGeom prst="rect">
            <a:avLst/>
          </a:prstGeom>
          <a:noFill/>
          <a:ln/>
        </p:spPr>
        <p:txBody>
          <a:bodyPr wrap="square" lIns="0" tIns="0" rIns="0" bIns="0" rtlCol="0" anchor="ctr"/>
          <a:lstStyle/>
          <a:p>
            <a:pPr indent="0" marL="0">
              <a:buNone/>
            </a:pPr>
            <a:r>
              <a:rPr lang="en-US" sz="1100" b="1" spc="320" kern="0" dirty="0">
                <a:solidFill>
                  <a:srgbClr val="DBA111"/>
                </a:solidFill>
                <a:latin typeface="Calibri" pitchFamily="34" charset="0"/>
                <a:ea typeface="Calibri" pitchFamily="34" charset="-122"/>
                <a:cs typeface="Calibri" pitchFamily="34" charset="-120"/>
              </a:rPr>
              <a:t>36-WEEK PHASING</a:t>
            </a:r>
            <a:endParaRPr lang="en-US" sz="1100" dirty="0"/>
          </a:p>
        </p:txBody>
      </p:sp>
      <p:sp>
        <p:nvSpPr>
          <p:cNvPr id="3" name="Text 1"/>
          <p:cNvSpPr/>
          <p:nvPr/>
        </p:nvSpPr>
        <p:spPr>
          <a:xfrm>
            <a:off x="548640" y="621792"/>
            <a:ext cx="11064240" cy="566928"/>
          </a:xfrm>
          <a:prstGeom prst="rect">
            <a:avLst/>
          </a:prstGeom>
          <a:noFill/>
          <a:ln/>
        </p:spPr>
        <p:txBody>
          <a:bodyPr wrap="square" lIns="0" tIns="0" rIns="0" bIns="0" rtlCol="0" anchor="ctr"/>
          <a:lstStyle/>
          <a:p>
            <a:pPr indent="0" marL="0">
              <a:buNone/>
            </a:pPr>
            <a:r>
              <a:rPr lang="en-US" sz="2600" b="1" dirty="0">
                <a:solidFill>
                  <a:srgbClr val="034694"/>
                </a:solidFill>
                <a:latin typeface="Century Gothic" pitchFamily="34" charset="0"/>
                <a:ea typeface="Century Gothic" pitchFamily="34" charset="-122"/>
                <a:cs typeface="Century Gothic" pitchFamily="34" charset="-120"/>
              </a:rPr>
              <a:t>Four phases. One classroom. Depth after a shared base.</a:t>
            </a:r>
            <a:endParaRPr lang="en-US" sz="2600" dirty="0"/>
          </a:p>
        </p:txBody>
      </p:sp>
      <p:sp>
        <p:nvSpPr>
          <p:cNvPr id="4" name="Shape 2"/>
          <p:cNvSpPr/>
          <p:nvPr/>
        </p:nvSpPr>
        <p:spPr>
          <a:xfrm>
            <a:off x="548640" y="1371600"/>
            <a:ext cx="2743200" cy="3401568"/>
          </a:xfrm>
          <a:prstGeom prst="rect">
            <a:avLst/>
          </a:prstGeom>
          <a:solidFill>
            <a:srgbClr val="FFFFFF"/>
          </a:solidFill>
          <a:ln w="12700">
            <a:solidFill>
              <a:srgbClr val="E5E7EB"/>
            </a:solidFill>
            <a:prstDash val="solid"/>
          </a:ln>
        </p:spPr>
      </p:sp>
      <p:sp>
        <p:nvSpPr>
          <p:cNvPr id="5" name="Shape 3"/>
          <p:cNvSpPr/>
          <p:nvPr/>
        </p:nvSpPr>
        <p:spPr>
          <a:xfrm>
            <a:off x="548640" y="1371600"/>
            <a:ext cx="2743200" cy="1234440"/>
          </a:xfrm>
          <a:prstGeom prst="rect">
            <a:avLst/>
          </a:prstGeom>
          <a:solidFill>
            <a:srgbClr val="021F47"/>
          </a:solidFill>
          <a:ln/>
        </p:spPr>
      </p:sp>
      <p:sp>
        <p:nvSpPr>
          <p:cNvPr id="6" name="Text 4"/>
          <p:cNvSpPr/>
          <p:nvPr/>
        </p:nvSpPr>
        <p:spPr>
          <a:xfrm>
            <a:off x="713232" y="1444752"/>
            <a:ext cx="2423160" cy="347472"/>
          </a:xfrm>
          <a:prstGeom prst="rect">
            <a:avLst/>
          </a:prstGeom>
          <a:noFill/>
          <a:ln/>
        </p:spPr>
        <p:txBody>
          <a:bodyPr wrap="square" lIns="0" tIns="0" rIns="0" bIns="0" rtlCol="0" anchor="ctr"/>
          <a:lstStyle/>
          <a:p>
            <a:pPr indent="0" marL="0">
              <a:buNone/>
            </a:pPr>
            <a:r>
              <a:rPr lang="en-US" sz="1400" b="1" dirty="0">
                <a:solidFill>
                  <a:srgbClr val="DBA111"/>
                </a:solidFill>
                <a:latin typeface="Century Gothic" pitchFamily="34" charset="0"/>
                <a:ea typeface="Century Gothic" pitchFamily="34" charset="-122"/>
                <a:cs typeface="Century Gothic" pitchFamily="34" charset="-120"/>
              </a:rPr>
              <a:t>01</a:t>
            </a:r>
            <a:endParaRPr lang="en-US" sz="1400" dirty="0"/>
          </a:p>
        </p:txBody>
      </p:sp>
      <p:sp>
        <p:nvSpPr>
          <p:cNvPr id="7" name="Text 5"/>
          <p:cNvSpPr/>
          <p:nvPr/>
        </p:nvSpPr>
        <p:spPr>
          <a:xfrm>
            <a:off x="713232" y="1755648"/>
            <a:ext cx="2423160" cy="256032"/>
          </a:xfrm>
          <a:prstGeom prst="rect">
            <a:avLst/>
          </a:prstGeom>
          <a:noFill/>
          <a:ln/>
        </p:spPr>
        <p:txBody>
          <a:bodyPr wrap="square" lIns="0" tIns="0" rIns="0" bIns="0" rtlCol="0" anchor="ctr"/>
          <a:lstStyle/>
          <a:p>
            <a:pPr indent="0" marL="0">
              <a:buNone/>
            </a:pPr>
            <a:r>
              <a:rPr lang="en-US" sz="1200" b="1" spc="80" kern="0" dirty="0">
                <a:solidFill>
                  <a:srgbClr val="DBA111"/>
                </a:solidFill>
                <a:latin typeface="Calibri" pitchFamily="34" charset="0"/>
                <a:ea typeface="Calibri" pitchFamily="34" charset="-122"/>
                <a:cs typeface="Calibri" pitchFamily="34" charset="-120"/>
              </a:rPr>
              <a:t>WEEKS 1–4</a:t>
            </a:r>
            <a:endParaRPr lang="en-US" sz="1200" dirty="0"/>
          </a:p>
        </p:txBody>
      </p:sp>
      <p:sp>
        <p:nvSpPr>
          <p:cNvPr id="8" name="Text 6"/>
          <p:cNvSpPr/>
          <p:nvPr/>
        </p:nvSpPr>
        <p:spPr>
          <a:xfrm>
            <a:off x="713232" y="2011680"/>
            <a:ext cx="2423160" cy="457200"/>
          </a:xfrm>
          <a:prstGeom prst="rect">
            <a:avLst/>
          </a:prstGeom>
          <a:noFill/>
          <a:ln/>
        </p:spPr>
        <p:txBody>
          <a:bodyPr wrap="square" lIns="0" tIns="0" rIns="0" bIns="0" rtlCol="0" anchor="ctr"/>
          <a:lstStyle/>
          <a:p>
            <a:pPr indent="0" marL="0">
              <a:buNone/>
            </a:pPr>
            <a:r>
              <a:rPr lang="en-US" sz="1500" b="1" dirty="0">
                <a:solidFill>
                  <a:srgbClr val="FFFFFF"/>
                </a:solidFill>
                <a:latin typeface="Century Gothic" pitchFamily="34" charset="0"/>
                <a:ea typeface="Century Gothic" pitchFamily="34" charset="-122"/>
                <a:cs typeface="Century Gothic" pitchFamily="34" charset="-120"/>
              </a:rPr>
              <a:t>Common foundation</a:t>
            </a:r>
            <a:endParaRPr lang="en-US" sz="1500" dirty="0"/>
          </a:p>
        </p:txBody>
      </p:sp>
      <p:sp>
        <p:nvSpPr>
          <p:cNvPr id="9" name="Text 7"/>
          <p:cNvSpPr/>
          <p:nvPr/>
        </p:nvSpPr>
        <p:spPr>
          <a:xfrm>
            <a:off x="731520" y="2761488"/>
            <a:ext cx="2377440" cy="1828800"/>
          </a:xfrm>
          <a:prstGeom prst="rect">
            <a:avLst/>
          </a:prstGeom>
          <a:noFill/>
          <a:ln/>
        </p:spPr>
        <p:txBody>
          <a:bodyPr wrap="square" lIns="0" tIns="0" rIns="0" bIns="0" rtlCol="0" anchor="t"/>
          <a:lstStyle/>
          <a:p>
            <a:pPr indent="0" marL="0">
              <a:buNone/>
            </a:pPr>
            <a:r>
              <a:rPr lang="en-US" sz="1400" dirty="0">
                <a:solidFill>
                  <a:srgbClr val="111827"/>
                </a:solidFill>
                <a:latin typeface="Calibri" pitchFamily="34" charset="0"/>
                <a:ea typeface="Calibri" pitchFamily="34" charset="-122"/>
                <a:cs typeface="Calibri" pitchFamily="34" charset="-120"/>
              </a:rPr>
              <a:t>All interns attend every lecture. Each discipline teaches general, useful material. No specialty dive. No capstone tickets yet.</a:t>
            </a:r>
            <a:endParaRPr lang="en-US" sz="1400" dirty="0"/>
          </a:p>
        </p:txBody>
      </p:sp>
      <p:sp>
        <p:nvSpPr>
          <p:cNvPr id="10" name="Shape 8"/>
          <p:cNvSpPr/>
          <p:nvPr/>
        </p:nvSpPr>
        <p:spPr>
          <a:xfrm>
            <a:off x="3429000" y="1371600"/>
            <a:ext cx="2743200" cy="3401568"/>
          </a:xfrm>
          <a:prstGeom prst="rect">
            <a:avLst/>
          </a:prstGeom>
          <a:solidFill>
            <a:srgbClr val="FFFFFF"/>
          </a:solidFill>
          <a:ln w="12700">
            <a:solidFill>
              <a:srgbClr val="E5E7EB"/>
            </a:solidFill>
            <a:prstDash val="solid"/>
          </a:ln>
        </p:spPr>
      </p:sp>
      <p:sp>
        <p:nvSpPr>
          <p:cNvPr id="11" name="Shape 9"/>
          <p:cNvSpPr/>
          <p:nvPr/>
        </p:nvSpPr>
        <p:spPr>
          <a:xfrm>
            <a:off x="3429000" y="1371600"/>
            <a:ext cx="2743200" cy="1234440"/>
          </a:xfrm>
          <a:prstGeom prst="rect">
            <a:avLst/>
          </a:prstGeom>
          <a:solidFill>
            <a:srgbClr val="034694"/>
          </a:solidFill>
          <a:ln/>
        </p:spPr>
      </p:sp>
      <p:sp>
        <p:nvSpPr>
          <p:cNvPr id="12" name="Text 10"/>
          <p:cNvSpPr/>
          <p:nvPr/>
        </p:nvSpPr>
        <p:spPr>
          <a:xfrm>
            <a:off x="3593592" y="1444752"/>
            <a:ext cx="2423160" cy="347472"/>
          </a:xfrm>
          <a:prstGeom prst="rect">
            <a:avLst/>
          </a:prstGeom>
          <a:noFill/>
          <a:ln/>
        </p:spPr>
        <p:txBody>
          <a:bodyPr wrap="square" lIns="0" tIns="0" rIns="0" bIns="0" rtlCol="0" anchor="ctr"/>
          <a:lstStyle/>
          <a:p>
            <a:pPr indent="0" marL="0">
              <a:buNone/>
            </a:pPr>
            <a:r>
              <a:rPr lang="en-US" sz="1400" b="1" dirty="0">
                <a:solidFill>
                  <a:srgbClr val="DBA111"/>
                </a:solidFill>
                <a:latin typeface="Century Gothic" pitchFamily="34" charset="0"/>
                <a:ea typeface="Century Gothic" pitchFamily="34" charset="-122"/>
                <a:cs typeface="Century Gothic" pitchFamily="34" charset="-120"/>
              </a:rPr>
              <a:t>02</a:t>
            </a:r>
            <a:endParaRPr lang="en-US" sz="1400" dirty="0"/>
          </a:p>
        </p:txBody>
      </p:sp>
      <p:sp>
        <p:nvSpPr>
          <p:cNvPr id="13" name="Text 11"/>
          <p:cNvSpPr/>
          <p:nvPr/>
        </p:nvSpPr>
        <p:spPr>
          <a:xfrm>
            <a:off x="3593592" y="1755648"/>
            <a:ext cx="2423160" cy="256032"/>
          </a:xfrm>
          <a:prstGeom prst="rect">
            <a:avLst/>
          </a:prstGeom>
          <a:noFill/>
          <a:ln/>
        </p:spPr>
        <p:txBody>
          <a:bodyPr wrap="square" lIns="0" tIns="0" rIns="0" bIns="0" rtlCol="0" anchor="ctr"/>
          <a:lstStyle/>
          <a:p>
            <a:pPr indent="0" marL="0">
              <a:buNone/>
            </a:pPr>
            <a:r>
              <a:rPr lang="en-US" sz="1200" b="1" spc="80" kern="0" dirty="0">
                <a:solidFill>
                  <a:srgbClr val="DBA111"/>
                </a:solidFill>
                <a:latin typeface="Calibri" pitchFamily="34" charset="0"/>
                <a:ea typeface="Calibri" pitchFamily="34" charset="-122"/>
                <a:cs typeface="Calibri" pitchFamily="34" charset="-120"/>
              </a:rPr>
              <a:t>WEEK 5</a:t>
            </a:r>
            <a:endParaRPr lang="en-US" sz="1200" dirty="0"/>
          </a:p>
        </p:txBody>
      </p:sp>
      <p:sp>
        <p:nvSpPr>
          <p:cNvPr id="14" name="Text 12"/>
          <p:cNvSpPr/>
          <p:nvPr/>
        </p:nvSpPr>
        <p:spPr>
          <a:xfrm>
            <a:off x="3593592" y="2011680"/>
            <a:ext cx="2423160" cy="457200"/>
          </a:xfrm>
          <a:prstGeom prst="rect">
            <a:avLst/>
          </a:prstGeom>
          <a:noFill/>
          <a:ln/>
        </p:spPr>
        <p:txBody>
          <a:bodyPr wrap="square" lIns="0" tIns="0" rIns="0" bIns="0" rtlCol="0" anchor="ctr"/>
          <a:lstStyle/>
          <a:p>
            <a:pPr indent="0" marL="0">
              <a:buNone/>
            </a:pPr>
            <a:r>
              <a:rPr lang="en-US" sz="1500" b="1" dirty="0">
                <a:solidFill>
                  <a:srgbClr val="FFFFFF"/>
                </a:solidFill>
                <a:latin typeface="Century Gothic" pitchFamily="34" charset="0"/>
                <a:ea typeface="Century Gothic" pitchFamily="34" charset="-122"/>
                <a:cs typeface="Century Gothic" pitchFamily="34" charset="-120"/>
              </a:rPr>
              <a:t>Capstone kickoff</a:t>
            </a:r>
            <a:endParaRPr lang="en-US" sz="1500" dirty="0"/>
          </a:p>
        </p:txBody>
      </p:sp>
      <p:sp>
        <p:nvSpPr>
          <p:cNvPr id="15" name="Text 13"/>
          <p:cNvSpPr/>
          <p:nvPr/>
        </p:nvSpPr>
        <p:spPr>
          <a:xfrm>
            <a:off x="3611880" y="2761488"/>
            <a:ext cx="2377440" cy="1828800"/>
          </a:xfrm>
          <a:prstGeom prst="rect">
            <a:avLst/>
          </a:prstGeom>
          <a:noFill/>
          <a:ln/>
        </p:spPr>
        <p:txBody>
          <a:bodyPr wrap="square" lIns="0" tIns="0" rIns="0" bIns="0" rtlCol="0" anchor="t"/>
          <a:lstStyle/>
          <a:p>
            <a:pPr indent="0" marL="0">
              <a:buNone/>
            </a:pPr>
            <a:r>
              <a:rPr lang="en-US" sz="1400" dirty="0">
                <a:solidFill>
                  <a:srgbClr val="111827"/>
                </a:solidFill>
                <a:latin typeface="Calibri" pitchFamily="34" charset="0"/>
                <a:ea typeface="Calibri" pitchFamily="34" charset="-122"/>
                <a:cs typeface="Calibri" pitchFamily="34" charset="-120"/>
              </a:rPr>
              <a:t>SE presents the project overview. Each discipline presents what its part must accomplish. Interns see the whole problem before they specialize.</a:t>
            </a:r>
            <a:endParaRPr lang="en-US" sz="1400" dirty="0"/>
          </a:p>
        </p:txBody>
      </p:sp>
      <p:sp>
        <p:nvSpPr>
          <p:cNvPr id="16" name="Shape 14"/>
          <p:cNvSpPr/>
          <p:nvPr/>
        </p:nvSpPr>
        <p:spPr>
          <a:xfrm>
            <a:off x="6309360" y="1371600"/>
            <a:ext cx="2743200" cy="3401568"/>
          </a:xfrm>
          <a:prstGeom prst="rect">
            <a:avLst/>
          </a:prstGeom>
          <a:solidFill>
            <a:srgbClr val="FFFFFF"/>
          </a:solidFill>
          <a:ln w="12700">
            <a:solidFill>
              <a:srgbClr val="E5E7EB"/>
            </a:solidFill>
            <a:prstDash val="solid"/>
          </a:ln>
        </p:spPr>
      </p:sp>
      <p:sp>
        <p:nvSpPr>
          <p:cNvPr id="17" name="Shape 15"/>
          <p:cNvSpPr/>
          <p:nvPr/>
        </p:nvSpPr>
        <p:spPr>
          <a:xfrm>
            <a:off x="6309360" y="1371600"/>
            <a:ext cx="2743200" cy="1234440"/>
          </a:xfrm>
          <a:prstGeom prst="rect">
            <a:avLst/>
          </a:prstGeom>
          <a:solidFill>
            <a:srgbClr val="034694"/>
          </a:solidFill>
          <a:ln/>
        </p:spPr>
      </p:sp>
      <p:sp>
        <p:nvSpPr>
          <p:cNvPr id="18" name="Text 16"/>
          <p:cNvSpPr/>
          <p:nvPr/>
        </p:nvSpPr>
        <p:spPr>
          <a:xfrm>
            <a:off x="6473952" y="1444752"/>
            <a:ext cx="2423160" cy="347472"/>
          </a:xfrm>
          <a:prstGeom prst="rect">
            <a:avLst/>
          </a:prstGeom>
          <a:noFill/>
          <a:ln/>
        </p:spPr>
        <p:txBody>
          <a:bodyPr wrap="square" lIns="0" tIns="0" rIns="0" bIns="0" rtlCol="0" anchor="ctr"/>
          <a:lstStyle/>
          <a:p>
            <a:pPr indent="0" marL="0">
              <a:buNone/>
            </a:pPr>
            <a:r>
              <a:rPr lang="en-US" sz="1400" b="1" dirty="0">
                <a:solidFill>
                  <a:srgbClr val="DBA111"/>
                </a:solidFill>
                <a:latin typeface="Century Gothic" pitchFamily="34" charset="0"/>
                <a:ea typeface="Century Gothic" pitchFamily="34" charset="-122"/>
                <a:cs typeface="Century Gothic" pitchFamily="34" charset="-120"/>
              </a:rPr>
              <a:t>03</a:t>
            </a:r>
            <a:endParaRPr lang="en-US" sz="1400" dirty="0"/>
          </a:p>
        </p:txBody>
      </p:sp>
      <p:sp>
        <p:nvSpPr>
          <p:cNvPr id="19" name="Text 17"/>
          <p:cNvSpPr/>
          <p:nvPr/>
        </p:nvSpPr>
        <p:spPr>
          <a:xfrm>
            <a:off x="6473952" y="1755648"/>
            <a:ext cx="2423160" cy="256032"/>
          </a:xfrm>
          <a:prstGeom prst="rect">
            <a:avLst/>
          </a:prstGeom>
          <a:noFill/>
          <a:ln/>
        </p:spPr>
        <p:txBody>
          <a:bodyPr wrap="square" lIns="0" tIns="0" rIns="0" bIns="0" rtlCol="0" anchor="ctr"/>
          <a:lstStyle/>
          <a:p>
            <a:pPr indent="0" marL="0">
              <a:buNone/>
            </a:pPr>
            <a:r>
              <a:rPr lang="en-US" sz="1200" b="1" spc="80" kern="0" dirty="0">
                <a:solidFill>
                  <a:srgbClr val="DBA111"/>
                </a:solidFill>
                <a:latin typeface="Calibri" pitchFamily="34" charset="0"/>
                <a:ea typeface="Calibri" pitchFamily="34" charset="-122"/>
                <a:cs typeface="Calibri" pitchFamily="34" charset="-120"/>
              </a:rPr>
              <a:t>WEEKS 6–24</a:t>
            </a:r>
            <a:endParaRPr lang="en-US" sz="1200" dirty="0"/>
          </a:p>
        </p:txBody>
      </p:sp>
      <p:sp>
        <p:nvSpPr>
          <p:cNvPr id="20" name="Text 18"/>
          <p:cNvSpPr/>
          <p:nvPr/>
        </p:nvSpPr>
        <p:spPr>
          <a:xfrm>
            <a:off x="6473952" y="2011680"/>
            <a:ext cx="2423160" cy="457200"/>
          </a:xfrm>
          <a:prstGeom prst="rect">
            <a:avLst/>
          </a:prstGeom>
          <a:noFill/>
          <a:ln/>
        </p:spPr>
        <p:txBody>
          <a:bodyPr wrap="square" lIns="0" tIns="0" rIns="0" bIns="0" rtlCol="0" anchor="ctr"/>
          <a:lstStyle/>
          <a:p>
            <a:pPr indent="0" marL="0">
              <a:buNone/>
            </a:pPr>
            <a:r>
              <a:rPr lang="en-US" sz="1500" b="1" dirty="0">
                <a:solidFill>
                  <a:srgbClr val="FFFFFF"/>
                </a:solidFill>
                <a:latin typeface="Century Gothic" pitchFamily="34" charset="0"/>
                <a:ea typeface="Century Gothic" pitchFamily="34" charset="-122"/>
                <a:cs typeface="Century Gothic" pitchFamily="34" charset="-120"/>
              </a:rPr>
              <a:t>Depth + weekly work</a:t>
            </a:r>
            <a:endParaRPr lang="en-US" sz="1500" dirty="0"/>
          </a:p>
        </p:txBody>
      </p:sp>
      <p:sp>
        <p:nvSpPr>
          <p:cNvPr id="21" name="Text 19"/>
          <p:cNvSpPr/>
          <p:nvPr/>
        </p:nvSpPr>
        <p:spPr>
          <a:xfrm>
            <a:off x="6492240" y="2761488"/>
            <a:ext cx="2377440" cy="1828800"/>
          </a:xfrm>
          <a:prstGeom prst="rect">
            <a:avLst/>
          </a:prstGeom>
          <a:noFill/>
          <a:ln/>
        </p:spPr>
        <p:txBody>
          <a:bodyPr wrap="square" lIns="0" tIns="0" rIns="0" bIns="0" rtlCol="0" anchor="t"/>
          <a:lstStyle/>
          <a:p>
            <a:pPr indent="0" marL="0">
              <a:buNone/>
            </a:pPr>
            <a:r>
              <a:rPr lang="en-US" sz="1400" dirty="0">
                <a:solidFill>
                  <a:srgbClr val="111827"/>
                </a:solidFill>
                <a:latin typeface="Calibri" pitchFamily="34" charset="0"/>
                <a:ea typeface="Calibri" pitchFamily="34" charset="-122"/>
                <a:cs typeface="Calibri" pitchFamily="34" charset="-120"/>
              </a:rPr>
              <a:t>Electives open. SE remains mandatory. Each afternoon: review last week, teach, exercise, assign next week’s capstone work. Military inserted as needed.</a:t>
            </a:r>
            <a:endParaRPr lang="en-US" sz="1400" dirty="0"/>
          </a:p>
        </p:txBody>
      </p:sp>
      <p:sp>
        <p:nvSpPr>
          <p:cNvPr id="22" name="Shape 20"/>
          <p:cNvSpPr/>
          <p:nvPr/>
        </p:nvSpPr>
        <p:spPr>
          <a:xfrm>
            <a:off x="9189720" y="1371600"/>
            <a:ext cx="2743200" cy="3401568"/>
          </a:xfrm>
          <a:prstGeom prst="rect">
            <a:avLst/>
          </a:prstGeom>
          <a:solidFill>
            <a:srgbClr val="FFFFFF"/>
          </a:solidFill>
          <a:ln w="12700">
            <a:solidFill>
              <a:srgbClr val="E5E7EB"/>
            </a:solidFill>
            <a:prstDash val="solid"/>
          </a:ln>
        </p:spPr>
      </p:sp>
      <p:sp>
        <p:nvSpPr>
          <p:cNvPr id="23" name="Shape 21"/>
          <p:cNvSpPr/>
          <p:nvPr/>
        </p:nvSpPr>
        <p:spPr>
          <a:xfrm>
            <a:off x="9189720" y="1371600"/>
            <a:ext cx="2743200" cy="1234440"/>
          </a:xfrm>
          <a:prstGeom prst="rect">
            <a:avLst/>
          </a:prstGeom>
          <a:solidFill>
            <a:srgbClr val="1E3A5F"/>
          </a:solidFill>
          <a:ln/>
        </p:spPr>
      </p:sp>
      <p:sp>
        <p:nvSpPr>
          <p:cNvPr id="24" name="Text 22"/>
          <p:cNvSpPr/>
          <p:nvPr/>
        </p:nvSpPr>
        <p:spPr>
          <a:xfrm>
            <a:off x="9354312" y="1444752"/>
            <a:ext cx="2423160" cy="347472"/>
          </a:xfrm>
          <a:prstGeom prst="rect">
            <a:avLst/>
          </a:prstGeom>
          <a:noFill/>
          <a:ln/>
        </p:spPr>
        <p:txBody>
          <a:bodyPr wrap="square" lIns="0" tIns="0" rIns="0" bIns="0" rtlCol="0" anchor="ctr"/>
          <a:lstStyle/>
          <a:p>
            <a:pPr indent="0" marL="0">
              <a:buNone/>
            </a:pPr>
            <a:r>
              <a:rPr lang="en-US" sz="1400" b="1" dirty="0">
                <a:solidFill>
                  <a:srgbClr val="DBA111"/>
                </a:solidFill>
                <a:latin typeface="Century Gothic" pitchFamily="34" charset="0"/>
                <a:ea typeface="Century Gothic" pitchFamily="34" charset="-122"/>
                <a:cs typeface="Century Gothic" pitchFamily="34" charset="-120"/>
              </a:rPr>
              <a:t>04</a:t>
            </a:r>
            <a:endParaRPr lang="en-US" sz="1400" dirty="0"/>
          </a:p>
        </p:txBody>
      </p:sp>
      <p:sp>
        <p:nvSpPr>
          <p:cNvPr id="25" name="Text 23"/>
          <p:cNvSpPr/>
          <p:nvPr/>
        </p:nvSpPr>
        <p:spPr>
          <a:xfrm>
            <a:off x="9354312" y="1755648"/>
            <a:ext cx="2423160" cy="256032"/>
          </a:xfrm>
          <a:prstGeom prst="rect">
            <a:avLst/>
          </a:prstGeom>
          <a:noFill/>
          <a:ln/>
        </p:spPr>
        <p:txBody>
          <a:bodyPr wrap="square" lIns="0" tIns="0" rIns="0" bIns="0" rtlCol="0" anchor="ctr"/>
          <a:lstStyle/>
          <a:p>
            <a:pPr indent="0" marL="0">
              <a:buNone/>
            </a:pPr>
            <a:r>
              <a:rPr lang="en-US" sz="1200" b="1" spc="80" kern="0" dirty="0">
                <a:solidFill>
                  <a:srgbClr val="DBA111"/>
                </a:solidFill>
                <a:latin typeface="Calibri" pitchFamily="34" charset="0"/>
                <a:ea typeface="Calibri" pitchFamily="34" charset="-122"/>
                <a:cs typeface="Calibri" pitchFamily="34" charset="-120"/>
              </a:rPr>
              <a:t>WEEKS 25–36</a:t>
            </a:r>
            <a:endParaRPr lang="en-US" sz="1200" dirty="0"/>
          </a:p>
        </p:txBody>
      </p:sp>
      <p:sp>
        <p:nvSpPr>
          <p:cNvPr id="26" name="Text 24"/>
          <p:cNvSpPr/>
          <p:nvPr/>
        </p:nvSpPr>
        <p:spPr>
          <a:xfrm>
            <a:off x="9354312" y="2011680"/>
            <a:ext cx="2423160" cy="457200"/>
          </a:xfrm>
          <a:prstGeom prst="rect">
            <a:avLst/>
          </a:prstGeom>
          <a:noFill/>
          <a:ln/>
        </p:spPr>
        <p:txBody>
          <a:bodyPr wrap="square" lIns="0" tIns="0" rIns="0" bIns="0" rtlCol="0" anchor="ctr"/>
          <a:lstStyle/>
          <a:p>
            <a:pPr indent="0" marL="0">
              <a:buNone/>
            </a:pPr>
            <a:r>
              <a:rPr lang="en-US" sz="1500" b="1" dirty="0">
                <a:solidFill>
                  <a:srgbClr val="FFFFFF"/>
                </a:solidFill>
                <a:latin typeface="Century Gothic" pitchFamily="34" charset="0"/>
                <a:ea typeface="Century Gothic" pitchFamily="34" charset="-122"/>
                <a:cs typeface="Century Gothic" pitchFamily="34" charset="-120"/>
              </a:rPr>
              <a:t>Finish at Masdar; SDC optional</a:t>
            </a:r>
            <a:endParaRPr lang="en-US" sz="1500" dirty="0"/>
          </a:p>
        </p:txBody>
      </p:sp>
      <p:sp>
        <p:nvSpPr>
          <p:cNvPr id="27" name="Text 25"/>
          <p:cNvSpPr/>
          <p:nvPr/>
        </p:nvSpPr>
        <p:spPr>
          <a:xfrm>
            <a:off x="9372600" y="2761488"/>
            <a:ext cx="2377440" cy="1828800"/>
          </a:xfrm>
          <a:prstGeom prst="rect">
            <a:avLst/>
          </a:prstGeom>
          <a:noFill/>
          <a:ln/>
        </p:spPr>
        <p:txBody>
          <a:bodyPr wrap="square" lIns="0" tIns="0" rIns="0" bIns="0" rtlCol="0" anchor="t"/>
          <a:lstStyle/>
          <a:p>
            <a:pPr indent="0" marL="0">
              <a:buNone/>
            </a:pPr>
            <a:r>
              <a:rPr lang="en-US" sz="1400" dirty="0">
                <a:solidFill>
                  <a:srgbClr val="111827"/>
                </a:solidFill>
                <a:latin typeface="Calibri" pitchFamily="34" charset="0"/>
                <a:ea typeface="Calibri" pitchFamily="34" charset="-122"/>
                <a:cs typeface="Calibri" pitchFamily="34" charset="-120"/>
              </a:rPr>
              <a:t>Same Masdar cadence continues. Students in a discipline may start SDC training only if approvals land. Do not plan as if they will.</a:t>
            </a:r>
            <a:endParaRPr lang="en-US" sz="1400" dirty="0"/>
          </a:p>
        </p:txBody>
      </p:sp>
      <p:sp>
        <p:nvSpPr>
          <p:cNvPr id="28" name="Shape 26"/>
          <p:cNvSpPr/>
          <p:nvPr/>
        </p:nvSpPr>
        <p:spPr>
          <a:xfrm>
            <a:off x="548640" y="6501384"/>
            <a:ext cx="320040" cy="36576"/>
          </a:xfrm>
          <a:prstGeom prst="rect">
            <a:avLst/>
          </a:prstGeom>
          <a:solidFill>
            <a:srgbClr val="DBA111"/>
          </a:solidFill>
          <a:ln/>
        </p:spPr>
      </p:sp>
      <p:sp>
        <p:nvSpPr>
          <p:cNvPr id="29" name="Text 27"/>
          <p:cNvSpPr/>
          <p:nvPr/>
        </p:nvSpPr>
        <p:spPr>
          <a:xfrm>
            <a:off x="960120" y="6382512"/>
            <a:ext cx="6583680" cy="274320"/>
          </a:xfrm>
          <a:prstGeom prst="rect">
            <a:avLst/>
          </a:prstGeom>
          <a:noFill/>
          <a:ln/>
        </p:spPr>
        <p:txBody>
          <a:bodyPr wrap="square" lIns="0" tIns="0" rIns="0" bIns="0" rtlCol="0" anchor="ctr"/>
          <a:lstStyle/>
          <a:p>
            <a:pPr indent="0" marL="0">
              <a:buNone/>
            </a:pPr>
            <a:r>
              <a:rPr lang="en-US" sz="1000" b="1" spc="160" kern="0" dirty="0">
                <a:solidFill>
                  <a:srgbClr val="475569"/>
                </a:solidFill>
                <a:latin typeface="Calibri" pitchFamily="34" charset="0"/>
                <a:ea typeface="Calibri" pitchFamily="34" charset="-122"/>
                <a:cs typeface="Calibri" pitchFamily="34" charset="-120"/>
              </a:rPr>
              <a:t>CISS INTERNSHIP  |  DELIVERY APPROACH</a:t>
            </a:r>
            <a:endParaRPr lang="en-US" sz="1000" dirty="0"/>
          </a:p>
        </p:txBody>
      </p:sp>
      <p:sp>
        <p:nvSpPr>
          <p:cNvPr id="30" name="Text 28"/>
          <p:cNvSpPr/>
          <p:nvPr/>
        </p:nvSpPr>
        <p:spPr>
          <a:xfrm>
            <a:off x="7406640" y="6382512"/>
            <a:ext cx="3291840" cy="274320"/>
          </a:xfrm>
          <a:prstGeom prst="rect">
            <a:avLst/>
          </a:prstGeom>
          <a:noFill/>
          <a:ln/>
        </p:spPr>
        <p:txBody>
          <a:bodyPr wrap="square" lIns="0" tIns="0" rIns="0" bIns="0" rtlCol="0" anchor="ctr"/>
          <a:lstStyle/>
          <a:p>
            <a:pPr algn="r" indent="0" marL="0">
              <a:buNone/>
            </a:pPr>
            <a:r>
              <a:rPr lang="en-US" sz="1000" i="1" dirty="0">
                <a:solidFill>
                  <a:srgbClr val="475569"/>
                </a:solidFill>
                <a:latin typeface="Calibri" pitchFamily="34" charset="0"/>
                <a:ea typeface="Calibri" pitchFamily="34" charset="-122"/>
                <a:cs typeface="Calibri" pitchFamily="34" charset="-120"/>
              </a:rPr>
              <a:t>Phasing</a:t>
            </a:r>
            <a:endParaRPr lang="en-US" sz="1000" dirty="0"/>
          </a:p>
        </p:txBody>
      </p:sp>
      <p:sp>
        <p:nvSpPr>
          <p:cNvPr id="31" name="Text 29"/>
          <p:cNvSpPr/>
          <p:nvPr/>
        </p:nvSpPr>
        <p:spPr>
          <a:xfrm>
            <a:off x="10835640" y="6382512"/>
            <a:ext cx="777240" cy="274320"/>
          </a:xfrm>
          <a:prstGeom prst="rect">
            <a:avLst/>
          </a:prstGeom>
          <a:noFill/>
          <a:ln/>
        </p:spPr>
        <p:txBody>
          <a:bodyPr wrap="square" lIns="0" tIns="0" rIns="0" bIns="0" rtlCol="0" anchor="ctr"/>
          <a:lstStyle/>
          <a:p>
            <a:pPr algn="r" indent="0" marL="0">
              <a:buNone/>
            </a:pPr>
            <a:r>
              <a:rPr lang="en-US" sz="1200" b="1" dirty="0">
                <a:solidFill>
                  <a:srgbClr val="034694"/>
                </a:solidFill>
                <a:latin typeface="Century Gothic" pitchFamily="34" charset="0"/>
                <a:ea typeface="Century Gothic" pitchFamily="34" charset="-122"/>
                <a:cs typeface="Century Gothic"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256032"/>
          </a:xfrm>
          <a:prstGeom prst="rect">
            <a:avLst/>
          </a:prstGeom>
          <a:noFill/>
          <a:ln/>
        </p:spPr>
        <p:txBody>
          <a:bodyPr wrap="square" lIns="0" tIns="0" rIns="0" bIns="0" rtlCol="0" anchor="ctr"/>
          <a:lstStyle/>
          <a:p>
            <a:pPr indent="0" marL="0">
              <a:buNone/>
            </a:pPr>
            <a:r>
              <a:rPr lang="en-US" sz="1100" b="1" spc="320" kern="0" dirty="0">
                <a:solidFill>
                  <a:srgbClr val="DBA111"/>
                </a:solidFill>
                <a:latin typeface="Calibri" pitchFamily="34" charset="0"/>
                <a:ea typeface="Calibri" pitchFamily="34" charset="-122"/>
                <a:cs typeface="Calibri" pitchFamily="34" charset="-120"/>
              </a:rPr>
              <a:t>ATTENDANCE MODEL</a:t>
            </a:r>
            <a:endParaRPr lang="en-US" sz="1100" dirty="0"/>
          </a:p>
        </p:txBody>
      </p:sp>
      <p:sp>
        <p:nvSpPr>
          <p:cNvPr id="3" name="Text 1"/>
          <p:cNvSpPr/>
          <p:nvPr/>
        </p:nvSpPr>
        <p:spPr>
          <a:xfrm>
            <a:off x="548640" y="621792"/>
            <a:ext cx="11064240" cy="566928"/>
          </a:xfrm>
          <a:prstGeom prst="rect">
            <a:avLst/>
          </a:prstGeom>
          <a:noFill/>
          <a:ln/>
        </p:spPr>
        <p:txBody>
          <a:bodyPr wrap="square" lIns="0" tIns="0" rIns="0" bIns="0" rtlCol="0" anchor="ctr"/>
          <a:lstStyle/>
          <a:p>
            <a:pPr indent="0" marL="0">
              <a:buNone/>
            </a:pPr>
            <a:r>
              <a:rPr lang="en-US" sz="2600" b="1" dirty="0">
                <a:solidFill>
                  <a:srgbClr val="034694"/>
                </a:solidFill>
                <a:latin typeface="Century Gothic" pitchFamily="34" charset="0"/>
                <a:ea typeface="Century Gothic" pitchFamily="34" charset="-122"/>
                <a:cs typeface="Century Gothic" pitchFamily="34" charset="-120"/>
              </a:rPr>
              <a:t>Everyone together for four weeks. Then SE plus choice.</a:t>
            </a:r>
            <a:endParaRPr lang="en-US" sz="2600" dirty="0"/>
          </a:p>
        </p:txBody>
      </p:sp>
      <p:sp>
        <p:nvSpPr>
          <p:cNvPr id="4" name="Shape 2"/>
          <p:cNvSpPr/>
          <p:nvPr/>
        </p:nvSpPr>
        <p:spPr>
          <a:xfrm>
            <a:off x="548640" y="1371600"/>
            <a:ext cx="5532120" cy="4023360"/>
          </a:xfrm>
          <a:prstGeom prst="rect">
            <a:avLst/>
          </a:prstGeom>
          <a:solidFill>
            <a:srgbClr val="FFFFFF"/>
          </a:solidFill>
          <a:ln w="12700">
            <a:solidFill>
              <a:srgbClr val="E5E7EB"/>
            </a:solidFill>
            <a:prstDash val="solid"/>
          </a:ln>
        </p:spPr>
      </p:sp>
      <p:sp>
        <p:nvSpPr>
          <p:cNvPr id="5" name="Shape 3"/>
          <p:cNvSpPr/>
          <p:nvPr/>
        </p:nvSpPr>
        <p:spPr>
          <a:xfrm>
            <a:off x="548640" y="1371600"/>
            <a:ext cx="5532120" cy="640080"/>
          </a:xfrm>
          <a:prstGeom prst="rect">
            <a:avLst/>
          </a:prstGeom>
          <a:solidFill>
            <a:srgbClr val="021F47"/>
          </a:solidFill>
          <a:ln/>
        </p:spPr>
      </p:sp>
      <p:sp>
        <p:nvSpPr>
          <p:cNvPr id="6" name="Text 4"/>
          <p:cNvSpPr/>
          <p:nvPr/>
        </p:nvSpPr>
        <p:spPr>
          <a:xfrm>
            <a:off x="777240" y="1481328"/>
            <a:ext cx="5074920" cy="438912"/>
          </a:xfrm>
          <a:prstGeom prst="rect">
            <a:avLst/>
          </a:prstGeom>
          <a:noFill/>
          <a:ln/>
        </p:spPr>
        <p:txBody>
          <a:bodyPr wrap="square" lIns="0" tIns="0" rIns="0" bIns="0" rtlCol="0" anchor="ctr"/>
          <a:lstStyle/>
          <a:p>
            <a:pPr indent="0" marL="0">
              <a:buNone/>
            </a:pPr>
            <a:r>
              <a:rPr lang="en-US" sz="1600" b="1" dirty="0">
                <a:solidFill>
                  <a:srgbClr val="FFFFFF"/>
                </a:solidFill>
                <a:latin typeface="Century Gothic" pitchFamily="34" charset="0"/>
                <a:ea typeface="Century Gothic" pitchFamily="34" charset="-122"/>
                <a:cs typeface="Century Gothic" pitchFamily="34" charset="-120"/>
              </a:rPr>
              <a:t>WEEKS 1–4  ·  ALL LECTURES</a:t>
            </a:r>
            <a:endParaRPr lang="en-US" sz="1600" dirty="0"/>
          </a:p>
        </p:txBody>
      </p:sp>
      <p:sp>
        <p:nvSpPr>
          <p:cNvPr id="7" name="Shape 5"/>
          <p:cNvSpPr/>
          <p:nvPr/>
        </p:nvSpPr>
        <p:spPr>
          <a:xfrm>
            <a:off x="804672" y="2267712"/>
            <a:ext cx="201168" cy="201168"/>
          </a:xfrm>
          <a:prstGeom prst="ellipse">
            <a:avLst/>
          </a:prstGeom>
          <a:solidFill>
            <a:srgbClr val="DBA111"/>
          </a:solidFill>
          <a:ln/>
        </p:spPr>
      </p:sp>
      <p:sp>
        <p:nvSpPr>
          <p:cNvPr id="8" name="Text 6"/>
          <p:cNvSpPr/>
          <p:nvPr/>
        </p:nvSpPr>
        <p:spPr>
          <a:xfrm>
            <a:off x="1143000" y="2194560"/>
            <a:ext cx="4709160" cy="68580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Every intern attends Systems Engineering, Networking, System Administration, and Software.</a:t>
            </a:r>
            <a:endParaRPr lang="en-US" sz="1300" dirty="0"/>
          </a:p>
        </p:txBody>
      </p:sp>
      <p:sp>
        <p:nvSpPr>
          <p:cNvPr id="9" name="Shape 7"/>
          <p:cNvSpPr/>
          <p:nvPr/>
        </p:nvSpPr>
        <p:spPr>
          <a:xfrm>
            <a:off x="804672" y="3017520"/>
            <a:ext cx="201168" cy="201168"/>
          </a:xfrm>
          <a:prstGeom prst="ellipse">
            <a:avLst/>
          </a:prstGeom>
          <a:solidFill>
            <a:srgbClr val="DBA111"/>
          </a:solidFill>
          <a:ln/>
        </p:spPr>
      </p:sp>
      <p:sp>
        <p:nvSpPr>
          <p:cNvPr id="10" name="Text 8"/>
          <p:cNvSpPr/>
          <p:nvPr/>
        </p:nvSpPr>
        <p:spPr>
          <a:xfrm>
            <a:off x="1143000" y="2944368"/>
            <a:ext cx="4709160" cy="68580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Purpose is a shared language: how a packet moves, how a host is run, how code is changed, how a requirement is written.</a:t>
            </a:r>
            <a:endParaRPr lang="en-US" sz="1300" dirty="0"/>
          </a:p>
        </p:txBody>
      </p:sp>
      <p:sp>
        <p:nvSpPr>
          <p:cNvPr id="11" name="Shape 9"/>
          <p:cNvSpPr/>
          <p:nvPr/>
        </p:nvSpPr>
        <p:spPr>
          <a:xfrm>
            <a:off x="804672" y="3767328"/>
            <a:ext cx="201168" cy="201168"/>
          </a:xfrm>
          <a:prstGeom prst="ellipse">
            <a:avLst/>
          </a:prstGeom>
          <a:solidFill>
            <a:srgbClr val="DBA111"/>
          </a:solidFill>
          <a:ln/>
        </p:spPr>
      </p:sp>
      <p:sp>
        <p:nvSpPr>
          <p:cNvPr id="12" name="Text 10"/>
          <p:cNvSpPr/>
          <p:nvPr/>
        </p:nvSpPr>
        <p:spPr>
          <a:xfrm>
            <a:off x="1143000" y="3694176"/>
            <a:ext cx="4709160" cy="68580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No one is “already a network intern” in week 2. Specialization is a later decision, not a first-day label.</a:t>
            </a:r>
            <a:endParaRPr lang="en-US" sz="1300" dirty="0"/>
          </a:p>
        </p:txBody>
      </p:sp>
      <p:sp>
        <p:nvSpPr>
          <p:cNvPr id="13" name="Shape 11"/>
          <p:cNvSpPr/>
          <p:nvPr/>
        </p:nvSpPr>
        <p:spPr>
          <a:xfrm>
            <a:off x="804672" y="4517136"/>
            <a:ext cx="201168" cy="201168"/>
          </a:xfrm>
          <a:prstGeom prst="ellipse">
            <a:avLst/>
          </a:prstGeom>
          <a:solidFill>
            <a:srgbClr val="DBA111"/>
          </a:solidFill>
          <a:ln/>
        </p:spPr>
      </p:sp>
      <p:sp>
        <p:nvSpPr>
          <p:cNvPr id="14" name="Text 12"/>
          <p:cNvSpPr/>
          <p:nvPr/>
        </p:nvSpPr>
        <p:spPr>
          <a:xfrm>
            <a:off x="1143000" y="4443984"/>
            <a:ext cx="4709160" cy="68580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Friday remains available for workshops or a TAA-cleared military lecture.</a:t>
            </a:r>
            <a:endParaRPr lang="en-US" sz="1300" dirty="0"/>
          </a:p>
        </p:txBody>
      </p:sp>
      <p:sp>
        <p:nvSpPr>
          <p:cNvPr id="15" name="Shape 13"/>
          <p:cNvSpPr/>
          <p:nvPr/>
        </p:nvSpPr>
        <p:spPr>
          <a:xfrm>
            <a:off x="6263640" y="1371600"/>
            <a:ext cx="5376672" cy="4023360"/>
          </a:xfrm>
          <a:prstGeom prst="rect">
            <a:avLst/>
          </a:prstGeom>
          <a:solidFill>
            <a:srgbClr val="FFFFFF"/>
          </a:solidFill>
          <a:ln w="12700">
            <a:solidFill>
              <a:srgbClr val="E5E7EB"/>
            </a:solidFill>
            <a:prstDash val="solid"/>
          </a:ln>
        </p:spPr>
      </p:sp>
      <p:sp>
        <p:nvSpPr>
          <p:cNvPr id="16" name="Shape 14"/>
          <p:cNvSpPr/>
          <p:nvPr/>
        </p:nvSpPr>
        <p:spPr>
          <a:xfrm>
            <a:off x="6263640" y="1371600"/>
            <a:ext cx="5376672" cy="640080"/>
          </a:xfrm>
          <a:prstGeom prst="rect">
            <a:avLst/>
          </a:prstGeom>
          <a:solidFill>
            <a:srgbClr val="034694"/>
          </a:solidFill>
          <a:ln/>
        </p:spPr>
      </p:sp>
      <p:sp>
        <p:nvSpPr>
          <p:cNvPr id="17" name="Text 15"/>
          <p:cNvSpPr/>
          <p:nvPr/>
        </p:nvSpPr>
        <p:spPr>
          <a:xfrm>
            <a:off x="6492240" y="1481328"/>
            <a:ext cx="4937760" cy="438912"/>
          </a:xfrm>
          <a:prstGeom prst="rect">
            <a:avLst/>
          </a:prstGeom>
          <a:noFill/>
          <a:ln/>
        </p:spPr>
        <p:txBody>
          <a:bodyPr wrap="square" lIns="0" tIns="0" rIns="0" bIns="0" rtlCol="0" anchor="ctr"/>
          <a:lstStyle/>
          <a:p>
            <a:pPr indent="0" marL="0">
              <a:buNone/>
            </a:pPr>
            <a:r>
              <a:rPr lang="en-US" sz="1600" b="1" dirty="0">
                <a:solidFill>
                  <a:srgbClr val="FFFFFF"/>
                </a:solidFill>
                <a:latin typeface="Century Gothic" pitchFamily="34" charset="0"/>
                <a:ea typeface="Century Gothic" pitchFamily="34" charset="-122"/>
                <a:cs typeface="Century Gothic" pitchFamily="34" charset="-120"/>
              </a:rPr>
              <a:t>WEEK 5 ONWARD  ·  SE + ELECTIVES</a:t>
            </a:r>
            <a:endParaRPr lang="en-US" sz="1600" dirty="0"/>
          </a:p>
        </p:txBody>
      </p:sp>
      <p:sp>
        <p:nvSpPr>
          <p:cNvPr id="18" name="Shape 16"/>
          <p:cNvSpPr/>
          <p:nvPr/>
        </p:nvSpPr>
        <p:spPr>
          <a:xfrm>
            <a:off x="6519672" y="2267712"/>
            <a:ext cx="201168" cy="201168"/>
          </a:xfrm>
          <a:prstGeom prst="ellipse">
            <a:avLst/>
          </a:prstGeom>
          <a:solidFill>
            <a:srgbClr val="DBA111"/>
          </a:solidFill>
          <a:ln/>
        </p:spPr>
      </p:sp>
      <p:sp>
        <p:nvSpPr>
          <p:cNvPr id="19" name="Text 17"/>
          <p:cNvSpPr/>
          <p:nvPr/>
        </p:nvSpPr>
        <p:spPr>
          <a:xfrm>
            <a:off x="6858000" y="2194560"/>
            <a:ext cx="4526280" cy="68580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All students continue Systems Engineering for the rest of the program. That is not negotiable.</a:t>
            </a:r>
            <a:endParaRPr lang="en-US" sz="1300" dirty="0"/>
          </a:p>
        </p:txBody>
      </p:sp>
      <p:sp>
        <p:nvSpPr>
          <p:cNvPr id="20" name="Shape 18"/>
          <p:cNvSpPr/>
          <p:nvPr/>
        </p:nvSpPr>
        <p:spPr>
          <a:xfrm>
            <a:off x="6519672" y="3017520"/>
            <a:ext cx="201168" cy="201168"/>
          </a:xfrm>
          <a:prstGeom prst="ellipse">
            <a:avLst/>
          </a:prstGeom>
          <a:solidFill>
            <a:srgbClr val="DBA111"/>
          </a:solidFill>
          <a:ln/>
        </p:spPr>
      </p:sp>
      <p:sp>
        <p:nvSpPr>
          <p:cNvPr id="21" name="Text 19"/>
          <p:cNvSpPr/>
          <p:nvPr/>
        </p:nvSpPr>
        <p:spPr>
          <a:xfrm>
            <a:off x="6858000" y="2944368"/>
            <a:ext cx="4526280" cy="68580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Interns then decide which of Networking, Admin, and Software they will keep attending.</a:t>
            </a:r>
            <a:endParaRPr lang="en-US" sz="1300" dirty="0"/>
          </a:p>
        </p:txBody>
      </p:sp>
      <p:sp>
        <p:nvSpPr>
          <p:cNvPr id="22" name="Shape 20"/>
          <p:cNvSpPr/>
          <p:nvPr/>
        </p:nvSpPr>
        <p:spPr>
          <a:xfrm>
            <a:off x="6519672" y="3767328"/>
            <a:ext cx="201168" cy="201168"/>
          </a:xfrm>
          <a:prstGeom prst="ellipse">
            <a:avLst/>
          </a:prstGeom>
          <a:solidFill>
            <a:srgbClr val="DBA111"/>
          </a:solidFill>
          <a:ln/>
        </p:spPr>
      </p:sp>
      <p:sp>
        <p:nvSpPr>
          <p:cNvPr id="23" name="Text 21"/>
          <p:cNvSpPr/>
          <p:nvPr/>
        </p:nvSpPr>
        <p:spPr>
          <a:xfrm>
            <a:off x="6858000" y="3694176"/>
            <a:ext cx="4526280" cy="68580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An intern may keep more than one elective if the weekday cadence allows. They may also drop one later.</a:t>
            </a:r>
            <a:endParaRPr lang="en-US" sz="1300" dirty="0"/>
          </a:p>
        </p:txBody>
      </p:sp>
      <p:sp>
        <p:nvSpPr>
          <p:cNvPr id="24" name="Shape 22"/>
          <p:cNvSpPr/>
          <p:nvPr/>
        </p:nvSpPr>
        <p:spPr>
          <a:xfrm>
            <a:off x="6519672" y="4517136"/>
            <a:ext cx="201168" cy="201168"/>
          </a:xfrm>
          <a:prstGeom prst="ellipse">
            <a:avLst/>
          </a:prstGeom>
          <a:solidFill>
            <a:srgbClr val="DBA111"/>
          </a:solidFill>
          <a:ln/>
        </p:spPr>
      </p:sp>
      <p:sp>
        <p:nvSpPr>
          <p:cNvPr id="25" name="Text 23"/>
          <p:cNvSpPr/>
          <p:nvPr/>
        </p:nvSpPr>
        <p:spPr>
          <a:xfrm>
            <a:off x="6858000" y="4443984"/>
            <a:ext cx="4526280" cy="68580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Week 5 is still all-hands: every intern hears the capstone overview and every discipline’s work statement.</a:t>
            </a:r>
            <a:endParaRPr lang="en-US" sz="1300" dirty="0"/>
          </a:p>
        </p:txBody>
      </p:sp>
      <p:sp>
        <p:nvSpPr>
          <p:cNvPr id="26" name="Shape 24"/>
          <p:cNvSpPr/>
          <p:nvPr/>
        </p:nvSpPr>
        <p:spPr>
          <a:xfrm>
            <a:off x="548640" y="6501384"/>
            <a:ext cx="320040" cy="36576"/>
          </a:xfrm>
          <a:prstGeom prst="rect">
            <a:avLst/>
          </a:prstGeom>
          <a:solidFill>
            <a:srgbClr val="DBA111"/>
          </a:solidFill>
          <a:ln/>
        </p:spPr>
      </p:sp>
      <p:sp>
        <p:nvSpPr>
          <p:cNvPr id="27" name="Text 25"/>
          <p:cNvSpPr/>
          <p:nvPr/>
        </p:nvSpPr>
        <p:spPr>
          <a:xfrm>
            <a:off x="960120" y="6382512"/>
            <a:ext cx="6583680" cy="274320"/>
          </a:xfrm>
          <a:prstGeom prst="rect">
            <a:avLst/>
          </a:prstGeom>
          <a:noFill/>
          <a:ln/>
        </p:spPr>
        <p:txBody>
          <a:bodyPr wrap="square" lIns="0" tIns="0" rIns="0" bIns="0" rtlCol="0" anchor="ctr"/>
          <a:lstStyle/>
          <a:p>
            <a:pPr indent="0" marL="0">
              <a:buNone/>
            </a:pPr>
            <a:r>
              <a:rPr lang="en-US" sz="1000" b="1" spc="160" kern="0" dirty="0">
                <a:solidFill>
                  <a:srgbClr val="475569"/>
                </a:solidFill>
                <a:latin typeface="Calibri" pitchFamily="34" charset="0"/>
                <a:ea typeface="Calibri" pitchFamily="34" charset="-122"/>
                <a:cs typeface="Calibri" pitchFamily="34" charset="-120"/>
              </a:rPr>
              <a:t>CISS INTERNSHIP  |  DELIVERY APPROACH</a:t>
            </a:r>
            <a:endParaRPr lang="en-US" sz="1000" dirty="0"/>
          </a:p>
        </p:txBody>
      </p:sp>
      <p:sp>
        <p:nvSpPr>
          <p:cNvPr id="28" name="Text 26"/>
          <p:cNvSpPr/>
          <p:nvPr/>
        </p:nvSpPr>
        <p:spPr>
          <a:xfrm>
            <a:off x="7406640" y="6382512"/>
            <a:ext cx="3291840" cy="274320"/>
          </a:xfrm>
          <a:prstGeom prst="rect">
            <a:avLst/>
          </a:prstGeom>
          <a:noFill/>
          <a:ln/>
        </p:spPr>
        <p:txBody>
          <a:bodyPr wrap="square" lIns="0" tIns="0" rIns="0" bIns="0" rtlCol="0" anchor="ctr"/>
          <a:lstStyle/>
          <a:p>
            <a:pPr algn="r" indent="0" marL="0">
              <a:buNone/>
            </a:pPr>
            <a:r>
              <a:rPr lang="en-US" sz="1000" i="1" dirty="0">
                <a:solidFill>
                  <a:srgbClr val="475569"/>
                </a:solidFill>
                <a:latin typeface="Calibri" pitchFamily="34" charset="0"/>
                <a:ea typeface="Calibri" pitchFamily="34" charset="-122"/>
                <a:cs typeface="Calibri" pitchFamily="34" charset="-120"/>
              </a:rPr>
              <a:t>Attendance</a:t>
            </a:r>
            <a:endParaRPr lang="en-US" sz="1000" dirty="0"/>
          </a:p>
        </p:txBody>
      </p:sp>
      <p:sp>
        <p:nvSpPr>
          <p:cNvPr id="29" name="Text 27"/>
          <p:cNvSpPr/>
          <p:nvPr/>
        </p:nvSpPr>
        <p:spPr>
          <a:xfrm>
            <a:off x="10835640" y="6382512"/>
            <a:ext cx="777240" cy="274320"/>
          </a:xfrm>
          <a:prstGeom prst="rect">
            <a:avLst/>
          </a:prstGeom>
          <a:noFill/>
          <a:ln/>
        </p:spPr>
        <p:txBody>
          <a:bodyPr wrap="square" lIns="0" tIns="0" rIns="0" bIns="0" rtlCol="0" anchor="ctr"/>
          <a:lstStyle/>
          <a:p>
            <a:pPr algn="r" indent="0" marL="0">
              <a:buNone/>
            </a:pPr>
            <a:r>
              <a:rPr lang="en-US" sz="1200" b="1" dirty="0">
                <a:solidFill>
                  <a:srgbClr val="034694"/>
                </a:solidFill>
                <a:latin typeface="Century Gothic" pitchFamily="34" charset="0"/>
                <a:ea typeface="Century Gothic" pitchFamily="34" charset="-122"/>
                <a:cs typeface="Century Gothic"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256032"/>
          </a:xfrm>
          <a:prstGeom prst="rect">
            <a:avLst/>
          </a:prstGeom>
          <a:noFill/>
          <a:ln/>
        </p:spPr>
        <p:txBody>
          <a:bodyPr wrap="square" lIns="0" tIns="0" rIns="0" bIns="0" rtlCol="0" anchor="ctr"/>
          <a:lstStyle/>
          <a:p>
            <a:pPr indent="0" marL="0">
              <a:buNone/>
            </a:pPr>
            <a:r>
              <a:rPr lang="en-US" sz="1100" b="1" spc="320" kern="0" dirty="0">
                <a:solidFill>
                  <a:srgbClr val="DBA111"/>
                </a:solidFill>
                <a:latin typeface="Calibri" pitchFamily="34" charset="0"/>
                <a:ea typeface="Calibri" pitchFamily="34" charset="-122"/>
                <a:cs typeface="Calibri" pitchFamily="34" charset="-120"/>
              </a:rPr>
              <a:t>WEEKLY RHYTHM  ·  PROPOSED</a:t>
            </a:r>
            <a:endParaRPr lang="en-US" sz="1100" dirty="0"/>
          </a:p>
        </p:txBody>
      </p:sp>
      <p:sp>
        <p:nvSpPr>
          <p:cNvPr id="3" name="Text 1"/>
          <p:cNvSpPr/>
          <p:nvPr/>
        </p:nvSpPr>
        <p:spPr>
          <a:xfrm>
            <a:off x="548640" y="621792"/>
            <a:ext cx="11064240" cy="566928"/>
          </a:xfrm>
          <a:prstGeom prst="rect">
            <a:avLst/>
          </a:prstGeom>
          <a:noFill/>
          <a:ln/>
        </p:spPr>
        <p:txBody>
          <a:bodyPr wrap="square" lIns="0" tIns="0" rIns="0" bIns="0" rtlCol="0" anchor="ctr"/>
          <a:lstStyle/>
          <a:p>
            <a:pPr indent="0" marL="0">
              <a:buNone/>
            </a:pPr>
            <a:r>
              <a:rPr lang="en-US" sz="2600" b="1" dirty="0">
                <a:solidFill>
                  <a:srgbClr val="034694"/>
                </a:solidFill>
                <a:latin typeface="Century Gothic" pitchFamily="34" charset="0"/>
                <a:ea typeface="Century Gothic" pitchFamily="34" charset="-122"/>
                <a:cs typeface="Century Gothic" pitchFamily="34" charset="-120"/>
              </a:rPr>
              <a:t>One SME, one afternoon, one discipline — Monday through Friday</a:t>
            </a:r>
            <a:endParaRPr lang="en-US" sz="2600" dirty="0"/>
          </a:p>
        </p:txBody>
      </p:sp>
      <p:sp>
        <p:nvSpPr>
          <p:cNvPr id="4" name="Text 2"/>
          <p:cNvSpPr/>
          <p:nvPr/>
        </p:nvSpPr>
        <p:spPr>
          <a:xfrm>
            <a:off x="548640" y="1261872"/>
            <a:ext cx="11064240" cy="502920"/>
          </a:xfrm>
          <a:prstGeom prst="rect">
            <a:avLst/>
          </a:prstGeom>
          <a:noFill/>
          <a:ln/>
        </p:spPr>
        <p:txBody>
          <a:bodyPr wrap="square" lIns="0" tIns="0" rIns="0" bIns="0" rtlCol="0" anchor="ctr"/>
          <a:lstStyle/>
          <a:p>
            <a:pPr indent="0" marL="0">
              <a:buNone/>
            </a:pPr>
            <a:r>
              <a:rPr lang="en-US" sz="1400" i="1" dirty="0">
                <a:solidFill>
                  <a:srgbClr val="111827"/>
                </a:solidFill>
                <a:latin typeface="Calibri" pitchFamily="34" charset="0"/>
                <a:ea typeface="Calibri" pitchFamily="34" charset="-122"/>
                <a:cs typeface="Calibri" pitchFamily="34" charset="-120"/>
              </a:rPr>
              <a:t>Morning at Masdar is intern work time on last week’s assignment. Afternoon is instruction. Friday is the flex day so military lectures can be worked in without stealing a technical afternoon.</a:t>
            </a:r>
            <a:endParaRPr lang="en-US" sz="1400" dirty="0"/>
          </a:p>
        </p:txBody>
      </p:sp>
      <p:sp>
        <p:nvSpPr>
          <p:cNvPr id="5" name="Shape 3"/>
          <p:cNvSpPr/>
          <p:nvPr/>
        </p:nvSpPr>
        <p:spPr>
          <a:xfrm>
            <a:off x="548640" y="1874520"/>
            <a:ext cx="2176272" cy="2944368"/>
          </a:xfrm>
          <a:prstGeom prst="rect">
            <a:avLst/>
          </a:prstGeom>
          <a:solidFill>
            <a:srgbClr val="FFFFFF"/>
          </a:solidFill>
          <a:ln w="12700">
            <a:solidFill>
              <a:srgbClr val="E5E7EB"/>
            </a:solidFill>
            <a:prstDash val="solid"/>
          </a:ln>
        </p:spPr>
      </p:sp>
      <p:sp>
        <p:nvSpPr>
          <p:cNvPr id="6" name="Shape 4"/>
          <p:cNvSpPr/>
          <p:nvPr/>
        </p:nvSpPr>
        <p:spPr>
          <a:xfrm>
            <a:off x="548640" y="1874520"/>
            <a:ext cx="2176272" cy="1051560"/>
          </a:xfrm>
          <a:prstGeom prst="rect">
            <a:avLst/>
          </a:prstGeom>
          <a:solidFill>
            <a:srgbClr val="021F47"/>
          </a:solidFill>
          <a:ln/>
        </p:spPr>
      </p:sp>
      <p:sp>
        <p:nvSpPr>
          <p:cNvPr id="7" name="Text 5"/>
          <p:cNvSpPr/>
          <p:nvPr/>
        </p:nvSpPr>
        <p:spPr>
          <a:xfrm>
            <a:off x="658368" y="1938528"/>
            <a:ext cx="1956816" cy="347472"/>
          </a:xfrm>
          <a:prstGeom prst="rect">
            <a:avLst/>
          </a:prstGeom>
          <a:noFill/>
          <a:ln/>
        </p:spPr>
        <p:txBody>
          <a:bodyPr wrap="square" lIns="0" tIns="0" rIns="0" bIns="0" rtlCol="0" anchor="ctr"/>
          <a:lstStyle/>
          <a:p>
            <a:pPr indent="0" marL="0">
              <a:buNone/>
            </a:pPr>
            <a:r>
              <a:rPr lang="en-US" sz="1400" b="1" spc="200" kern="0" dirty="0">
                <a:solidFill>
                  <a:srgbClr val="DBA111"/>
                </a:solidFill>
                <a:latin typeface="Calibri" pitchFamily="34" charset="0"/>
                <a:ea typeface="Calibri" pitchFamily="34" charset="-122"/>
                <a:cs typeface="Calibri" pitchFamily="34" charset="-120"/>
              </a:rPr>
              <a:t>MON</a:t>
            </a:r>
            <a:endParaRPr lang="en-US" sz="1400" dirty="0"/>
          </a:p>
        </p:txBody>
      </p:sp>
      <p:sp>
        <p:nvSpPr>
          <p:cNvPr id="8" name="Text 6"/>
          <p:cNvSpPr/>
          <p:nvPr/>
        </p:nvSpPr>
        <p:spPr>
          <a:xfrm>
            <a:off x="658368" y="2267712"/>
            <a:ext cx="1956816" cy="548640"/>
          </a:xfrm>
          <a:prstGeom prst="rect">
            <a:avLst/>
          </a:prstGeom>
          <a:noFill/>
          <a:ln/>
        </p:spPr>
        <p:txBody>
          <a:bodyPr wrap="square" lIns="0" tIns="0" rIns="0" bIns="0" rtlCol="0" anchor="ctr"/>
          <a:lstStyle/>
          <a:p>
            <a:pPr indent="0" marL="0">
              <a:buNone/>
            </a:pPr>
            <a:r>
              <a:rPr lang="en-US" sz="1500" b="1" dirty="0">
                <a:solidFill>
                  <a:srgbClr val="FFFFFF"/>
                </a:solidFill>
                <a:latin typeface="Century Gothic" pitchFamily="34" charset="0"/>
                <a:ea typeface="Century Gothic" pitchFamily="34" charset="-122"/>
                <a:cs typeface="Century Gothic" pitchFamily="34" charset="-120"/>
              </a:rPr>
              <a:t>Systems Engineering</a:t>
            </a:r>
            <a:endParaRPr lang="en-US" sz="1500" dirty="0"/>
          </a:p>
        </p:txBody>
      </p:sp>
      <p:sp>
        <p:nvSpPr>
          <p:cNvPr id="9" name="Text 7"/>
          <p:cNvSpPr/>
          <p:nvPr/>
        </p:nvSpPr>
        <p:spPr>
          <a:xfrm>
            <a:off x="676656" y="3035808"/>
            <a:ext cx="1920240" cy="365760"/>
          </a:xfrm>
          <a:prstGeom prst="rect">
            <a:avLst/>
          </a:prstGeom>
          <a:noFill/>
          <a:ln/>
        </p:spPr>
        <p:txBody>
          <a:bodyPr wrap="square" lIns="0" tIns="0" rIns="0" bIns="0" rtlCol="0" anchor="t"/>
          <a:lstStyle/>
          <a:p>
            <a:pPr indent="0" marL="0">
              <a:buNone/>
            </a:pPr>
            <a:r>
              <a:rPr lang="en-US" sz="1100" b="1" dirty="0">
                <a:solidFill>
                  <a:srgbClr val="034694"/>
                </a:solidFill>
                <a:latin typeface="Calibri" pitchFamily="34" charset="0"/>
                <a:ea typeface="Calibri" pitchFamily="34" charset="-122"/>
                <a:cs typeface="Calibri" pitchFamily="34" charset="-120"/>
              </a:rPr>
              <a:t>ALL 36 WEEKS</a:t>
            </a:r>
            <a:endParaRPr lang="en-US" sz="1100" dirty="0"/>
          </a:p>
        </p:txBody>
      </p:sp>
      <p:sp>
        <p:nvSpPr>
          <p:cNvPr id="10" name="Text 8"/>
          <p:cNvSpPr/>
          <p:nvPr/>
        </p:nvSpPr>
        <p:spPr>
          <a:xfrm>
            <a:off x="676656" y="3456432"/>
            <a:ext cx="1920240" cy="1188720"/>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Spine of the week. Artifacts, reviews, and capstone integration.</a:t>
            </a:r>
            <a:endParaRPr lang="en-US" sz="1300" dirty="0"/>
          </a:p>
        </p:txBody>
      </p:sp>
      <p:sp>
        <p:nvSpPr>
          <p:cNvPr id="11" name="Shape 9"/>
          <p:cNvSpPr/>
          <p:nvPr/>
        </p:nvSpPr>
        <p:spPr>
          <a:xfrm>
            <a:off x="2834640" y="1874520"/>
            <a:ext cx="2176272" cy="2944368"/>
          </a:xfrm>
          <a:prstGeom prst="rect">
            <a:avLst/>
          </a:prstGeom>
          <a:solidFill>
            <a:srgbClr val="FFFFFF"/>
          </a:solidFill>
          <a:ln w="12700">
            <a:solidFill>
              <a:srgbClr val="E5E7EB"/>
            </a:solidFill>
            <a:prstDash val="solid"/>
          </a:ln>
        </p:spPr>
      </p:sp>
      <p:sp>
        <p:nvSpPr>
          <p:cNvPr id="12" name="Shape 10"/>
          <p:cNvSpPr/>
          <p:nvPr/>
        </p:nvSpPr>
        <p:spPr>
          <a:xfrm>
            <a:off x="2834640" y="1874520"/>
            <a:ext cx="2176272" cy="1051560"/>
          </a:xfrm>
          <a:prstGeom prst="rect">
            <a:avLst/>
          </a:prstGeom>
          <a:solidFill>
            <a:srgbClr val="034694"/>
          </a:solidFill>
          <a:ln/>
        </p:spPr>
      </p:sp>
      <p:sp>
        <p:nvSpPr>
          <p:cNvPr id="13" name="Text 11"/>
          <p:cNvSpPr/>
          <p:nvPr/>
        </p:nvSpPr>
        <p:spPr>
          <a:xfrm>
            <a:off x="2944368" y="1938528"/>
            <a:ext cx="1956816" cy="347472"/>
          </a:xfrm>
          <a:prstGeom prst="rect">
            <a:avLst/>
          </a:prstGeom>
          <a:noFill/>
          <a:ln/>
        </p:spPr>
        <p:txBody>
          <a:bodyPr wrap="square" lIns="0" tIns="0" rIns="0" bIns="0" rtlCol="0" anchor="ctr"/>
          <a:lstStyle/>
          <a:p>
            <a:pPr indent="0" marL="0">
              <a:buNone/>
            </a:pPr>
            <a:r>
              <a:rPr lang="en-US" sz="1400" b="1" spc="200" kern="0" dirty="0">
                <a:solidFill>
                  <a:srgbClr val="DBA111"/>
                </a:solidFill>
                <a:latin typeface="Calibri" pitchFamily="34" charset="0"/>
                <a:ea typeface="Calibri" pitchFamily="34" charset="-122"/>
                <a:cs typeface="Calibri" pitchFamily="34" charset="-120"/>
              </a:rPr>
              <a:t>TUE</a:t>
            </a:r>
            <a:endParaRPr lang="en-US" sz="1400" dirty="0"/>
          </a:p>
        </p:txBody>
      </p:sp>
      <p:sp>
        <p:nvSpPr>
          <p:cNvPr id="14" name="Text 12"/>
          <p:cNvSpPr/>
          <p:nvPr/>
        </p:nvSpPr>
        <p:spPr>
          <a:xfrm>
            <a:off x="2944368" y="2267712"/>
            <a:ext cx="1956816" cy="548640"/>
          </a:xfrm>
          <a:prstGeom prst="rect">
            <a:avLst/>
          </a:prstGeom>
          <a:noFill/>
          <a:ln/>
        </p:spPr>
        <p:txBody>
          <a:bodyPr wrap="square" lIns="0" tIns="0" rIns="0" bIns="0" rtlCol="0" anchor="ctr"/>
          <a:lstStyle/>
          <a:p>
            <a:pPr indent="0" marL="0">
              <a:buNone/>
            </a:pPr>
            <a:r>
              <a:rPr lang="en-US" sz="1500" b="1" dirty="0">
                <a:solidFill>
                  <a:srgbClr val="FFFFFF"/>
                </a:solidFill>
                <a:latin typeface="Century Gothic" pitchFamily="34" charset="0"/>
                <a:ea typeface="Century Gothic" pitchFamily="34" charset="-122"/>
                <a:cs typeface="Century Gothic" pitchFamily="34" charset="-120"/>
              </a:rPr>
              <a:t>Networking</a:t>
            </a:r>
            <a:endParaRPr lang="en-US" sz="1500" dirty="0"/>
          </a:p>
        </p:txBody>
      </p:sp>
      <p:sp>
        <p:nvSpPr>
          <p:cNvPr id="15" name="Text 13"/>
          <p:cNvSpPr/>
          <p:nvPr/>
        </p:nvSpPr>
        <p:spPr>
          <a:xfrm>
            <a:off x="2962656" y="3035808"/>
            <a:ext cx="1920240" cy="365760"/>
          </a:xfrm>
          <a:prstGeom prst="rect">
            <a:avLst/>
          </a:prstGeom>
          <a:noFill/>
          <a:ln/>
        </p:spPr>
        <p:txBody>
          <a:bodyPr wrap="square" lIns="0" tIns="0" rIns="0" bIns="0" rtlCol="0" anchor="t"/>
          <a:lstStyle/>
          <a:p>
            <a:pPr indent="0" marL="0">
              <a:buNone/>
            </a:pPr>
            <a:r>
              <a:rPr lang="en-US" sz="1100" b="1" dirty="0">
                <a:solidFill>
                  <a:srgbClr val="034694"/>
                </a:solidFill>
                <a:latin typeface="Calibri" pitchFamily="34" charset="0"/>
                <a:ea typeface="Calibri" pitchFamily="34" charset="-122"/>
                <a:cs typeface="Calibri" pitchFamily="34" charset="-120"/>
              </a:rPr>
              <a:t>ALL → THEN ELECTIVE</a:t>
            </a:r>
            <a:endParaRPr lang="en-US" sz="1100" dirty="0"/>
          </a:p>
        </p:txBody>
      </p:sp>
      <p:sp>
        <p:nvSpPr>
          <p:cNvPr id="16" name="Text 14"/>
          <p:cNvSpPr/>
          <p:nvPr/>
        </p:nvSpPr>
        <p:spPr>
          <a:xfrm>
            <a:off x="2962656" y="3456432"/>
            <a:ext cx="1920240" cy="1188720"/>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Path, addressing, policy, and later the three-site fabric.</a:t>
            </a:r>
            <a:endParaRPr lang="en-US" sz="1300" dirty="0"/>
          </a:p>
        </p:txBody>
      </p:sp>
      <p:sp>
        <p:nvSpPr>
          <p:cNvPr id="17" name="Shape 15"/>
          <p:cNvSpPr/>
          <p:nvPr/>
        </p:nvSpPr>
        <p:spPr>
          <a:xfrm>
            <a:off x="5120640" y="1874520"/>
            <a:ext cx="2176272" cy="2944368"/>
          </a:xfrm>
          <a:prstGeom prst="rect">
            <a:avLst/>
          </a:prstGeom>
          <a:solidFill>
            <a:srgbClr val="FFFFFF"/>
          </a:solidFill>
          <a:ln w="12700">
            <a:solidFill>
              <a:srgbClr val="E5E7EB"/>
            </a:solidFill>
            <a:prstDash val="solid"/>
          </a:ln>
        </p:spPr>
      </p:sp>
      <p:sp>
        <p:nvSpPr>
          <p:cNvPr id="18" name="Shape 16"/>
          <p:cNvSpPr/>
          <p:nvPr/>
        </p:nvSpPr>
        <p:spPr>
          <a:xfrm>
            <a:off x="5120640" y="1874520"/>
            <a:ext cx="2176272" cy="1051560"/>
          </a:xfrm>
          <a:prstGeom prst="rect">
            <a:avLst/>
          </a:prstGeom>
          <a:solidFill>
            <a:srgbClr val="034694"/>
          </a:solidFill>
          <a:ln/>
        </p:spPr>
      </p:sp>
      <p:sp>
        <p:nvSpPr>
          <p:cNvPr id="19" name="Text 17"/>
          <p:cNvSpPr/>
          <p:nvPr/>
        </p:nvSpPr>
        <p:spPr>
          <a:xfrm>
            <a:off x="5230368" y="1938528"/>
            <a:ext cx="1956816" cy="347472"/>
          </a:xfrm>
          <a:prstGeom prst="rect">
            <a:avLst/>
          </a:prstGeom>
          <a:noFill/>
          <a:ln/>
        </p:spPr>
        <p:txBody>
          <a:bodyPr wrap="square" lIns="0" tIns="0" rIns="0" bIns="0" rtlCol="0" anchor="ctr"/>
          <a:lstStyle/>
          <a:p>
            <a:pPr indent="0" marL="0">
              <a:buNone/>
            </a:pPr>
            <a:r>
              <a:rPr lang="en-US" sz="1400" b="1" spc="200" kern="0" dirty="0">
                <a:solidFill>
                  <a:srgbClr val="DBA111"/>
                </a:solidFill>
                <a:latin typeface="Calibri" pitchFamily="34" charset="0"/>
                <a:ea typeface="Calibri" pitchFamily="34" charset="-122"/>
                <a:cs typeface="Calibri" pitchFamily="34" charset="-120"/>
              </a:rPr>
              <a:t>WED</a:t>
            </a:r>
            <a:endParaRPr lang="en-US" sz="1400" dirty="0"/>
          </a:p>
        </p:txBody>
      </p:sp>
      <p:sp>
        <p:nvSpPr>
          <p:cNvPr id="20" name="Text 18"/>
          <p:cNvSpPr/>
          <p:nvPr/>
        </p:nvSpPr>
        <p:spPr>
          <a:xfrm>
            <a:off x="5230368" y="2267712"/>
            <a:ext cx="1956816" cy="548640"/>
          </a:xfrm>
          <a:prstGeom prst="rect">
            <a:avLst/>
          </a:prstGeom>
          <a:noFill/>
          <a:ln/>
        </p:spPr>
        <p:txBody>
          <a:bodyPr wrap="square" lIns="0" tIns="0" rIns="0" bIns="0" rtlCol="0" anchor="ctr"/>
          <a:lstStyle/>
          <a:p>
            <a:pPr indent="0" marL="0">
              <a:buNone/>
            </a:pPr>
            <a:r>
              <a:rPr lang="en-US" sz="1500" b="1" dirty="0">
                <a:solidFill>
                  <a:srgbClr val="FFFFFF"/>
                </a:solidFill>
                <a:latin typeface="Century Gothic" pitchFamily="34" charset="0"/>
                <a:ea typeface="Century Gothic" pitchFamily="34" charset="-122"/>
                <a:cs typeface="Century Gothic" pitchFamily="34" charset="-120"/>
              </a:rPr>
              <a:t>Software</a:t>
            </a:r>
            <a:endParaRPr lang="en-US" sz="1500" dirty="0"/>
          </a:p>
        </p:txBody>
      </p:sp>
      <p:sp>
        <p:nvSpPr>
          <p:cNvPr id="21" name="Text 19"/>
          <p:cNvSpPr/>
          <p:nvPr/>
        </p:nvSpPr>
        <p:spPr>
          <a:xfrm>
            <a:off x="5248656" y="3035808"/>
            <a:ext cx="1920240" cy="365760"/>
          </a:xfrm>
          <a:prstGeom prst="rect">
            <a:avLst/>
          </a:prstGeom>
          <a:noFill/>
          <a:ln/>
        </p:spPr>
        <p:txBody>
          <a:bodyPr wrap="square" lIns="0" tIns="0" rIns="0" bIns="0" rtlCol="0" anchor="t"/>
          <a:lstStyle/>
          <a:p>
            <a:pPr indent="0" marL="0">
              <a:buNone/>
            </a:pPr>
            <a:r>
              <a:rPr lang="en-US" sz="1100" b="1" dirty="0">
                <a:solidFill>
                  <a:srgbClr val="034694"/>
                </a:solidFill>
                <a:latin typeface="Calibri" pitchFamily="34" charset="0"/>
                <a:ea typeface="Calibri" pitchFamily="34" charset="-122"/>
                <a:cs typeface="Calibri" pitchFamily="34" charset="-120"/>
              </a:rPr>
              <a:t>ALL → THEN ELECTIVE</a:t>
            </a:r>
            <a:endParaRPr lang="en-US" sz="1100" dirty="0"/>
          </a:p>
        </p:txBody>
      </p:sp>
      <p:sp>
        <p:nvSpPr>
          <p:cNvPr id="22" name="Text 20"/>
          <p:cNvSpPr/>
          <p:nvPr/>
        </p:nvSpPr>
        <p:spPr>
          <a:xfrm>
            <a:off x="5248656" y="3456432"/>
            <a:ext cx="1920240" cy="1188720"/>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Git and craft first; then the simulator, daemon, and client.</a:t>
            </a:r>
            <a:endParaRPr lang="en-US" sz="1300" dirty="0"/>
          </a:p>
        </p:txBody>
      </p:sp>
      <p:sp>
        <p:nvSpPr>
          <p:cNvPr id="23" name="Shape 21"/>
          <p:cNvSpPr/>
          <p:nvPr/>
        </p:nvSpPr>
        <p:spPr>
          <a:xfrm>
            <a:off x="7406640" y="1874520"/>
            <a:ext cx="2176272" cy="2944368"/>
          </a:xfrm>
          <a:prstGeom prst="rect">
            <a:avLst/>
          </a:prstGeom>
          <a:solidFill>
            <a:srgbClr val="FFFFFF"/>
          </a:solidFill>
          <a:ln w="12700">
            <a:solidFill>
              <a:srgbClr val="E5E7EB"/>
            </a:solidFill>
            <a:prstDash val="solid"/>
          </a:ln>
        </p:spPr>
      </p:sp>
      <p:sp>
        <p:nvSpPr>
          <p:cNvPr id="24" name="Shape 22"/>
          <p:cNvSpPr/>
          <p:nvPr/>
        </p:nvSpPr>
        <p:spPr>
          <a:xfrm>
            <a:off x="7406640" y="1874520"/>
            <a:ext cx="2176272" cy="1051560"/>
          </a:xfrm>
          <a:prstGeom prst="rect">
            <a:avLst/>
          </a:prstGeom>
          <a:solidFill>
            <a:srgbClr val="034694"/>
          </a:solidFill>
          <a:ln/>
        </p:spPr>
      </p:sp>
      <p:sp>
        <p:nvSpPr>
          <p:cNvPr id="25" name="Text 23"/>
          <p:cNvSpPr/>
          <p:nvPr/>
        </p:nvSpPr>
        <p:spPr>
          <a:xfrm>
            <a:off x="7516368" y="1938528"/>
            <a:ext cx="1956816" cy="347472"/>
          </a:xfrm>
          <a:prstGeom prst="rect">
            <a:avLst/>
          </a:prstGeom>
          <a:noFill/>
          <a:ln/>
        </p:spPr>
        <p:txBody>
          <a:bodyPr wrap="square" lIns="0" tIns="0" rIns="0" bIns="0" rtlCol="0" anchor="ctr"/>
          <a:lstStyle/>
          <a:p>
            <a:pPr indent="0" marL="0">
              <a:buNone/>
            </a:pPr>
            <a:r>
              <a:rPr lang="en-US" sz="1400" b="1" spc="200" kern="0" dirty="0">
                <a:solidFill>
                  <a:srgbClr val="DBA111"/>
                </a:solidFill>
                <a:latin typeface="Calibri" pitchFamily="34" charset="0"/>
                <a:ea typeface="Calibri" pitchFamily="34" charset="-122"/>
                <a:cs typeface="Calibri" pitchFamily="34" charset="-120"/>
              </a:rPr>
              <a:t>THU</a:t>
            </a:r>
            <a:endParaRPr lang="en-US" sz="1400" dirty="0"/>
          </a:p>
        </p:txBody>
      </p:sp>
      <p:sp>
        <p:nvSpPr>
          <p:cNvPr id="26" name="Text 24"/>
          <p:cNvSpPr/>
          <p:nvPr/>
        </p:nvSpPr>
        <p:spPr>
          <a:xfrm>
            <a:off x="7516368" y="2267712"/>
            <a:ext cx="1956816" cy="548640"/>
          </a:xfrm>
          <a:prstGeom prst="rect">
            <a:avLst/>
          </a:prstGeom>
          <a:noFill/>
          <a:ln/>
        </p:spPr>
        <p:txBody>
          <a:bodyPr wrap="square" lIns="0" tIns="0" rIns="0" bIns="0" rtlCol="0" anchor="ctr"/>
          <a:lstStyle/>
          <a:p>
            <a:pPr indent="0" marL="0">
              <a:buNone/>
            </a:pPr>
            <a:r>
              <a:rPr lang="en-US" sz="1500" b="1" dirty="0">
                <a:solidFill>
                  <a:srgbClr val="FFFFFF"/>
                </a:solidFill>
                <a:latin typeface="Century Gothic" pitchFamily="34" charset="0"/>
                <a:ea typeface="Century Gothic" pitchFamily="34" charset="-122"/>
                <a:cs typeface="Century Gothic" pitchFamily="34" charset="-120"/>
              </a:rPr>
              <a:t>System Admin</a:t>
            </a:r>
            <a:endParaRPr lang="en-US" sz="1500" dirty="0"/>
          </a:p>
        </p:txBody>
      </p:sp>
      <p:sp>
        <p:nvSpPr>
          <p:cNvPr id="27" name="Text 25"/>
          <p:cNvSpPr/>
          <p:nvPr/>
        </p:nvSpPr>
        <p:spPr>
          <a:xfrm>
            <a:off x="7534656" y="3035808"/>
            <a:ext cx="1920240" cy="365760"/>
          </a:xfrm>
          <a:prstGeom prst="rect">
            <a:avLst/>
          </a:prstGeom>
          <a:noFill/>
          <a:ln/>
        </p:spPr>
        <p:txBody>
          <a:bodyPr wrap="square" lIns="0" tIns="0" rIns="0" bIns="0" rtlCol="0" anchor="t"/>
          <a:lstStyle/>
          <a:p>
            <a:pPr indent="0" marL="0">
              <a:buNone/>
            </a:pPr>
            <a:r>
              <a:rPr lang="en-US" sz="1100" b="1" dirty="0">
                <a:solidFill>
                  <a:srgbClr val="034694"/>
                </a:solidFill>
                <a:latin typeface="Calibri" pitchFamily="34" charset="0"/>
                <a:ea typeface="Calibri" pitchFamily="34" charset="-122"/>
                <a:cs typeface="Calibri" pitchFamily="34" charset="-120"/>
              </a:rPr>
              <a:t>ALL → THEN ELECTIVE</a:t>
            </a:r>
            <a:endParaRPr lang="en-US" sz="1100" dirty="0"/>
          </a:p>
        </p:txBody>
      </p:sp>
      <p:sp>
        <p:nvSpPr>
          <p:cNvPr id="28" name="Text 26"/>
          <p:cNvSpPr/>
          <p:nvPr/>
        </p:nvSpPr>
        <p:spPr>
          <a:xfrm>
            <a:off x="7534656" y="3456432"/>
            <a:ext cx="1920240" cy="1188720"/>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Hosts and identity first; then provision, certs, and harden.</a:t>
            </a:r>
            <a:endParaRPr lang="en-US" sz="1300" dirty="0"/>
          </a:p>
        </p:txBody>
      </p:sp>
      <p:sp>
        <p:nvSpPr>
          <p:cNvPr id="29" name="Shape 27"/>
          <p:cNvSpPr/>
          <p:nvPr/>
        </p:nvSpPr>
        <p:spPr>
          <a:xfrm>
            <a:off x="9692640" y="1874520"/>
            <a:ext cx="2176272" cy="2944368"/>
          </a:xfrm>
          <a:prstGeom prst="rect">
            <a:avLst/>
          </a:prstGeom>
          <a:solidFill>
            <a:srgbClr val="FFFFFF"/>
          </a:solidFill>
          <a:ln w="12700">
            <a:solidFill>
              <a:srgbClr val="E5E7EB"/>
            </a:solidFill>
            <a:prstDash val="solid"/>
          </a:ln>
        </p:spPr>
      </p:sp>
      <p:sp>
        <p:nvSpPr>
          <p:cNvPr id="30" name="Shape 28"/>
          <p:cNvSpPr/>
          <p:nvPr/>
        </p:nvSpPr>
        <p:spPr>
          <a:xfrm>
            <a:off x="9692640" y="1874520"/>
            <a:ext cx="2176272" cy="1051560"/>
          </a:xfrm>
          <a:prstGeom prst="rect">
            <a:avLst/>
          </a:prstGeom>
          <a:solidFill>
            <a:srgbClr val="1E3A5F"/>
          </a:solidFill>
          <a:ln/>
        </p:spPr>
      </p:sp>
      <p:sp>
        <p:nvSpPr>
          <p:cNvPr id="31" name="Text 29"/>
          <p:cNvSpPr/>
          <p:nvPr/>
        </p:nvSpPr>
        <p:spPr>
          <a:xfrm>
            <a:off x="9802368" y="1938528"/>
            <a:ext cx="1956816" cy="347472"/>
          </a:xfrm>
          <a:prstGeom prst="rect">
            <a:avLst/>
          </a:prstGeom>
          <a:noFill/>
          <a:ln/>
        </p:spPr>
        <p:txBody>
          <a:bodyPr wrap="square" lIns="0" tIns="0" rIns="0" bIns="0" rtlCol="0" anchor="ctr"/>
          <a:lstStyle/>
          <a:p>
            <a:pPr indent="0" marL="0">
              <a:buNone/>
            </a:pPr>
            <a:r>
              <a:rPr lang="en-US" sz="1400" b="1" spc="200" kern="0" dirty="0">
                <a:solidFill>
                  <a:srgbClr val="DBA111"/>
                </a:solidFill>
                <a:latin typeface="Calibri" pitchFamily="34" charset="0"/>
                <a:ea typeface="Calibri" pitchFamily="34" charset="-122"/>
                <a:cs typeface="Calibri" pitchFamily="34" charset="-120"/>
              </a:rPr>
              <a:t>FRI</a:t>
            </a:r>
            <a:endParaRPr lang="en-US" sz="1400" dirty="0"/>
          </a:p>
        </p:txBody>
      </p:sp>
      <p:sp>
        <p:nvSpPr>
          <p:cNvPr id="32" name="Text 30"/>
          <p:cNvSpPr/>
          <p:nvPr/>
        </p:nvSpPr>
        <p:spPr>
          <a:xfrm>
            <a:off x="9802368" y="2267712"/>
            <a:ext cx="1956816" cy="548640"/>
          </a:xfrm>
          <a:prstGeom prst="rect">
            <a:avLst/>
          </a:prstGeom>
          <a:noFill/>
          <a:ln/>
        </p:spPr>
        <p:txBody>
          <a:bodyPr wrap="square" lIns="0" tIns="0" rIns="0" bIns="0" rtlCol="0" anchor="ctr"/>
          <a:lstStyle/>
          <a:p>
            <a:pPr indent="0" marL="0">
              <a:buNone/>
            </a:pPr>
            <a:r>
              <a:rPr lang="en-US" sz="1500" b="1" dirty="0">
                <a:solidFill>
                  <a:srgbClr val="FFFFFF"/>
                </a:solidFill>
                <a:latin typeface="Century Gothic" pitchFamily="34" charset="0"/>
                <a:ea typeface="Century Gothic" pitchFamily="34" charset="-122"/>
                <a:cs typeface="Century Gothic" pitchFamily="34" charset="-120"/>
              </a:rPr>
              <a:t>Flex</a:t>
            </a:r>
            <a:endParaRPr lang="en-US" sz="1500" dirty="0"/>
          </a:p>
        </p:txBody>
      </p:sp>
      <p:sp>
        <p:nvSpPr>
          <p:cNvPr id="33" name="Text 31"/>
          <p:cNvSpPr/>
          <p:nvPr/>
        </p:nvSpPr>
        <p:spPr>
          <a:xfrm>
            <a:off x="9820656" y="3035808"/>
            <a:ext cx="1920240" cy="365760"/>
          </a:xfrm>
          <a:prstGeom prst="rect">
            <a:avLst/>
          </a:prstGeom>
          <a:noFill/>
          <a:ln/>
        </p:spPr>
        <p:txBody>
          <a:bodyPr wrap="square" lIns="0" tIns="0" rIns="0" bIns="0" rtlCol="0" anchor="t"/>
          <a:lstStyle/>
          <a:p>
            <a:pPr indent="0" marL="0">
              <a:buNone/>
            </a:pPr>
            <a:r>
              <a:rPr lang="en-US" sz="1100" b="1" dirty="0">
                <a:solidFill>
                  <a:srgbClr val="034694"/>
                </a:solidFill>
                <a:latin typeface="Calibri" pitchFamily="34" charset="0"/>
                <a:ea typeface="Calibri" pitchFamily="34" charset="-122"/>
                <a:cs typeface="Calibri" pitchFamily="34" charset="-120"/>
              </a:rPr>
              <a:t>AS NEEDED</a:t>
            </a:r>
            <a:endParaRPr lang="en-US" sz="1100" dirty="0"/>
          </a:p>
        </p:txBody>
      </p:sp>
      <p:sp>
        <p:nvSpPr>
          <p:cNvPr id="34" name="Text 32"/>
          <p:cNvSpPr/>
          <p:nvPr/>
        </p:nvSpPr>
        <p:spPr>
          <a:xfrm>
            <a:off x="9820656" y="3456432"/>
            <a:ext cx="1920240" cy="1188720"/>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SE workshop, integration, or a TAA-cleared military lecture.</a:t>
            </a:r>
            <a:endParaRPr lang="en-US" sz="1300" dirty="0"/>
          </a:p>
        </p:txBody>
      </p:sp>
      <p:sp>
        <p:nvSpPr>
          <p:cNvPr id="35" name="Shape 33"/>
          <p:cNvSpPr/>
          <p:nvPr/>
        </p:nvSpPr>
        <p:spPr>
          <a:xfrm>
            <a:off x="548640" y="6501384"/>
            <a:ext cx="320040" cy="36576"/>
          </a:xfrm>
          <a:prstGeom prst="rect">
            <a:avLst/>
          </a:prstGeom>
          <a:solidFill>
            <a:srgbClr val="DBA111"/>
          </a:solidFill>
          <a:ln/>
        </p:spPr>
      </p:sp>
      <p:sp>
        <p:nvSpPr>
          <p:cNvPr id="36" name="Text 34"/>
          <p:cNvSpPr/>
          <p:nvPr/>
        </p:nvSpPr>
        <p:spPr>
          <a:xfrm>
            <a:off x="960120" y="6382512"/>
            <a:ext cx="6583680" cy="274320"/>
          </a:xfrm>
          <a:prstGeom prst="rect">
            <a:avLst/>
          </a:prstGeom>
          <a:noFill/>
          <a:ln/>
        </p:spPr>
        <p:txBody>
          <a:bodyPr wrap="square" lIns="0" tIns="0" rIns="0" bIns="0" rtlCol="0" anchor="ctr"/>
          <a:lstStyle/>
          <a:p>
            <a:pPr indent="0" marL="0">
              <a:buNone/>
            </a:pPr>
            <a:r>
              <a:rPr lang="en-US" sz="1000" b="1" spc="160" kern="0" dirty="0">
                <a:solidFill>
                  <a:srgbClr val="475569"/>
                </a:solidFill>
                <a:latin typeface="Calibri" pitchFamily="34" charset="0"/>
                <a:ea typeface="Calibri" pitchFamily="34" charset="-122"/>
                <a:cs typeface="Calibri" pitchFamily="34" charset="-120"/>
              </a:rPr>
              <a:t>CISS INTERNSHIP  |  DELIVERY APPROACH</a:t>
            </a:r>
            <a:endParaRPr lang="en-US" sz="1000" dirty="0"/>
          </a:p>
        </p:txBody>
      </p:sp>
      <p:sp>
        <p:nvSpPr>
          <p:cNvPr id="37" name="Text 35"/>
          <p:cNvSpPr/>
          <p:nvPr/>
        </p:nvSpPr>
        <p:spPr>
          <a:xfrm>
            <a:off x="7406640" y="6382512"/>
            <a:ext cx="3291840" cy="274320"/>
          </a:xfrm>
          <a:prstGeom prst="rect">
            <a:avLst/>
          </a:prstGeom>
          <a:noFill/>
          <a:ln/>
        </p:spPr>
        <p:txBody>
          <a:bodyPr wrap="square" lIns="0" tIns="0" rIns="0" bIns="0" rtlCol="0" anchor="ctr"/>
          <a:lstStyle/>
          <a:p>
            <a:pPr algn="r" indent="0" marL="0">
              <a:buNone/>
            </a:pPr>
            <a:r>
              <a:rPr lang="en-US" sz="1000" i="1" dirty="0">
                <a:solidFill>
                  <a:srgbClr val="475569"/>
                </a:solidFill>
                <a:latin typeface="Calibri" pitchFamily="34" charset="0"/>
                <a:ea typeface="Calibri" pitchFamily="34" charset="-122"/>
                <a:cs typeface="Calibri" pitchFamily="34" charset="-120"/>
              </a:rPr>
              <a:t>Weekly rhythm</a:t>
            </a:r>
            <a:endParaRPr lang="en-US" sz="1000" dirty="0"/>
          </a:p>
        </p:txBody>
      </p:sp>
      <p:sp>
        <p:nvSpPr>
          <p:cNvPr id="38" name="Text 36"/>
          <p:cNvSpPr/>
          <p:nvPr/>
        </p:nvSpPr>
        <p:spPr>
          <a:xfrm>
            <a:off x="10835640" y="6382512"/>
            <a:ext cx="777240" cy="274320"/>
          </a:xfrm>
          <a:prstGeom prst="rect">
            <a:avLst/>
          </a:prstGeom>
          <a:noFill/>
          <a:ln/>
        </p:spPr>
        <p:txBody>
          <a:bodyPr wrap="square" lIns="0" tIns="0" rIns="0" bIns="0" rtlCol="0" anchor="ctr"/>
          <a:lstStyle/>
          <a:p>
            <a:pPr algn="r" indent="0" marL="0">
              <a:buNone/>
            </a:pPr>
            <a:r>
              <a:rPr lang="en-US" sz="1200" b="1" dirty="0">
                <a:solidFill>
                  <a:srgbClr val="034694"/>
                </a:solidFill>
                <a:latin typeface="Century Gothic" pitchFamily="34" charset="0"/>
                <a:ea typeface="Century Gothic" pitchFamily="34" charset="-122"/>
                <a:cs typeface="Century Gothic"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256032"/>
          </a:xfrm>
          <a:prstGeom prst="rect">
            <a:avLst/>
          </a:prstGeom>
          <a:noFill/>
          <a:ln/>
        </p:spPr>
        <p:txBody>
          <a:bodyPr wrap="square" lIns="0" tIns="0" rIns="0" bIns="0" rtlCol="0" anchor="ctr"/>
          <a:lstStyle/>
          <a:p>
            <a:pPr indent="0" marL="0">
              <a:buNone/>
            </a:pPr>
            <a:r>
              <a:rPr lang="en-US" sz="1100" b="1" spc="320" kern="0" dirty="0">
                <a:solidFill>
                  <a:srgbClr val="DBA111"/>
                </a:solidFill>
                <a:latin typeface="Calibri" pitchFamily="34" charset="0"/>
                <a:ea typeface="Calibri" pitchFamily="34" charset="-122"/>
                <a:cs typeface="Calibri" pitchFamily="34" charset="-120"/>
              </a:rPr>
              <a:t>WEEKS 1–4</a:t>
            </a:r>
            <a:endParaRPr lang="en-US" sz="1100" dirty="0"/>
          </a:p>
        </p:txBody>
      </p:sp>
      <p:sp>
        <p:nvSpPr>
          <p:cNvPr id="3" name="Text 1"/>
          <p:cNvSpPr/>
          <p:nvPr/>
        </p:nvSpPr>
        <p:spPr>
          <a:xfrm>
            <a:off x="548640" y="621792"/>
            <a:ext cx="11064240" cy="566928"/>
          </a:xfrm>
          <a:prstGeom prst="rect">
            <a:avLst/>
          </a:prstGeom>
          <a:noFill/>
          <a:ln/>
        </p:spPr>
        <p:txBody>
          <a:bodyPr wrap="square" lIns="0" tIns="0" rIns="0" bIns="0" rtlCol="0" anchor="ctr"/>
          <a:lstStyle/>
          <a:p>
            <a:pPr indent="0" marL="0">
              <a:buNone/>
            </a:pPr>
            <a:r>
              <a:rPr lang="en-US" sz="2600" b="1" dirty="0">
                <a:solidFill>
                  <a:srgbClr val="034694"/>
                </a:solidFill>
                <a:latin typeface="Century Gothic" pitchFamily="34" charset="0"/>
                <a:ea typeface="Century Gothic" pitchFamily="34" charset="-122"/>
                <a:cs typeface="Century Gothic" pitchFamily="34" charset="-120"/>
              </a:rPr>
              <a:t>General and useful — not a four-week specialty school</a:t>
            </a:r>
            <a:endParaRPr lang="en-US" sz="2600" dirty="0"/>
          </a:p>
        </p:txBody>
      </p:sp>
      <p:sp>
        <p:nvSpPr>
          <p:cNvPr id="4" name="Shape 2"/>
          <p:cNvSpPr/>
          <p:nvPr/>
        </p:nvSpPr>
        <p:spPr>
          <a:xfrm>
            <a:off x="548640" y="1353312"/>
            <a:ext cx="11091672" cy="777240"/>
          </a:xfrm>
          <a:prstGeom prst="rect">
            <a:avLst/>
          </a:prstGeom>
          <a:solidFill>
            <a:srgbClr val="F5F3EC"/>
          </a:solidFill>
          <a:ln/>
        </p:spPr>
      </p:sp>
      <p:sp>
        <p:nvSpPr>
          <p:cNvPr id="5" name="Text 3"/>
          <p:cNvSpPr/>
          <p:nvPr/>
        </p:nvSpPr>
        <p:spPr>
          <a:xfrm>
            <a:off x="777240" y="1444752"/>
            <a:ext cx="10698480" cy="594360"/>
          </a:xfrm>
          <a:prstGeom prst="rect">
            <a:avLst/>
          </a:prstGeom>
          <a:noFill/>
          <a:ln/>
        </p:spPr>
        <p:txBody>
          <a:bodyPr wrap="square" lIns="0" tIns="0" rIns="0" bIns="0" rtlCol="0" anchor="ctr"/>
          <a:lstStyle/>
          <a:p>
            <a:pPr indent="0" marL="0">
              <a:buNone/>
            </a:pPr>
            <a:r>
              <a:rPr lang="en-US" sz="1500" dirty="0">
                <a:solidFill>
                  <a:srgbClr val="111827"/>
                </a:solidFill>
                <a:latin typeface="Calibri" pitchFamily="34" charset="0"/>
                <a:ea typeface="Calibri" pitchFamily="34" charset="-122"/>
                <a:cs typeface="Calibri" pitchFamily="34" charset="-120"/>
              </a:rPr>
              <a:t>Each discipline gets four afternoons with the whole cohort. Teach what every intern will still need on week 30, whether they stay in that room or not. Hold the deep craft until electives open.</a:t>
            </a:r>
            <a:endParaRPr lang="en-US" sz="1500" dirty="0"/>
          </a:p>
        </p:txBody>
      </p:sp>
      <p:sp>
        <p:nvSpPr>
          <p:cNvPr id="6" name="Shape 4"/>
          <p:cNvSpPr/>
          <p:nvPr/>
        </p:nvSpPr>
        <p:spPr>
          <a:xfrm>
            <a:off x="548640" y="2304288"/>
            <a:ext cx="5532120" cy="3246120"/>
          </a:xfrm>
          <a:prstGeom prst="rect">
            <a:avLst/>
          </a:prstGeom>
          <a:solidFill>
            <a:srgbClr val="FFFFFF"/>
          </a:solidFill>
          <a:ln w="12700">
            <a:solidFill>
              <a:srgbClr val="E5E7EB"/>
            </a:solidFill>
            <a:prstDash val="solid"/>
          </a:ln>
        </p:spPr>
      </p:sp>
      <p:sp>
        <p:nvSpPr>
          <p:cNvPr id="7" name="Shape 5"/>
          <p:cNvSpPr/>
          <p:nvPr/>
        </p:nvSpPr>
        <p:spPr>
          <a:xfrm>
            <a:off x="548640" y="2304288"/>
            <a:ext cx="5532120" cy="502920"/>
          </a:xfrm>
          <a:prstGeom prst="rect">
            <a:avLst/>
          </a:prstGeom>
          <a:solidFill>
            <a:srgbClr val="034694"/>
          </a:solidFill>
          <a:ln/>
        </p:spPr>
      </p:sp>
      <p:sp>
        <p:nvSpPr>
          <p:cNvPr id="8" name="Text 6"/>
          <p:cNvSpPr/>
          <p:nvPr/>
        </p:nvSpPr>
        <p:spPr>
          <a:xfrm>
            <a:off x="777240" y="2377440"/>
            <a:ext cx="5074920" cy="365760"/>
          </a:xfrm>
          <a:prstGeom prst="rect">
            <a:avLst/>
          </a:prstGeom>
          <a:noFill/>
          <a:ln/>
        </p:spPr>
        <p:txBody>
          <a:bodyPr wrap="square" lIns="0" tIns="0" rIns="0" bIns="0" rtlCol="0" anchor="ctr"/>
          <a:lstStyle/>
          <a:p>
            <a:pPr indent="0" marL="0">
              <a:buNone/>
            </a:pPr>
            <a:r>
              <a:rPr lang="en-US" sz="1600" b="1" dirty="0">
                <a:solidFill>
                  <a:srgbClr val="FFFFFF"/>
                </a:solidFill>
                <a:latin typeface="Century Gothic" pitchFamily="34" charset="0"/>
                <a:ea typeface="Century Gothic" pitchFamily="34" charset="-122"/>
                <a:cs typeface="Century Gothic" pitchFamily="34" charset="-120"/>
              </a:rPr>
              <a:t>DO TEACH</a:t>
            </a:r>
            <a:endParaRPr lang="en-US" sz="1600" dirty="0"/>
          </a:p>
        </p:txBody>
      </p:sp>
      <p:sp>
        <p:nvSpPr>
          <p:cNvPr id="9" name="Shape 7"/>
          <p:cNvSpPr/>
          <p:nvPr/>
        </p:nvSpPr>
        <p:spPr>
          <a:xfrm>
            <a:off x="777240" y="3044952"/>
            <a:ext cx="109728" cy="109728"/>
          </a:xfrm>
          <a:prstGeom prst="rect">
            <a:avLst/>
          </a:prstGeom>
          <a:solidFill>
            <a:srgbClr val="DBA111"/>
          </a:solidFill>
          <a:ln/>
        </p:spPr>
      </p:sp>
      <p:sp>
        <p:nvSpPr>
          <p:cNvPr id="10" name="Text 8"/>
          <p:cNvSpPr/>
          <p:nvPr/>
        </p:nvSpPr>
        <p:spPr>
          <a:xfrm>
            <a:off x="1024128" y="2971800"/>
            <a:ext cx="4846320" cy="54864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Vocabulary the other tracks will use (requirement, VLAN, certificate, merge request).</a:t>
            </a:r>
            <a:endParaRPr lang="en-US" sz="1300" dirty="0"/>
          </a:p>
        </p:txBody>
      </p:sp>
      <p:sp>
        <p:nvSpPr>
          <p:cNvPr id="11" name="Shape 9"/>
          <p:cNvSpPr/>
          <p:nvPr/>
        </p:nvSpPr>
        <p:spPr>
          <a:xfrm>
            <a:off x="777240" y="3639312"/>
            <a:ext cx="109728" cy="109728"/>
          </a:xfrm>
          <a:prstGeom prst="rect">
            <a:avLst/>
          </a:prstGeom>
          <a:solidFill>
            <a:srgbClr val="DBA111"/>
          </a:solidFill>
          <a:ln/>
        </p:spPr>
      </p:sp>
      <p:sp>
        <p:nvSpPr>
          <p:cNvPr id="12" name="Text 10"/>
          <p:cNvSpPr/>
          <p:nvPr/>
        </p:nvSpPr>
        <p:spPr>
          <a:xfrm>
            <a:off x="1024128" y="3566160"/>
            <a:ext cx="4846320" cy="54864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How to think: evidence, owners, versions, and “what would we test?”</a:t>
            </a:r>
            <a:endParaRPr lang="en-US" sz="1300" dirty="0"/>
          </a:p>
        </p:txBody>
      </p:sp>
      <p:sp>
        <p:nvSpPr>
          <p:cNvPr id="13" name="Shape 11"/>
          <p:cNvSpPr/>
          <p:nvPr/>
        </p:nvSpPr>
        <p:spPr>
          <a:xfrm>
            <a:off x="777240" y="4233672"/>
            <a:ext cx="109728" cy="109728"/>
          </a:xfrm>
          <a:prstGeom prst="rect">
            <a:avLst/>
          </a:prstGeom>
          <a:solidFill>
            <a:srgbClr val="DBA111"/>
          </a:solidFill>
          <a:ln/>
        </p:spPr>
      </p:sp>
      <p:sp>
        <p:nvSpPr>
          <p:cNvPr id="14" name="Text 12"/>
          <p:cNvSpPr/>
          <p:nvPr/>
        </p:nvSpPr>
        <p:spPr>
          <a:xfrm>
            <a:off x="1024128" y="4160520"/>
            <a:ext cx="4846320" cy="54864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Safe habits: unclassified work, no secrets in Git, change control, least privilege.</a:t>
            </a:r>
            <a:endParaRPr lang="en-US" sz="1300" dirty="0"/>
          </a:p>
        </p:txBody>
      </p:sp>
      <p:sp>
        <p:nvSpPr>
          <p:cNvPr id="15" name="Shape 13"/>
          <p:cNvSpPr/>
          <p:nvPr/>
        </p:nvSpPr>
        <p:spPr>
          <a:xfrm>
            <a:off x="777240" y="4828032"/>
            <a:ext cx="109728" cy="109728"/>
          </a:xfrm>
          <a:prstGeom prst="rect">
            <a:avLst/>
          </a:prstGeom>
          <a:solidFill>
            <a:srgbClr val="DBA111"/>
          </a:solidFill>
          <a:ln/>
        </p:spPr>
      </p:sp>
      <p:sp>
        <p:nvSpPr>
          <p:cNvPr id="16" name="Text 14"/>
          <p:cNvSpPr/>
          <p:nvPr/>
        </p:nvSpPr>
        <p:spPr>
          <a:xfrm>
            <a:off x="1024128" y="4754880"/>
            <a:ext cx="4846320" cy="54864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Enough practice that a Thursday assignment is possible without a lab that only specialists can finish.</a:t>
            </a:r>
            <a:endParaRPr lang="en-US" sz="1300" dirty="0"/>
          </a:p>
        </p:txBody>
      </p:sp>
      <p:sp>
        <p:nvSpPr>
          <p:cNvPr id="17" name="Shape 15"/>
          <p:cNvSpPr/>
          <p:nvPr/>
        </p:nvSpPr>
        <p:spPr>
          <a:xfrm>
            <a:off x="6263640" y="2304288"/>
            <a:ext cx="5532120" cy="3246120"/>
          </a:xfrm>
          <a:prstGeom prst="rect">
            <a:avLst/>
          </a:prstGeom>
          <a:solidFill>
            <a:srgbClr val="FFFFFF"/>
          </a:solidFill>
          <a:ln w="12700">
            <a:solidFill>
              <a:srgbClr val="E5E7EB"/>
            </a:solidFill>
            <a:prstDash val="solid"/>
          </a:ln>
        </p:spPr>
      </p:sp>
      <p:sp>
        <p:nvSpPr>
          <p:cNvPr id="18" name="Shape 16"/>
          <p:cNvSpPr/>
          <p:nvPr/>
        </p:nvSpPr>
        <p:spPr>
          <a:xfrm>
            <a:off x="6263640" y="2304288"/>
            <a:ext cx="5532120" cy="502920"/>
          </a:xfrm>
          <a:prstGeom prst="rect">
            <a:avLst/>
          </a:prstGeom>
          <a:solidFill>
            <a:srgbClr val="7A1F1F"/>
          </a:solidFill>
          <a:ln/>
        </p:spPr>
      </p:sp>
      <p:sp>
        <p:nvSpPr>
          <p:cNvPr id="19" name="Text 17"/>
          <p:cNvSpPr/>
          <p:nvPr/>
        </p:nvSpPr>
        <p:spPr>
          <a:xfrm>
            <a:off x="6492240" y="2377440"/>
            <a:ext cx="5074920" cy="365760"/>
          </a:xfrm>
          <a:prstGeom prst="rect">
            <a:avLst/>
          </a:prstGeom>
          <a:noFill/>
          <a:ln/>
        </p:spPr>
        <p:txBody>
          <a:bodyPr wrap="square" lIns="0" tIns="0" rIns="0" bIns="0" rtlCol="0" anchor="ctr"/>
          <a:lstStyle/>
          <a:p>
            <a:pPr indent="0" marL="0">
              <a:buNone/>
            </a:pPr>
            <a:r>
              <a:rPr lang="en-US" sz="1600" b="1" dirty="0">
                <a:solidFill>
                  <a:srgbClr val="FFFFFF"/>
                </a:solidFill>
                <a:latin typeface="Century Gothic" pitchFamily="34" charset="0"/>
                <a:ea typeface="Century Gothic" pitchFamily="34" charset="-122"/>
                <a:cs typeface="Century Gothic" pitchFamily="34" charset="-120"/>
              </a:rPr>
              <a:t>DO NOT TEACH YET</a:t>
            </a:r>
            <a:endParaRPr lang="en-US" sz="1600" dirty="0"/>
          </a:p>
        </p:txBody>
      </p:sp>
      <p:sp>
        <p:nvSpPr>
          <p:cNvPr id="20" name="Shape 18"/>
          <p:cNvSpPr/>
          <p:nvPr/>
        </p:nvSpPr>
        <p:spPr>
          <a:xfrm>
            <a:off x="6492240" y="3044952"/>
            <a:ext cx="109728" cy="109728"/>
          </a:xfrm>
          <a:prstGeom prst="rect">
            <a:avLst/>
          </a:prstGeom>
          <a:solidFill>
            <a:srgbClr val="DBA111"/>
          </a:solidFill>
          <a:ln/>
        </p:spPr>
      </p:sp>
      <p:sp>
        <p:nvSpPr>
          <p:cNvPr id="21" name="Text 19"/>
          <p:cNvSpPr/>
          <p:nvPr/>
        </p:nvSpPr>
        <p:spPr>
          <a:xfrm>
            <a:off x="6739128" y="2971800"/>
            <a:ext cx="4846320" cy="54864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Juniper commit models, OSPF/BGP/MPLS, or IPsec design.</a:t>
            </a:r>
            <a:endParaRPr lang="en-US" sz="1300" dirty="0"/>
          </a:p>
        </p:txBody>
      </p:sp>
      <p:sp>
        <p:nvSpPr>
          <p:cNvPr id="22" name="Shape 20"/>
          <p:cNvSpPr/>
          <p:nvPr/>
        </p:nvSpPr>
        <p:spPr>
          <a:xfrm>
            <a:off x="6492240" y="3639312"/>
            <a:ext cx="109728" cy="109728"/>
          </a:xfrm>
          <a:prstGeom prst="rect">
            <a:avLst/>
          </a:prstGeom>
          <a:solidFill>
            <a:srgbClr val="DBA111"/>
          </a:solidFill>
          <a:ln/>
        </p:spPr>
      </p:sp>
      <p:sp>
        <p:nvSpPr>
          <p:cNvPr id="23" name="Text 21"/>
          <p:cNvSpPr/>
          <p:nvPr/>
        </p:nvSpPr>
        <p:spPr>
          <a:xfrm>
            <a:off x="6739128" y="3566160"/>
            <a:ext cx="4846320" cy="54864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FreeIPA, vSAN, Ansible, or host-hardening playbooks.</a:t>
            </a:r>
            <a:endParaRPr lang="en-US" sz="1300" dirty="0"/>
          </a:p>
        </p:txBody>
      </p:sp>
      <p:sp>
        <p:nvSpPr>
          <p:cNvPr id="24" name="Shape 22"/>
          <p:cNvSpPr/>
          <p:nvPr/>
        </p:nvSpPr>
        <p:spPr>
          <a:xfrm>
            <a:off x="6492240" y="4233672"/>
            <a:ext cx="109728" cy="109728"/>
          </a:xfrm>
          <a:prstGeom prst="rect">
            <a:avLst/>
          </a:prstGeom>
          <a:solidFill>
            <a:srgbClr val="DBA111"/>
          </a:solidFill>
          <a:ln/>
        </p:spPr>
      </p:sp>
      <p:sp>
        <p:nvSpPr>
          <p:cNvPr id="25" name="Text 23"/>
          <p:cNvSpPr/>
          <p:nvPr/>
        </p:nvSpPr>
        <p:spPr>
          <a:xfrm>
            <a:off x="6739128" y="4160520"/>
            <a:ext cx="4846320" cy="54864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JDBC pools, ActiveMQ resource adapters, JavaFX, or Jenkins pipelines.</a:t>
            </a:r>
            <a:endParaRPr lang="en-US" sz="1300" dirty="0"/>
          </a:p>
        </p:txBody>
      </p:sp>
      <p:sp>
        <p:nvSpPr>
          <p:cNvPr id="26" name="Shape 24"/>
          <p:cNvSpPr/>
          <p:nvPr/>
        </p:nvSpPr>
        <p:spPr>
          <a:xfrm>
            <a:off x="6492240" y="4828032"/>
            <a:ext cx="109728" cy="109728"/>
          </a:xfrm>
          <a:prstGeom prst="rect">
            <a:avLst/>
          </a:prstGeom>
          <a:solidFill>
            <a:srgbClr val="DBA111"/>
          </a:solidFill>
          <a:ln/>
        </p:spPr>
      </p:sp>
      <p:sp>
        <p:nvSpPr>
          <p:cNvPr id="27" name="Text 25"/>
          <p:cNvSpPr/>
          <p:nvPr/>
        </p:nvSpPr>
        <p:spPr>
          <a:xfrm>
            <a:off x="6739128" y="4754880"/>
            <a:ext cx="4846320" cy="54864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The PRSAS architecture, ICDs, or role tickets — that is week 5.</a:t>
            </a:r>
            <a:endParaRPr lang="en-US" sz="1300" dirty="0"/>
          </a:p>
        </p:txBody>
      </p:sp>
      <p:sp>
        <p:nvSpPr>
          <p:cNvPr id="28" name="Shape 26"/>
          <p:cNvSpPr/>
          <p:nvPr/>
        </p:nvSpPr>
        <p:spPr>
          <a:xfrm>
            <a:off x="548640" y="6501384"/>
            <a:ext cx="320040" cy="36576"/>
          </a:xfrm>
          <a:prstGeom prst="rect">
            <a:avLst/>
          </a:prstGeom>
          <a:solidFill>
            <a:srgbClr val="DBA111"/>
          </a:solidFill>
          <a:ln/>
        </p:spPr>
      </p:sp>
      <p:sp>
        <p:nvSpPr>
          <p:cNvPr id="29" name="Text 27"/>
          <p:cNvSpPr/>
          <p:nvPr/>
        </p:nvSpPr>
        <p:spPr>
          <a:xfrm>
            <a:off x="960120" y="6382512"/>
            <a:ext cx="6583680" cy="274320"/>
          </a:xfrm>
          <a:prstGeom prst="rect">
            <a:avLst/>
          </a:prstGeom>
          <a:noFill/>
          <a:ln/>
        </p:spPr>
        <p:txBody>
          <a:bodyPr wrap="square" lIns="0" tIns="0" rIns="0" bIns="0" rtlCol="0" anchor="ctr"/>
          <a:lstStyle/>
          <a:p>
            <a:pPr indent="0" marL="0">
              <a:buNone/>
            </a:pPr>
            <a:r>
              <a:rPr lang="en-US" sz="1000" b="1" spc="160" kern="0" dirty="0">
                <a:solidFill>
                  <a:srgbClr val="475569"/>
                </a:solidFill>
                <a:latin typeface="Calibri" pitchFamily="34" charset="0"/>
                <a:ea typeface="Calibri" pitchFamily="34" charset="-122"/>
                <a:cs typeface="Calibri" pitchFamily="34" charset="-120"/>
              </a:rPr>
              <a:t>CISS INTERNSHIP  |  DELIVERY APPROACH</a:t>
            </a:r>
            <a:endParaRPr lang="en-US" sz="1000" dirty="0"/>
          </a:p>
        </p:txBody>
      </p:sp>
      <p:sp>
        <p:nvSpPr>
          <p:cNvPr id="30" name="Text 28"/>
          <p:cNvSpPr/>
          <p:nvPr/>
        </p:nvSpPr>
        <p:spPr>
          <a:xfrm>
            <a:off x="7406640" y="6382512"/>
            <a:ext cx="3291840" cy="274320"/>
          </a:xfrm>
          <a:prstGeom prst="rect">
            <a:avLst/>
          </a:prstGeom>
          <a:noFill/>
          <a:ln/>
        </p:spPr>
        <p:txBody>
          <a:bodyPr wrap="square" lIns="0" tIns="0" rIns="0" bIns="0" rtlCol="0" anchor="ctr"/>
          <a:lstStyle/>
          <a:p>
            <a:pPr algn="r" indent="0" marL="0">
              <a:buNone/>
            </a:pPr>
            <a:r>
              <a:rPr lang="en-US" sz="1000" i="1" dirty="0">
                <a:solidFill>
                  <a:srgbClr val="475569"/>
                </a:solidFill>
                <a:latin typeface="Calibri" pitchFamily="34" charset="0"/>
                <a:ea typeface="Calibri" pitchFamily="34" charset="-122"/>
                <a:cs typeface="Calibri" pitchFamily="34" charset="-120"/>
              </a:rPr>
              <a:t>Weeks 1–4 intent</a:t>
            </a:r>
            <a:endParaRPr lang="en-US" sz="1000" dirty="0"/>
          </a:p>
        </p:txBody>
      </p:sp>
      <p:sp>
        <p:nvSpPr>
          <p:cNvPr id="31" name="Text 29"/>
          <p:cNvSpPr/>
          <p:nvPr/>
        </p:nvSpPr>
        <p:spPr>
          <a:xfrm>
            <a:off x="10835640" y="6382512"/>
            <a:ext cx="777240" cy="274320"/>
          </a:xfrm>
          <a:prstGeom prst="rect">
            <a:avLst/>
          </a:prstGeom>
          <a:noFill/>
          <a:ln/>
        </p:spPr>
        <p:txBody>
          <a:bodyPr wrap="square" lIns="0" tIns="0" rIns="0" bIns="0" rtlCol="0" anchor="ctr"/>
          <a:lstStyle/>
          <a:p>
            <a:pPr algn="r" indent="0" marL="0">
              <a:buNone/>
            </a:pPr>
            <a:r>
              <a:rPr lang="en-US" sz="1200" b="1" dirty="0">
                <a:solidFill>
                  <a:srgbClr val="034694"/>
                </a:solidFill>
                <a:latin typeface="Century Gothic" pitchFamily="34" charset="0"/>
                <a:ea typeface="Century Gothic" pitchFamily="34" charset="-122"/>
                <a:cs typeface="Century Gothic"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256032"/>
          </a:xfrm>
          <a:prstGeom prst="rect">
            <a:avLst/>
          </a:prstGeom>
          <a:noFill/>
          <a:ln/>
        </p:spPr>
        <p:txBody>
          <a:bodyPr wrap="square" lIns="0" tIns="0" rIns="0" bIns="0" rtlCol="0" anchor="ctr"/>
          <a:lstStyle/>
          <a:p>
            <a:pPr indent="0" marL="0">
              <a:buNone/>
            </a:pPr>
            <a:r>
              <a:rPr lang="en-US" sz="1100" b="1" spc="320" kern="0" dirty="0">
                <a:solidFill>
                  <a:srgbClr val="DBA111"/>
                </a:solidFill>
                <a:latin typeface="Calibri" pitchFamily="34" charset="0"/>
                <a:ea typeface="Calibri" pitchFamily="34" charset="-122"/>
                <a:cs typeface="Calibri" pitchFamily="34" charset="-120"/>
              </a:rPr>
              <a:t>FOUNDATION TOPICS  ·  SYSTEMS ENGINEERING</a:t>
            </a:r>
            <a:endParaRPr lang="en-US" sz="1100" dirty="0"/>
          </a:p>
        </p:txBody>
      </p:sp>
      <p:sp>
        <p:nvSpPr>
          <p:cNvPr id="3" name="Text 1"/>
          <p:cNvSpPr/>
          <p:nvPr/>
        </p:nvSpPr>
        <p:spPr>
          <a:xfrm>
            <a:off x="548640" y="621792"/>
            <a:ext cx="11064240" cy="566928"/>
          </a:xfrm>
          <a:prstGeom prst="rect">
            <a:avLst/>
          </a:prstGeom>
          <a:noFill/>
          <a:ln/>
        </p:spPr>
        <p:txBody>
          <a:bodyPr wrap="square" lIns="0" tIns="0" rIns="0" bIns="0" rtlCol="0" anchor="ctr"/>
          <a:lstStyle/>
          <a:p>
            <a:pPr indent="0" marL="0">
              <a:buNone/>
            </a:pPr>
            <a:r>
              <a:rPr lang="en-US" sz="2600" b="1" dirty="0">
                <a:solidFill>
                  <a:srgbClr val="034694"/>
                </a:solidFill>
                <a:latin typeface="Century Gothic" pitchFamily="34" charset="0"/>
                <a:ea typeface="Century Gothic" pitchFamily="34" charset="-122"/>
                <a:cs typeface="Century Gothic" pitchFamily="34" charset="-120"/>
              </a:rPr>
              <a:t>Four afternoons: the chain before the design</a:t>
            </a:r>
            <a:endParaRPr lang="en-US" sz="2600" dirty="0"/>
          </a:p>
        </p:txBody>
      </p:sp>
      <p:sp>
        <p:nvSpPr>
          <p:cNvPr id="4" name="Shape 2"/>
          <p:cNvSpPr/>
          <p:nvPr/>
        </p:nvSpPr>
        <p:spPr>
          <a:xfrm>
            <a:off x="548640" y="1353312"/>
            <a:ext cx="2743200" cy="4160520"/>
          </a:xfrm>
          <a:prstGeom prst="rect">
            <a:avLst/>
          </a:prstGeom>
          <a:solidFill>
            <a:srgbClr val="FFFFFF"/>
          </a:solidFill>
          <a:ln w="12700">
            <a:solidFill>
              <a:srgbClr val="E5E7EB"/>
            </a:solidFill>
            <a:prstDash val="solid"/>
          </a:ln>
        </p:spPr>
      </p:sp>
      <p:sp>
        <p:nvSpPr>
          <p:cNvPr id="5" name="Shape 3"/>
          <p:cNvSpPr/>
          <p:nvPr/>
        </p:nvSpPr>
        <p:spPr>
          <a:xfrm>
            <a:off x="548640" y="1353312"/>
            <a:ext cx="2743200" cy="1051560"/>
          </a:xfrm>
          <a:prstGeom prst="rect">
            <a:avLst/>
          </a:prstGeom>
          <a:solidFill>
            <a:srgbClr val="021F47"/>
          </a:solidFill>
          <a:ln/>
        </p:spPr>
      </p:sp>
      <p:sp>
        <p:nvSpPr>
          <p:cNvPr id="6" name="Text 4"/>
          <p:cNvSpPr/>
          <p:nvPr/>
        </p:nvSpPr>
        <p:spPr>
          <a:xfrm>
            <a:off x="694944" y="1417320"/>
            <a:ext cx="2450592" cy="292608"/>
          </a:xfrm>
          <a:prstGeom prst="rect">
            <a:avLst/>
          </a:prstGeom>
          <a:noFill/>
          <a:ln/>
        </p:spPr>
        <p:txBody>
          <a:bodyPr wrap="square" lIns="0" tIns="0" rIns="0" bIns="0" rtlCol="0" anchor="ctr"/>
          <a:lstStyle/>
          <a:p>
            <a:pPr indent="0" marL="0">
              <a:buNone/>
            </a:pPr>
            <a:r>
              <a:rPr lang="en-US" sz="1200" b="1" spc="120" kern="0" dirty="0">
                <a:solidFill>
                  <a:srgbClr val="DBA111"/>
                </a:solidFill>
                <a:latin typeface="Calibri" pitchFamily="34" charset="0"/>
                <a:ea typeface="Calibri" pitchFamily="34" charset="-122"/>
                <a:cs typeface="Calibri" pitchFamily="34" charset="-120"/>
              </a:rPr>
              <a:t>WEEK 1</a:t>
            </a:r>
            <a:endParaRPr lang="en-US" sz="1200" dirty="0"/>
          </a:p>
        </p:txBody>
      </p:sp>
      <p:sp>
        <p:nvSpPr>
          <p:cNvPr id="7" name="Text 5"/>
          <p:cNvSpPr/>
          <p:nvPr/>
        </p:nvSpPr>
        <p:spPr>
          <a:xfrm>
            <a:off x="694944" y="1719072"/>
            <a:ext cx="2450592" cy="530352"/>
          </a:xfrm>
          <a:prstGeom prst="rect">
            <a:avLst/>
          </a:prstGeom>
          <a:noFill/>
          <a:ln/>
        </p:spPr>
        <p:txBody>
          <a:bodyPr wrap="square" lIns="0" tIns="0" rIns="0" bIns="0" rtlCol="0" anchor="ctr"/>
          <a:lstStyle/>
          <a:p>
            <a:pPr indent="0" marL="0">
              <a:buNone/>
            </a:pPr>
            <a:r>
              <a:rPr lang="en-US" sz="1600" b="1" dirty="0">
                <a:solidFill>
                  <a:srgbClr val="FFFFFF"/>
                </a:solidFill>
                <a:latin typeface="Century Gothic" pitchFamily="34" charset="0"/>
                <a:ea typeface="Century Gothic" pitchFamily="34" charset="-122"/>
                <a:cs typeface="Century Gothic" pitchFamily="34" charset="-120"/>
              </a:rPr>
              <a:t>What SE is</a:t>
            </a:r>
            <a:endParaRPr lang="en-US" sz="1600" dirty="0"/>
          </a:p>
        </p:txBody>
      </p:sp>
      <p:sp>
        <p:nvSpPr>
          <p:cNvPr id="8" name="Text 6"/>
          <p:cNvSpPr/>
          <p:nvPr/>
        </p:nvSpPr>
        <p:spPr>
          <a:xfrm>
            <a:off x="713232" y="2578608"/>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Why programs fail when people jump to design</a:t>
            </a:r>
            <a:endParaRPr lang="en-US" sz="1300" dirty="0"/>
          </a:p>
        </p:txBody>
      </p:sp>
      <p:sp>
        <p:nvSpPr>
          <p:cNvPr id="9" name="Text 7"/>
          <p:cNvSpPr/>
          <p:nvPr/>
        </p:nvSpPr>
        <p:spPr>
          <a:xfrm>
            <a:off x="713232" y="3236976"/>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Vision as a shared picture</a:t>
            </a:r>
            <a:endParaRPr lang="en-US" sz="1300" dirty="0"/>
          </a:p>
        </p:txBody>
      </p:sp>
      <p:sp>
        <p:nvSpPr>
          <p:cNvPr id="10" name="Text 8"/>
          <p:cNvSpPr/>
          <p:nvPr/>
        </p:nvSpPr>
        <p:spPr>
          <a:xfrm>
            <a:off x="713232" y="3895344"/>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Stakeholders and needs grammar</a:t>
            </a:r>
            <a:endParaRPr lang="en-US" sz="1300" dirty="0"/>
          </a:p>
        </p:txBody>
      </p:sp>
      <p:sp>
        <p:nvSpPr>
          <p:cNvPr id="11" name="Text 9"/>
          <p:cNvSpPr/>
          <p:nvPr/>
        </p:nvSpPr>
        <p:spPr>
          <a:xfrm>
            <a:off x="713232" y="4553712"/>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Artifacts have owners and versions</a:t>
            </a:r>
            <a:endParaRPr lang="en-US" sz="1300" dirty="0"/>
          </a:p>
        </p:txBody>
      </p:sp>
      <p:sp>
        <p:nvSpPr>
          <p:cNvPr id="12" name="Shape 10"/>
          <p:cNvSpPr/>
          <p:nvPr/>
        </p:nvSpPr>
        <p:spPr>
          <a:xfrm>
            <a:off x="3429000" y="1353312"/>
            <a:ext cx="2743200" cy="4160520"/>
          </a:xfrm>
          <a:prstGeom prst="rect">
            <a:avLst/>
          </a:prstGeom>
          <a:solidFill>
            <a:srgbClr val="FFFFFF"/>
          </a:solidFill>
          <a:ln w="12700">
            <a:solidFill>
              <a:srgbClr val="E5E7EB"/>
            </a:solidFill>
            <a:prstDash val="solid"/>
          </a:ln>
        </p:spPr>
      </p:sp>
      <p:sp>
        <p:nvSpPr>
          <p:cNvPr id="13" name="Shape 11"/>
          <p:cNvSpPr/>
          <p:nvPr/>
        </p:nvSpPr>
        <p:spPr>
          <a:xfrm>
            <a:off x="3429000" y="1353312"/>
            <a:ext cx="2743200" cy="1051560"/>
          </a:xfrm>
          <a:prstGeom prst="rect">
            <a:avLst/>
          </a:prstGeom>
          <a:solidFill>
            <a:srgbClr val="021F47"/>
          </a:solidFill>
          <a:ln/>
        </p:spPr>
      </p:sp>
      <p:sp>
        <p:nvSpPr>
          <p:cNvPr id="14" name="Text 12"/>
          <p:cNvSpPr/>
          <p:nvPr/>
        </p:nvSpPr>
        <p:spPr>
          <a:xfrm>
            <a:off x="3575304" y="1417320"/>
            <a:ext cx="2450592" cy="292608"/>
          </a:xfrm>
          <a:prstGeom prst="rect">
            <a:avLst/>
          </a:prstGeom>
          <a:noFill/>
          <a:ln/>
        </p:spPr>
        <p:txBody>
          <a:bodyPr wrap="square" lIns="0" tIns="0" rIns="0" bIns="0" rtlCol="0" anchor="ctr"/>
          <a:lstStyle/>
          <a:p>
            <a:pPr indent="0" marL="0">
              <a:buNone/>
            </a:pPr>
            <a:r>
              <a:rPr lang="en-US" sz="1200" b="1" spc="120" kern="0" dirty="0">
                <a:solidFill>
                  <a:srgbClr val="DBA111"/>
                </a:solidFill>
                <a:latin typeface="Calibri" pitchFamily="34" charset="0"/>
                <a:ea typeface="Calibri" pitchFamily="34" charset="-122"/>
                <a:cs typeface="Calibri" pitchFamily="34" charset="-120"/>
              </a:rPr>
              <a:t>WEEK 2</a:t>
            </a:r>
            <a:endParaRPr lang="en-US" sz="1200" dirty="0"/>
          </a:p>
        </p:txBody>
      </p:sp>
      <p:sp>
        <p:nvSpPr>
          <p:cNvPr id="15" name="Text 13"/>
          <p:cNvSpPr/>
          <p:nvPr/>
        </p:nvSpPr>
        <p:spPr>
          <a:xfrm>
            <a:off x="3575304" y="1719072"/>
            <a:ext cx="2450592" cy="530352"/>
          </a:xfrm>
          <a:prstGeom prst="rect">
            <a:avLst/>
          </a:prstGeom>
          <a:noFill/>
          <a:ln/>
        </p:spPr>
        <p:txBody>
          <a:bodyPr wrap="square" lIns="0" tIns="0" rIns="0" bIns="0" rtlCol="0" anchor="ctr"/>
          <a:lstStyle/>
          <a:p>
            <a:pPr indent="0" marL="0">
              <a:buNone/>
            </a:pPr>
            <a:r>
              <a:rPr lang="en-US" sz="1600" b="1" dirty="0">
                <a:solidFill>
                  <a:srgbClr val="FFFFFF"/>
                </a:solidFill>
                <a:latin typeface="Century Gothic" pitchFamily="34" charset="0"/>
                <a:ea typeface="Century Gothic" pitchFamily="34" charset="-122"/>
                <a:cs typeface="Century Gothic" pitchFamily="34" charset="-120"/>
              </a:rPr>
              <a:t>Needs → use cases</a:t>
            </a:r>
            <a:endParaRPr lang="en-US" sz="1600" dirty="0"/>
          </a:p>
        </p:txBody>
      </p:sp>
      <p:sp>
        <p:nvSpPr>
          <p:cNvPr id="16" name="Text 14"/>
          <p:cNvSpPr/>
          <p:nvPr/>
        </p:nvSpPr>
        <p:spPr>
          <a:xfrm>
            <a:off x="3593592" y="2578608"/>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Who benefits, and so that what</a:t>
            </a:r>
            <a:endParaRPr lang="en-US" sz="1300" dirty="0"/>
          </a:p>
        </p:txBody>
      </p:sp>
      <p:sp>
        <p:nvSpPr>
          <p:cNvPr id="17" name="Text 15"/>
          <p:cNvSpPr/>
          <p:nvPr/>
        </p:nvSpPr>
        <p:spPr>
          <a:xfrm>
            <a:off x="3593592" y="3236976"/>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Actors and the main success scenario</a:t>
            </a:r>
            <a:endParaRPr lang="en-US" sz="1300" dirty="0"/>
          </a:p>
        </p:txBody>
      </p:sp>
      <p:sp>
        <p:nvSpPr>
          <p:cNvPr id="18" name="Text 16"/>
          <p:cNvSpPr/>
          <p:nvPr/>
        </p:nvSpPr>
        <p:spPr>
          <a:xfrm>
            <a:off x="3593592" y="3895344"/>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Extensions and rejected use cases</a:t>
            </a:r>
            <a:endParaRPr lang="en-US" sz="1300" dirty="0"/>
          </a:p>
        </p:txBody>
      </p:sp>
      <p:sp>
        <p:nvSpPr>
          <p:cNvPr id="19" name="Text 17"/>
          <p:cNvSpPr/>
          <p:nvPr/>
        </p:nvSpPr>
        <p:spPr>
          <a:xfrm>
            <a:off x="3593592" y="4553712"/>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Trace: need traces_to use case</a:t>
            </a:r>
            <a:endParaRPr lang="en-US" sz="1300" dirty="0"/>
          </a:p>
        </p:txBody>
      </p:sp>
      <p:sp>
        <p:nvSpPr>
          <p:cNvPr id="20" name="Shape 18"/>
          <p:cNvSpPr/>
          <p:nvPr/>
        </p:nvSpPr>
        <p:spPr>
          <a:xfrm>
            <a:off x="6309360" y="1353312"/>
            <a:ext cx="2743200" cy="4160520"/>
          </a:xfrm>
          <a:prstGeom prst="rect">
            <a:avLst/>
          </a:prstGeom>
          <a:solidFill>
            <a:srgbClr val="FFFFFF"/>
          </a:solidFill>
          <a:ln w="12700">
            <a:solidFill>
              <a:srgbClr val="E5E7EB"/>
            </a:solidFill>
            <a:prstDash val="solid"/>
          </a:ln>
        </p:spPr>
      </p:sp>
      <p:sp>
        <p:nvSpPr>
          <p:cNvPr id="21" name="Shape 19"/>
          <p:cNvSpPr/>
          <p:nvPr/>
        </p:nvSpPr>
        <p:spPr>
          <a:xfrm>
            <a:off x="6309360" y="1353312"/>
            <a:ext cx="2743200" cy="1051560"/>
          </a:xfrm>
          <a:prstGeom prst="rect">
            <a:avLst/>
          </a:prstGeom>
          <a:solidFill>
            <a:srgbClr val="021F47"/>
          </a:solidFill>
          <a:ln/>
        </p:spPr>
      </p:sp>
      <p:sp>
        <p:nvSpPr>
          <p:cNvPr id="22" name="Text 20"/>
          <p:cNvSpPr/>
          <p:nvPr/>
        </p:nvSpPr>
        <p:spPr>
          <a:xfrm>
            <a:off x="6455664" y="1417320"/>
            <a:ext cx="2450592" cy="292608"/>
          </a:xfrm>
          <a:prstGeom prst="rect">
            <a:avLst/>
          </a:prstGeom>
          <a:noFill/>
          <a:ln/>
        </p:spPr>
        <p:txBody>
          <a:bodyPr wrap="square" lIns="0" tIns="0" rIns="0" bIns="0" rtlCol="0" anchor="ctr"/>
          <a:lstStyle/>
          <a:p>
            <a:pPr indent="0" marL="0">
              <a:buNone/>
            </a:pPr>
            <a:r>
              <a:rPr lang="en-US" sz="1200" b="1" spc="120" kern="0" dirty="0">
                <a:solidFill>
                  <a:srgbClr val="DBA111"/>
                </a:solidFill>
                <a:latin typeface="Calibri" pitchFamily="34" charset="0"/>
                <a:ea typeface="Calibri" pitchFamily="34" charset="-122"/>
                <a:cs typeface="Calibri" pitchFamily="34" charset="-120"/>
              </a:rPr>
              <a:t>WEEK 3</a:t>
            </a:r>
            <a:endParaRPr lang="en-US" sz="1200" dirty="0"/>
          </a:p>
        </p:txBody>
      </p:sp>
      <p:sp>
        <p:nvSpPr>
          <p:cNvPr id="23" name="Text 21"/>
          <p:cNvSpPr/>
          <p:nvPr/>
        </p:nvSpPr>
        <p:spPr>
          <a:xfrm>
            <a:off x="6455664" y="1719072"/>
            <a:ext cx="2450592" cy="530352"/>
          </a:xfrm>
          <a:prstGeom prst="rect">
            <a:avLst/>
          </a:prstGeom>
          <a:noFill/>
          <a:ln/>
        </p:spPr>
        <p:txBody>
          <a:bodyPr wrap="square" lIns="0" tIns="0" rIns="0" bIns="0" rtlCol="0" anchor="ctr"/>
          <a:lstStyle/>
          <a:p>
            <a:pPr indent="0" marL="0">
              <a:buNone/>
            </a:pPr>
            <a:r>
              <a:rPr lang="en-US" sz="1600" b="1" dirty="0">
                <a:solidFill>
                  <a:srgbClr val="FFFFFF"/>
                </a:solidFill>
                <a:latin typeface="Century Gothic" pitchFamily="34" charset="0"/>
                <a:ea typeface="Century Gothic" pitchFamily="34" charset="-122"/>
                <a:cs typeface="Century Gothic" pitchFamily="34" charset="-120"/>
              </a:rPr>
              <a:t>Requirements</a:t>
            </a:r>
            <a:endParaRPr lang="en-US" sz="1600" dirty="0"/>
          </a:p>
        </p:txBody>
      </p:sp>
      <p:sp>
        <p:nvSpPr>
          <p:cNvPr id="24" name="Text 22"/>
          <p:cNvSpPr/>
          <p:nvPr/>
        </p:nvSpPr>
        <p:spPr>
          <a:xfrm>
            <a:off x="6473952" y="2578608"/>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Shall language and EARS patterns</a:t>
            </a:r>
            <a:endParaRPr lang="en-US" sz="1300" dirty="0"/>
          </a:p>
        </p:txBody>
      </p:sp>
      <p:sp>
        <p:nvSpPr>
          <p:cNvPr id="25" name="Text 23"/>
          <p:cNvSpPr/>
          <p:nvPr/>
        </p:nvSpPr>
        <p:spPr>
          <a:xfrm>
            <a:off x="6473952" y="3236976"/>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Acceptance criteria that prove the shall</a:t>
            </a:r>
            <a:endParaRPr lang="en-US" sz="1300" dirty="0"/>
          </a:p>
        </p:txBody>
      </p:sp>
      <p:sp>
        <p:nvSpPr>
          <p:cNvPr id="26" name="Text 24"/>
          <p:cNvSpPr/>
          <p:nvPr/>
        </p:nvSpPr>
        <p:spPr>
          <a:xfrm>
            <a:off x="6473952" y="3895344"/>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IDs, NFRs, and testability</a:t>
            </a:r>
            <a:endParaRPr lang="en-US" sz="1300" dirty="0"/>
          </a:p>
        </p:txBody>
      </p:sp>
      <p:sp>
        <p:nvSpPr>
          <p:cNvPr id="27" name="Text 25"/>
          <p:cNvSpPr/>
          <p:nvPr/>
        </p:nvSpPr>
        <p:spPr>
          <a:xfrm>
            <a:off x="6473952" y="4553712"/>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Do not hide design inside a requirement</a:t>
            </a:r>
            <a:endParaRPr lang="en-US" sz="1300" dirty="0"/>
          </a:p>
        </p:txBody>
      </p:sp>
      <p:sp>
        <p:nvSpPr>
          <p:cNvPr id="28" name="Shape 26"/>
          <p:cNvSpPr/>
          <p:nvPr/>
        </p:nvSpPr>
        <p:spPr>
          <a:xfrm>
            <a:off x="9189720" y="1353312"/>
            <a:ext cx="2743200" cy="4160520"/>
          </a:xfrm>
          <a:prstGeom prst="rect">
            <a:avLst/>
          </a:prstGeom>
          <a:solidFill>
            <a:srgbClr val="FFFFFF"/>
          </a:solidFill>
          <a:ln w="12700">
            <a:solidFill>
              <a:srgbClr val="E5E7EB"/>
            </a:solidFill>
            <a:prstDash val="solid"/>
          </a:ln>
        </p:spPr>
      </p:sp>
      <p:sp>
        <p:nvSpPr>
          <p:cNvPr id="29" name="Shape 27"/>
          <p:cNvSpPr/>
          <p:nvPr/>
        </p:nvSpPr>
        <p:spPr>
          <a:xfrm>
            <a:off x="9189720" y="1353312"/>
            <a:ext cx="2743200" cy="1051560"/>
          </a:xfrm>
          <a:prstGeom prst="rect">
            <a:avLst/>
          </a:prstGeom>
          <a:solidFill>
            <a:srgbClr val="021F47"/>
          </a:solidFill>
          <a:ln/>
        </p:spPr>
      </p:sp>
      <p:sp>
        <p:nvSpPr>
          <p:cNvPr id="30" name="Text 28"/>
          <p:cNvSpPr/>
          <p:nvPr/>
        </p:nvSpPr>
        <p:spPr>
          <a:xfrm>
            <a:off x="9336024" y="1417320"/>
            <a:ext cx="2450592" cy="292608"/>
          </a:xfrm>
          <a:prstGeom prst="rect">
            <a:avLst/>
          </a:prstGeom>
          <a:noFill/>
          <a:ln/>
        </p:spPr>
        <p:txBody>
          <a:bodyPr wrap="square" lIns="0" tIns="0" rIns="0" bIns="0" rtlCol="0" anchor="ctr"/>
          <a:lstStyle/>
          <a:p>
            <a:pPr indent="0" marL="0">
              <a:buNone/>
            </a:pPr>
            <a:r>
              <a:rPr lang="en-US" sz="1200" b="1" spc="120" kern="0" dirty="0">
                <a:solidFill>
                  <a:srgbClr val="DBA111"/>
                </a:solidFill>
                <a:latin typeface="Calibri" pitchFamily="34" charset="0"/>
                <a:ea typeface="Calibri" pitchFamily="34" charset="-122"/>
                <a:cs typeface="Calibri" pitchFamily="34" charset="-120"/>
              </a:rPr>
              <a:t>WEEK 4</a:t>
            </a:r>
            <a:endParaRPr lang="en-US" sz="1200" dirty="0"/>
          </a:p>
        </p:txBody>
      </p:sp>
      <p:sp>
        <p:nvSpPr>
          <p:cNvPr id="31" name="Text 29"/>
          <p:cNvSpPr/>
          <p:nvPr/>
        </p:nvSpPr>
        <p:spPr>
          <a:xfrm>
            <a:off x="9336024" y="1719072"/>
            <a:ext cx="2450592" cy="530352"/>
          </a:xfrm>
          <a:prstGeom prst="rect">
            <a:avLst/>
          </a:prstGeom>
          <a:noFill/>
          <a:ln/>
        </p:spPr>
        <p:txBody>
          <a:bodyPr wrap="square" lIns="0" tIns="0" rIns="0" bIns="0" rtlCol="0" anchor="ctr"/>
          <a:lstStyle/>
          <a:p>
            <a:pPr indent="0" marL="0">
              <a:buNone/>
            </a:pPr>
            <a:r>
              <a:rPr lang="en-US" sz="1600" b="1" dirty="0">
                <a:solidFill>
                  <a:srgbClr val="FFFFFF"/>
                </a:solidFill>
                <a:latin typeface="Century Gothic" pitchFamily="34" charset="0"/>
                <a:ea typeface="Century Gothic" pitchFamily="34" charset="-122"/>
                <a:cs typeface="Century Gothic" pitchFamily="34" charset="-120"/>
              </a:rPr>
              <a:t>Reading the system</a:t>
            </a:r>
            <a:endParaRPr lang="en-US" sz="1600" dirty="0"/>
          </a:p>
        </p:txBody>
      </p:sp>
      <p:sp>
        <p:nvSpPr>
          <p:cNvPr id="32" name="Text 30"/>
          <p:cNvSpPr/>
          <p:nvPr/>
        </p:nvSpPr>
        <p:spPr>
          <a:xfrm>
            <a:off x="9354312" y="2578608"/>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Context, structure, and deployment views</a:t>
            </a:r>
            <a:endParaRPr lang="en-US" sz="1300" dirty="0"/>
          </a:p>
        </p:txBody>
      </p:sp>
      <p:sp>
        <p:nvSpPr>
          <p:cNvPr id="33" name="Text 31"/>
          <p:cNvSpPr/>
          <p:nvPr/>
        </p:nvSpPr>
        <p:spPr>
          <a:xfrm>
            <a:off x="9354312" y="3236976"/>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A simple sequence and a simple state</a:t>
            </a:r>
            <a:endParaRPr lang="en-US" sz="1300" dirty="0"/>
          </a:p>
        </p:txBody>
      </p:sp>
      <p:sp>
        <p:nvSpPr>
          <p:cNvPr id="34" name="Text 32"/>
          <p:cNvSpPr/>
          <p:nvPr/>
        </p:nvSpPr>
        <p:spPr>
          <a:xfrm>
            <a:off x="9354312" y="3895344"/>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Verify vs validate in plain language</a:t>
            </a:r>
            <a:endParaRPr lang="en-US" sz="1300" dirty="0"/>
          </a:p>
        </p:txBody>
      </p:sp>
      <p:sp>
        <p:nvSpPr>
          <p:cNvPr id="35" name="Text 33"/>
          <p:cNvSpPr/>
          <p:nvPr/>
        </p:nvSpPr>
        <p:spPr>
          <a:xfrm>
            <a:off x="9354312" y="4553712"/>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How SE will coordinate the other three</a:t>
            </a:r>
            <a:endParaRPr lang="en-US" sz="1300" dirty="0"/>
          </a:p>
        </p:txBody>
      </p:sp>
      <p:sp>
        <p:nvSpPr>
          <p:cNvPr id="36" name="Shape 34"/>
          <p:cNvSpPr/>
          <p:nvPr/>
        </p:nvSpPr>
        <p:spPr>
          <a:xfrm>
            <a:off x="548640" y="6501384"/>
            <a:ext cx="320040" cy="36576"/>
          </a:xfrm>
          <a:prstGeom prst="rect">
            <a:avLst/>
          </a:prstGeom>
          <a:solidFill>
            <a:srgbClr val="DBA111"/>
          </a:solidFill>
          <a:ln/>
        </p:spPr>
      </p:sp>
      <p:sp>
        <p:nvSpPr>
          <p:cNvPr id="37" name="Text 35"/>
          <p:cNvSpPr/>
          <p:nvPr/>
        </p:nvSpPr>
        <p:spPr>
          <a:xfrm>
            <a:off x="960120" y="6382512"/>
            <a:ext cx="6583680" cy="274320"/>
          </a:xfrm>
          <a:prstGeom prst="rect">
            <a:avLst/>
          </a:prstGeom>
          <a:noFill/>
          <a:ln/>
        </p:spPr>
        <p:txBody>
          <a:bodyPr wrap="square" lIns="0" tIns="0" rIns="0" bIns="0" rtlCol="0" anchor="ctr"/>
          <a:lstStyle/>
          <a:p>
            <a:pPr indent="0" marL="0">
              <a:buNone/>
            </a:pPr>
            <a:r>
              <a:rPr lang="en-US" sz="1000" b="1" spc="160" kern="0" dirty="0">
                <a:solidFill>
                  <a:srgbClr val="475569"/>
                </a:solidFill>
                <a:latin typeface="Calibri" pitchFamily="34" charset="0"/>
                <a:ea typeface="Calibri" pitchFamily="34" charset="-122"/>
                <a:cs typeface="Calibri" pitchFamily="34" charset="-120"/>
              </a:rPr>
              <a:t>CISS INTERNSHIP  |  DELIVERY APPROACH</a:t>
            </a:r>
            <a:endParaRPr lang="en-US" sz="1000" dirty="0"/>
          </a:p>
        </p:txBody>
      </p:sp>
      <p:sp>
        <p:nvSpPr>
          <p:cNvPr id="38" name="Text 36"/>
          <p:cNvSpPr/>
          <p:nvPr/>
        </p:nvSpPr>
        <p:spPr>
          <a:xfrm>
            <a:off x="7406640" y="6382512"/>
            <a:ext cx="3291840" cy="274320"/>
          </a:xfrm>
          <a:prstGeom prst="rect">
            <a:avLst/>
          </a:prstGeom>
          <a:noFill/>
          <a:ln/>
        </p:spPr>
        <p:txBody>
          <a:bodyPr wrap="square" lIns="0" tIns="0" rIns="0" bIns="0" rtlCol="0" anchor="ctr"/>
          <a:lstStyle/>
          <a:p>
            <a:pPr algn="r" indent="0" marL="0">
              <a:buNone/>
            </a:pPr>
            <a:r>
              <a:rPr lang="en-US" sz="1000" i="1" dirty="0">
                <a:solidFill>
                  <a:srgbClr val="475569"/>
                </a:solidFill>
                <a:latin typeface="Calibri" pitchFamily="34" charset="0"/>
                <a:ea typeface="Calibri" pitchFamily="34" charset="-122"/>
                <a:cs typeface="Calibri" pitchFamily="34" charset="-120"/>
              </a:rPr>
              <a:t>SE foundation</a:t>
            </a:r>
            <a:endParaRPr lang="en-US" sz="1000" dirty="0"/>
          </a:p>
        </p:txBody>
      </p:sp>
      <p:sp>
        <p:nvSpPr>
          <p:cNvPr id="39" name="Text 37"/>
          <p:cNvSpPr/>
          <p:nvPr/>
        </p:nvSpPr>
        <p:spPr>
          <a:xfrm>
            <a:off x="10835640" y="6382512"/>
            <a:ext cx="777240" cy="274320"/>
          </a:xfrm>
          <a:prstGeom prst="rect">
            <a:avLst/>
          </a:prstGeom>
          <a:noFill/>
          <a:ln/>
        </p:spPr>
        <p:txBody>
          <a:bodyPr wrap="square" lIns="0" tIns="0" rIns="0" bIns="0" rtlCol="0" anchor="ctr"/>
          <a:lstStyle/>
          <a:p>
            <a:pPr algn="r" indent="0" marL="0">
              <a:buNone/>
            </a:pPr>
            <a:r>
              <a:rPr lang="en-US" sz="1200" b="1" dirty="0">
                <a:solidFill>
                  <a:srgbClr val="034694"/>
                </a:solidFill>
                <a:latin typeface="Century Gothic" pitchFamily="34" charset="0"/>
                <a:ea typeface="Century Gothic" pitchFamily="34" charset="-122"/>
                <a:cs typeface="Century Gothic"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256032"/>
          </a:xfrm>
          <a:prstGeom prst="rect">
            <a:avLst/>
          </a:prstGeom>
          <a:noFill/>
          <a:ln/>
        </p:spPr>
        <p:txBody>
          <a:bodyPr wrap="square" lIns="0" tIns="0" rIns="0" bIns="0" rtlCol="0" anchor="ctr"/>
          <a:lstStyle/>
          <a:p>
            <a:pPr indent="0" marL="0">
              <a:buNone/>
            </a:pPr>
            <a:r>
              <a:rPr lang="en-US" sz="1100" b="1" spc="320" kern="0" dirty="0">
                <a:solidFill>
                  <a:srgbClr val="DBA111"/>
                </a:solidFill>
                <a:latin typeface="Calibri" pitchFamily="34" charset="0"/>
                <a:ea typeface="Calibri" pitchFamily="34" charset="-122"/>
                <a:cs typeface="Calibri" pitchFamily="34" charset="-120"/>
              </a:rPr>
              <a:t>FOUNDATION TOPICS  ·  NETWORKING</a:t>
            </a:r>
            <a:endParaRPr lang="en-US" sz="1100" dirty="0"/>
          </a:p>
        </p:txBody>
      </p:sp>
      <p:sp>
        <p:nvSpPr>
          <p:cNvPr id="3" name="Text 1"/>
          <p:cNvSpPr/>
          <p:nvPr/>
        </p:nvSpPr>
        <p:spPr>
          <a:xfrm>
            <a:off x="548640" y="621792"/>
            <a:ext cx="11064240" cy="566928"/>
          </a:xfrm>
          <a:prstGeom prst="rect">
            <a:avLst/>
          </a:prstGeom>
          <a:noFill/>
          <a:ln/>
        </p:spPr>
        <p:txBody>
          <a:bodyPr wrap="square" lIns="0" tIns="0" rIns="0" bIns="0" rtlCol="0" anchor="ctr"/>
          <a:lstStyle/>
          <a:p>
            <a:pPr indent="0" marL="0">
              <a:buNone/>
            </a:pPr>
            <a:r>
              <a:rPr lang="en-US" sz="2600" b="1" dirty="0">
                <a:solidFill>
                  <a:srgbClr val="034694"/>
                </a:solidFill>
                <a:latin typeface="Century Gothic" pitchFamily="34" charset="0"/>
                <a:ea typeface="Century Gothic" pitchFamily="34" charset="-122"/>
                <a:cs typeface="Century Gothic" pitchFamily="34" charset="-120"/>
              </a:rPr>
              <a:t>Four afternoons: packets, paths, and how to prove them</a:t>
            </a:r>
            <a:endParaRPr lang="en-US" sz="2600" dirty="0"/>
          </a:p>
        </p:txBody>
      </p:sp>
      <p:sp>
        <p:nvSpPr>
          <p:cNvPr id="4" name="Shape 2"/>
          <p:cNvSpPr/>
          <p:nvPr/>
        </p:nvSpPr>
        <p:spPr>
          <a:xfrm>
            <a:off x="548640" y="1353312"/>
            <a:ext cx="2743200" cy="4160520"/>
          </a:xfrm>
          <a:prstGeom prst="rect">
            <a:avLst/>
          </a:prstGeom>
          <a:solidFill>
            <a:srgbClr val="FFFFFF"/>
          </a:solidFill>
          <a:ln w="12700">
            <a:solidFill>
              <a:srgbClr val="E5E7EB"/>
            </a:solidFill>
            <a:prstDash val="solid"/>
          </a:ln>
        </p:spPr>
      </p:sp>
      <p:sp>
        <p:nvSpPr>
          <p:cNvPr id="5" name="Shape 3"/>
          <p:cNvSpPr/>
          <p:nvPr/>
        </p:nvSpPr>
        <p:spPr>
          <a:xfrm>
            <a:off x="548640" y="1353312"/>
            <a:ext cx="2743200" cy="1051560"/>
          </a:xfrm>
          <a:prstGeom prst="rect">
            <a:avLst/>
          </a:prstGeom>
          <a:solidFill>
            <a:srgbClr val="034694"/>
          </a:solidFill>
          <a:ln/>
        </p:spPr>
      </p:sp>
      <p:sp>
        <p:nvSpPr>
          <p:cNvPr id="6" name="Text 4"/>
          <p:cNvSpPr/>
          <p:nvPr/>
        </p:nvSpPr>
        <p:spPr>
          <a:xfrm>
            <a:off x="694944" y="1417320"/>
            <a:ext cx="2450592" cy="292608"/>
          </a:xfrm>
          <a:prstGeom prst="rect">
            <a:avLst/>
          </a:prstGeom>
          <a:noFill/>
          <a:ln/>
        </p:spPr>
        <p:txBody>
          <a:bodyPr wrap="square" lIns="0" tIns="0" rIns="0" bIns="0" rtlCol="0" anchor="ctr"/>
          <a:lstStyle/>
          <a:p>
            <a:pPr indent="0" marL="0">
              <a:buNone/>
            </a:pPr>
            <a:r>
              <a:rPr lang="en-US" sz="1200" b="1" spc="120" kern="0" dirty="0">
                <a:solidFill>
                  <a:srgbClr val="DBA111"/>
                </a:solidFill>
                <a:latin typeface="Calibri" pitchFamily="34" charset="0"/>
                <a:ea typeface="Calibri" pitchFamily="34" charset="-122"/>
                <a:cs typeface="Calibri" pitchFamily="34" charset="-120"/>
              </a:rPr>
              <a:t>WEEK 1</a:t>
            </a:r>
            <a:endParaRPr lang="en-US" sz="1200" dirty="0"/>
          </a:p>
        </p:txBody>
      </p:sp>
      <p:sp>
        <p:nvSpPr>
          <p:cNvPr id="7" name="Text 5"/>
          <p:cNvSpPr/>
          <p:nvPr/>
        </p:nvSpPr>
        <p:spPr>
          <a:xfrm>
            <a:off x="694944" y="1719072"/>
            <a:ext cx="2450592" cy="530352"/>
          </a:xfrm>
          <a:prstGeom prst="rect">
            <a:avLst/>
          </a:prstGeom>
          <a:noFill/>
          <a:ln/>
        </p:spPr>
        <p:txBody>
          <a:bodyPr wrap="square" lIns="0" tIns="0" rIns="0" bIns="0" rtlCol="0" anchor="ctr"/>
          <a:lstStyle/>
          <a:p>
            <a:pPr indent="0" marL="0">
              <a:buNone/>
            </a:pPr>
            <a:r>
              <a:rPr lang="en-US" sz="1500" b="1" dirty="0">
                <a:solidFill>
                  <a:srgbClr val="FFFFFF"/>
                </a:solidFill>
                <a:latin typeface="Century Gothic" pitchFamily="34" charset="0"/>
                <a:ea typeface="Century Gothic" pitchFamily="34" charset="-122"/>
                <a:cs typeface="Century Gothic" pitchFamily="34" charset="-120"/>
              </a:rPr>
              <a:t>How a network is built</a:t>
            </a:r>
            <a:endParaRPr lang="en-US" sz="1500" dirty="0"/>
          </a:p>
        </p:txBody>
      </p:sp>
      <p:sp>
        <p:nvSpPr>
          <p:cNvPr id="8" name="Text 6"/>
          <p:cNvSpPr/>
          <p:nvPr/>
        </p:nvSpPr>
        <p:spPr>
          <a:xfrm>
            <a:off x="713232" y="2578608"/>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LAN vs WAN and device roles</a:t>
            </a:r>
            <a:endParaRPr lang="en-US" sz="1300" dirty="0"/>
          </a:p>
        </p:txBody>
      </p:sp>
      <p:sp>
        <p:nvSpPr>
          <p:cNvPr id="9" name="Text 7"/>
          <p:cNvSpPr/>
          <p:nvPr/>
        </p:nvSpPr>
        <p:spPr>
          <a:xfrm>
            <a:off x="713232" y="3236976"/>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Switch, router, firewall — who does what</a:t>
            </a:r>
            <a:endParaRPr lang="en-US" sz="1300" dirty="0"/>
          </a:p>
        </p:txBody>
      </p:sp>
      <p:sp>
        <p:nvSpPr>
          <p:cNvPr id="10" name="Text 8"/>
          <p:cNvSpPr/>
          <p:nvPr/>
        </p:nvSpPr>
        <p:spPr>
          <a:xfrm>
            <a:off x="713232" y="3895344"/>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OSI / TCP-IP enough to debug a conversation</a:t>
            </a:r>
            <a:endParaRPr lang="en-US" sz="1300" dirty="0"/>
          </a:p>
        </p:txBody>
      </p:sp>
      <p:sp>
        <p:nvSpPr>
          <p:cNvPr id="11" name="Text 9"/>
          <p:cNvSpPr/>
          <p:nvPr/>
        </p:nvSpPr>
        <p:spPr>
          <a:xfrm>
            <a:off x="713232" y="4553712"/>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Why software is useless if the packet never arrives</a:t>
            </a:r>
            <a:endParaRPr lang="en-US" sz="1300" dirty="0"/>
          </a:p>
        </p:txBody>
      </p:sp>
      <p:sp>
        <p:nvSpPr>
          <p:cNvPr id="12" name="Shape 10"/>
          <p:cNvSpPr/>
          <p:nvPr/>
        </p:nvSpPr>
        <p:spPr>
          <a:xfrm>
            <a:off x="3429000" y="1353312"/>
            <a:ext cx="2743200" cy="4160520"/>
          </a:xfrm>
          <a:prstGeom prst="rect">
            <a:avLst/>
          </a:prstGeom>
          <a:solidFill>
            <a:srgbClr val="FFFFFF"/>
          </a:solidFill>
          <a:ln w="12700">
            <a:solidFill>
              <a:srgbClr val="E5E7EB"/>
            </a:solidFill>
            <a:prstDash val="solid"/>
          </a:ln>
        </p:spPr>
      </p:sp>
      <p:sp>
        <p:nvSpPr>
          <p:cNvPr id="13" name="Shape 11"/>
          <p:cNvSpPr/>
          <p:nvPr/>
        </p:nvSpPr>
        <p:spPr>
          <a:xfrm>
            <a:off x="3429000" y="1353312"/>
            <a:ext cx="2743200" cy="1051560"/>
          </a:xfrm>
          <a:prstGeom prst="rect">
            <a:avLst/>
          </a:prstGeom>
          <a:solidFill>
            <a:srgbClr val="034694"/>
          </a:solidFill>
          <a:ln/>
        </p:spPr>
      </p:sp>
      <p:sp>
        <p:nvSpPr>
          <p:cNvPr id="14" name="Text 12"/>
          <p:cNvSpPr/>
          <p:nvPr/>
        </p:nvSpPr>
        <p:spPr>
          <a:xfrm>
            <a:off x="3575304" y="1417320"/>
            <a:ext cx="2450592" cy="292608"/>
          </a:xfrm>
          <a:prstGeom prst="rect">
            <a:avLst/>
          </a:prstGeom>
          <a:noFill/>
          <a:ln/>
        </p:spPr>
        <p:txBody>
          <a:bodyPr wrap="square" lIns="0" tIns="0" rIns="0" bIns="0" rtlCol="0" anchor="ctr"/>
          <a:lstStyle/>
          <a:p>
            <a:pPr indent="0" marL="0">
              <a:buNone/>
            </a:pPr>
            <a:r>
              <a:rPr lang="en-US" sz="1200" b="1" spc="120" kern="0" dirty="0">
                <a:solidFill>
                  <a:srgbClr val="DBA111"/>
                </a:solidFill>
                <a:latin typeface="Calibri" pitchFamily="34" charset="0"/>
                <a:ea typeface="Calibri" pitchFamily="34" charset="-122"/>
                <a:cs typeface="Calibri" pitchFamily="34" charset="-120"/>
              </a:rPr>
              <a:t>WEEK 2</a:t>
            </a:r>
            <a:endParaRPr lang="en-US" sz="1200" dirty="0"/>
          </a:p>
        </p:txBody>
      </p:sp>
      <p:sp>
        <p:nvSpPr>
          <p:cNvPr id="15" name="Text 13"/>
          <p:cNvSpPr/>
          <p:nvPr/>
        </p:nvSpPr>
        <p:spPr>
          <a:xfrm>
            <a:off x="3575304" y="1719072"/>
            <a:ext cx="2450592" cy="530352"/>
          </a:xfrm>
          <a:prstGeom prst="rect">
            <a:avLst/>
          </a:prstGeom>
          <a:noFill/>
          <a:ln/>
        </p:spPr>
        <p:txBody>
          <a:bodyPr wrap="square" lIns="0" tIns="0" rIns="0" bIns="0" rtlCol="0" anchor="ctr"/>
          <a:lstStyle/>
          <a:p>
            <a:pPr indent="0" marL="0">
              <a:buNone/>
            </a:pPr>
            <a:r>
              <a:rPr lang="en-US" sz="1500" b="1" dirty="0">
                <a:solidFill>
                  <a:srgbClr val="FFFFFF"/>
                </a:solidFill>
                <a:latin typeface="Century Gothic" pitchFamily="34" charset="0"/>
                <a:ea typeface="Century Gothic" pitchFamily="34" charset="-122"/>
                <a:cs typeface="Century Gothic" pitchFamily="34" charset="-120"/>
              </a:rPr>
              <a:t>Addressing</a:t>
            </a:r>
            <a:endParaRPr lang="en-US" sz="1500" dirty="0"/>
          </a:p>
        </p:txBody>
      </p:sp>
      <p:sp>
        <p:nvSpPr>
          <p:cNvPr id="16" name="Text 14"/>
          <p:cNvSpPr/>
          <p:nvPr/>
        </p:nvSpPr>
        <p:spPr>
          <a:xfrm>
            <a:off x="3593592" y="2578608"/>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IPv4, mask, and default gateway</a:t>
            </a:r>
            <a:endParaRPr lang="en-US" sz="1300" dirty="0"/>
          </a:p>
        </p:txBody>
      </p:sp>
      <p:sp>
        <p:nvSpPr>
          <p:cNvPr id="17" name="Text 15"/>
          <p:cNvSpPr/>
          <p:nvPr/>
        </p:nvSpPr>
        <p:spPr>
          <a:xfrm>
            <a:off x="3593592" y="3236976"/>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DHCP and DNS in operational terms</a:t>
            </a:r>
            <a:endParaRPr lang="en-US" sz="1300" dirty="0"/>
          </a:p>
        </p:txBody>
      </p:sp>
      <p:sp>
        <p:nvSpPr>
          <p:cNvPr id="18" name="Text 16"/>
          <p:cNvSpPr/>
          <p:nvPr/>
        </p:nvSpPr>
        <p:spPr>
          <a:xfrm>
            <a:off x="3593592" y="3895344"/>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What a subnet is for</a:t>
            </a:r>
            <a:endParaRPr lang="en-US" sz="1300" dirty="0"/>
          </a:p>
        </p:txBody>
      </p:sp>
      <p:sp>
        <p:nvSpPr>
          <p:cNvPr id="19" name="Text 17"/>
          <p:cNvSpPr/>
          <p:nvPr/>
        </p:nvSpPr>
        <p:spPr>
          <a:xfrm>
            <a:off x="3593592" y="4553712"/>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Write an address plan a peer can read</a:t>
            </a:r>
            <a:endParaRPr lang="en-US" sz="1300" dirty="0"/>
          </a:p>
        </p:txBody>
      </p:sp>
      <p:sp>
        <p:nvSpPr>
          <p:cNvPr id="20" name="Shape 18"/>
          <p:cNvSpPr/>
          <p:nvPr/>
        </p:nvSpPr>
        <p:spPr>
          <a:xfrm>
            <a:off x="6309360" y="1353312"/>
            <a:ext cx="2743200" cy="4160520"/>
          </a:xfrm>
          <a:prstGeom prst="rect">
            <a:avLst/>
          </a:prstGeom>
          <a:solidFill>
            <a:srgbClr val="FFFFFF"/>
          </a:solidFill>
          <a:ln w="12700">
            <a:solidFill>
              <a:srgbClr val="E5E7EB"/>
            </a:solidFill>
            <a:prstDash val="solid"/>
          </a:ln>
        </p:spPr>
      </p:sp>
      <p:sp>
        <p:nvSpPr>
          <p:cNvPr id="21" name="Shape 19"/>
          <p:cNvSpPr/>
          <p:nvPr/>
        </p:nvSpPr>
        <p:spPr>
          <a:xfrm>
            <a:off x="6309360" y="1353312"/>
            <a:ext cx="2743200" cy="1051560"/>
          </a:xfrm>
          <a:prstGeom prst="rect">
            <a:avLst/>
          </a:prstGeom>
          <a:solidFill>
            <a:srgbClr val="034694"/>
          </a:solidFill>
          <a:ln/>
        </p:spPr>
      </p:sp>
      <p:sp>
        <p:nvSpPr>
          <p:cNvPr id="22" name="Text 20"/>
          <p:cNvSpPr/>
          <p:nvPr/>
        </p:nvSpPr>
        <p:spPr>
          <a:xfrm>
            <a:off x="6455664" y="1417320"/>
            <a:ext cx="2450592" cy="292608"/>
          </a:xfrm>
          <a:prstGeom prst="rect">
            <a:avLst/>
          </a:prstGeom>
          <a:noFill/>
          <a:ln/>
        </p:spPr>
        <p:txBody>
          <a:bodyPr wrap="square" lIns="0" tIns="0" rIns="0" bIns="0" rtlCol="0" anchor="ctr"/>
          <a:lstStyle/>
          <a:p>
            <a:pPr indent="0" marL="0">
              <a:buNone/>
            </a:pPr>
            <a:r>
              <a:rPr lang="en-US" sz="1200" b="1" spc="120" kern="0" dirty="0">
                <a:solidFill>
                  <a:srgbClr val="DBA111"/>
                </a:solidFill>
                <a:latin typeface="Calibri" pitchFamily="34" charset="0"/>
                <a:ea typeface="Calibri" pitchFamily="34" charset="-122"/>
                <a:cs typeface="Calibri" pitchFamily="34" charset="-120"/>
              </a:rPr>
              <a:t>WEEK 3</a:t>
            </a:r>
            <a:endParaRPr lang="en-US" sz="1200" dirty="0"/>
          </a:p>
        </p:txBody>
      </p:sp>
      <p:sp>
        <p:nvSpPr>
          <p:cNvPr id="23" name="Text 21"/>
          <p:cNvSpPr/>
          <p:nvPr/>
        </p:nvSpPr>
        <p:spPr>
          <a:xfrm>
            <a:off x="6455664" y="1719072"/>
            <a:ext cx="2450592" cy="530352"/>
          </a:xfrm>
          <a:prstGeom prst="rect">
            <a:avLst/>
          </a:prstGeom>
          <a:noFill/>
          <a:ln/>
        </p:spPr>
        <p:txBody>
          <a:bodyPr wrap="square" lIns="0" tIns="0" rIns="0" bIns="0" rtlCol="0" anchor="ctr"/>
          <a:lstStyle/>
          <a:p>
            <a:pPr indent="0" marL="0">
              <a:buNone/>
            </a:pPr>
            <a:r>
              <a:rPr lang="en-US" sz="1500" b="1" dirty="0">
                <a:solidFill>
                  <a:srgbClr val="FFFFFF"/>
                </a:solidFill>
                <a:latin typeface="Century Gothic" pitchFamily="34" charset="0"/>
                <a:ea typeface="Century Gothic" pitchFamily="34" charset="-122"/>
                <a:cs typeface="Century Gothic" pitchFamily="34" charset="-120"/>
              </a:rPr>
              <a:t>Conversations on the wire</a:t>
            </a:r>
            <a:endParaRPr lang="en-US" sz="1500" dirty="0"/>
          </a:p>
        </p:txBody>
      </p:sp>
      <p:sp>
        <p:nvSpPr>
          <p:cNvPr id="24" name="Text 22"/>
          <p:cNvSpPr/>
          <p:nvPr/>
        </p:nvSpPr>
        <p:spPr>
          <a:xfrm>
            <a:off x="6473952" y="2578608"/>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TCP vs UDP and when each is used</a:t>
            </a:r>
            <a:endParaRPr lang="en-US" sz="1300" dirty="0"/>
          </a:p>
        </p:txBody>
      </p:sp>
      <p:sp>
        <p:nvSpPr>
          <p:cNvPr id="25" name="Text 23"/>
          <p:cNvSpPr/>
          <p:nvPr/>
        </p:nvSpPr>
        <p:spPr>
          <a:xfrm>
            <a:off x="6473952" y="3236976"/>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Common ports (SSH, HTTPS, DNS, AMQP)</a:t>
            </a:r>
            <a:endParaRPr lang="en-US" sz="1300" dirty="0"/>
          </a:p>
        </p:txBody>
      </p:sp>
      <p:sp>
        <p:nvSpPr>
          <p:cNvPr id="26" name="Text 24"/>
          <p:cNvSpPr/>
          <p:nvPr/>
        </p:nvSpPr>
        <p:spPr>
          <a:xfrm>
            <a:off x="6473952" y="3895344"/>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VLAN and NAT as ideas, not configs</a:t>
            </a:r>
            <a:endParaRPr lang="en-US" sz="1300" dirty="0"/>
          </a:p>
        </p:txBody>
      </p:sp>
      <p:sp>
        <p:nvSpPr>
          <p:cNvPr id="27" name="Text 25"/>
          <p:cNvSpPr/>
          <p:nvPr/>
        </p:nvSpPr>
        <p:spPr>
          <a:xfrm>
            <a:off x="6473952" y="4553712"/>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The allowed-path mindset</a:t>
            </a:r>
            <a:endParaRPr lang="en-US" sz="1300" dirty="0"/>
          </a:p>
        </p:txBody>
      </p:sp>
      <p:sp>
        <p:nvSpPr>
          <p:cNvPr id="28" name="Shape 26"/>
          <p:cNvSpPr/>
          <p:nvPr/>
        </p:nvSpPr>
        <p:spPr>
          <a:xfrm>
            <a:off x="9189720" y="1353312"/>
            <a:ext cx="2743200" cy="4160520"/>
          </a:xfrm>
          <a:prstGeom prst="rect">
            <a:avLst/>
          </a:prstGeom>
          <a:solidFill>
            <a:srgbClr val="FFFFFF"/>
          </a:solidFill>
          <a:ln w="12700">
            <a:solidFill>
              <a:srgbClr val="E5E7EB"/>
            </a:solidFill>
            <a:prstDash val="solid"/>
          </a:ln>
        </p:spPr>
      </p:sp>
      <p:sp>
        <p:nvSpPr>
          <p:cNvPr id="29" name="Shape 27"/>
          <p:cNvSpPr/>
          <p:nvPr/>
        </p:nvSpPr>
        <p:spPr>
          <a:xfrm>
            <a:off x="9189720" y="1353312"/>
            <a:ext cx="2743200" cy="1051560"/>
          </a:xfrm>
          <a:prstGeom prst="rect">
            <a:avLst/>
          </a:prstGeom>
          <a:solidFill>
            <a:srgbClr val="034694"/>
          </a:solidFill>
          <a:ln/>
        </p:spPr>
      </p:sp>
      <p:sp>
        <p:nvSpPr>
          <p:cNvPr id="30" name="Text 28"/>
          <p:cNvSpPr/>
          <p:nvPr/>
        </p:nvSpPr>
        <p:spPr>
          <a:xfrm>
            <a:off x="9336024" y="1417320"/>
            <a:ext cx="2450592" cy="292608"/>
          </a:xfrm>
          <a:prstGeom prst="rect">
            <a:avLst/>
          </a:prstGeom>
          <a:noFill/>
          <a:ln/>
        </p:spPr>
        <p:txBody>
          <a:bodyPr wrap="square" lIns="0" tIns="0" rIns="0" bIns="0" rtlCol="0" anchor="ctr"/>
          <a:lstStyle/>
          <a:p>
            <a:pPr indent="0" marL="0">
              <a:buNone/>
            </a:pPr>
            <a:r>
              <a:rPr lang="en-US" sz="1200" b="1" spc="120" kern="0" dirty="0">
                <a:solidFill>
                  <a:srgbClr val="DBA111"/>
                </a:solidFill>
                <a:latin typeface="Calibri" pitchFamily="34" charset="0"/>
                <a:ea typeface="Calibri" pitchFamily="34" charset="-122"/>
                <a:cs typeface="Calibri" pitchFamily="34" charset="-120"/>
              </a:rPr>
              <a:t>WEEK 4</a:t>
            </a:r>
            <a:endParaRPr lang="en-US" sz="1200" dirty="0"/>
          </a:p>
        </p:txBody>
      </p:sp>
      <p:sp>
        <p:nvSpPr>
          <p:cNvPr id="31" name="Text 29"/>
          <p:cNvSpPr/>
          <p:nvPr/>
        </p:nvSpPr>
        <p:spPr>
          <a:xfrm>
            <a:off x="9336024" y="1719072"/>
            <a:ext cx="2450592" cy="530352"/>
          </a:xfrm>
          <a:prstGeom prst="rect">
            <a:avLst/>
          </a:prstGeom>
          <a:noFill/>
          <a:ln/>
        </p:spPr>
        <p:txBody>
          <a:bodyPr wrap="square" lIns="0" tIns="0" rIns="0" bIns="0" rtlCol="0" anchor="ctr"/>
          <a:lstStyle/>
          <a:p>
            <a:pPr indent="0" marL="0">
              <a:buNone/>
            </a:pPr>
            <a:r>
              <a:rPr lang="en-US" sz="1500" b="1" dirty="0">
                <a:solidFill>
                  <a:srgbClr val="FFFFFF"/>
                </a:solidFill>
                <a:latin typeface="Century Gothic" pitchFamily="34" charset="0"/>
                <a:ea typeface="Century Gothic" pitchFamily="34" charset="-122"/>
                <a:cs typeface="Century Gothic" pitchFamily="34" charset="-120"/>
              </a:rPr>
              <a:t>Test before you guess</a:t>
            </a:r>
            <a:endParaRPr lang="en-US" sz="1500" dirty="0"/>
          </a:p>
        </p:txBody>
      </p:sp>
      <p:sp>
        <p:nvSpPr>
          <p:cNvPr id="32" name="Text 30"/>
          <p:cNvSpPr/>
          <p:nvPr/>
        </p:nvSpPr>
        <p:spPr>
          <a:xfrm>
            <a:off x="9354312" y="2578608"/>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Ping, traceroute, and layered evidence</a:t>
            </a:r>
            <a:endParaRPr lang="en-US" sz="1300" dirty="0"/>
          </a:p>
        </p:txBody>
      </p:sp>
      <p:sp>
        <p:nvSpPr>
          <p:cNvPr id="33" name="Text 31"/>
          <p:cNvSpPr/>
          <p:nvPr/>
        </p:nvSpPr>
        <p:spPr>
          <a:xfrm>
            <a:off x="9354312" y="3236976"/>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What “it doesn’t work” is not allowed to mean</a:t>
            </a:r>
            <a:endParaRPr lang="en-US" sz="1300" dirty="0"/>
          </a:p>
        </p:txBody>
      </p:sp>
      <p:sp>
        <p:nvSpPr>
          <p:cNvPr id="34" name="Text 32"/>
          <p:cNvSpPr/>
          <p:nvPr/>
        </p:nvSpPr>
        <p:spPr>
          <a:xfrm>
            <a:off x="9354312" y="3895344"/>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Change control at intern level</a:t>
            </a:r>
            <a:endParaRPr lang="en-US" sz="1300" dirty="0"/>
          </a:p>
        </p:txBody>
      </p:sp>
      <p:sp>
        <p:nvSpPr>
          <p:cNvPr id="35" name="Text 33"/>
          <p:cNvSpPr/>
          <p:nvPr/>
        </p:nvSpPr>
        <p:spPr>
          <a:xfrm>
            <a:off x="9354312" y="4553712"/>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Hold Junos, OSPF, BGP, MPLS, IPsec</a:t>
            </a:r>
            <a:endParaRPr lang="en-US" sz="1300" dirty="0"/>
          </a:p>
        </p:txBody>
      </p:sp>
      <p:sp>
        <p:nvSpPr>
          <p:cNvPr id="36" name="Shape 34"/>
          <p:cNvSpPr/>
          <p:nvPr/>
        </p:nvSpPr>
        <p:spPr>
          <a:xfrm>
            <a:off x="548640" y="6501384"/>
            <a:ext cx="320040" cy="36576"/>
          </a:xfrm>
          <a:prstGeom prst="rect">
            <a:avLst/>
          </a:prstGeom>
          <a:solidFill>
            <a:srgbClr val="DBA111"/>
          </a:solidFill>
          <a:ln/>
        </p:spPr>
      </p:sp>
      <p:sp>
        <p:nvSpPr>
          <p:cNvPr id="37" name="Text 35"/>
          <p:cNvSpPr/>
          <p:nvPr/>
        </p:nvSpPr>
        <p:spPr>
          <a:xfrm>
            <a:off x="960120" y="6382512"/>
            <a:ext cx="6583680" cy="274320"/>
          </a:xfrm>
          <a:prstGeom prst="rect">
            <a:avLst/>
          </a:prstGeom>
          <a:noFill/>
          <a:ln/>
        </p:spPr>
        <p:txBody>
          <a:bodyPr wrap="square" lIns="0" tIns="0" rIns="0" bIns="0" rtlCol="0" anchor="ctr"/>
          <a:lstStyle/>
          <a:p>
            <a:pPr indent="0" marL="0">
              <a:buNone/>
            </a:pPr>
            <a:r>
              <a:rPr lang="en-US" sz="1000" b="1" spc="160" kern="0" dirty="0">
                <a:solidFill>
                  <a:srgbClr val="475569"/>
                </a:solidFill>
                <a:latin typeface="Calibri" pitchFamily="34" charset="0"/>
                <a:ea typeface="Calibri" pitchFamily="34" charset="-122"/>
                <a:cs typeface="Calibri" pitchFamily="34" charset="-120"/>
              </a:rPr>
              <a:t>CISS INTERNSHIP  |  DELIVERY APPROACH</a:t>
            </a:r>
            <a:endParaRPr lang="en-US" sz="1000" dirty="0"/>
          </a:p>
        </p:txBody>
      </p:sp>
      <p:sp>
        <p:nvSpPr>
          <p:cNvPr id="38" name="Text 36"/>
          <p:cNvSpPr/>
          <p:nvPr/>
        </p:nvSpPr>
        <p:spPr>
          <a:xfrm>
            <a:off x="7406640" y="6382512"/>
            <a:ext cx="3291840" cy="274320"/>
          </a:xfrm>
          <a:prstGeom prst="rect">
            <a:avLst/>
          </a:prstGeom>
          <a:noFill/>
          <a:ln/>
        </p:spPr>
        <p:txBody>
          <a:bodyPr wrap="square" lIns="0" tIns="0" rIns="0" bIns="0" rtlCol="0" anchor="ctr"/>
          <a:lstStyle/>
          <a:p>
            <a:pPr algn="r" indent="0" marL="0">
              <a:buNone/>
            </a:pPr>
            <a:r>
              <a:rPr lang="en-US" sz="1000" i="1" dirty="0">
                <a:solidFill>
                  <a:srgbClr val="475569"/>
                </a:solidFill>
                <a:latin typeface="Calibri" pitchFamily="34" charset="0"/>
                <a:ea typeface="Calibri" pitchFamily="34" charset="-122"/>
                <a:cs typeface="Calibri" pitchFamily="34" charset="-120"/>
              </a:rPr>
              <a:t>NET foundation</a:t>
            </a:r>
            <a:endParaRPr lang="en-US" sz="1000" dirty="0"/>
          </a:p>
        </p:txBody>
      </p:sp>
      <p:sp>
        <p:nvSpPr>
          <p:cNvPr id="39" name="Text 37"/>
          <p:cNvSpPr/>
          <p:nvPr/>
        </p:nvSpPr>
        <p:spPr>
          <a:xfrm>
            <a:off x="10835640" y="6382512"/>
            <a:ext cx="777240" cy="274320"/>
          </a:xfrm>
          <a:prstGeom prst="rect">
            <a:avLst/>
          </a:prstGeom>
          <a:noFill/>
          <a:ln/>
        </p:spPr>
        <p:txBody>
          <a:bodyPr wrap="square" lIns="0" tIns="0" rIns="0" bIns="0" rtlCol="0" anchor="ctr"/>
          <a:lstStyle/>
          <a:p>
            <a:pPr algn="r" indent="0" marL="0">
              <a:buNone/>
            </a:pPr>
            <a:r>
              <a:rPr lang="en-US" sz="1200" b="1" dirty="0">
                <a:solidFill>
                  <a:srgbClr val="034694"/>
                </a:solidFill>
                <a:latin typeface="Century Gothic" pitchFamily="34" charset="0"/>
                <a:ea typeface="Century Gothic" pitchFamily="34" charset="-122"/>
                <a:cs typeface="Century Gothic"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256032"/>
          </a:xfrm>
          <a:prstGeom prst="rect">
            <a:avLst/>
          </a:prstGeom>
          <a:noFill/>
          <a:ln/>
        </p:spPr>
        <p:txBody>
          <a:bodyPr wrap="square" lIns="0" tIns="0" rIns="0" bIns="0" rtlCol="0" anchor="ctr"/>
          <a:lstStyle/>
          <a:p>
            <a:pPr indent="0" marL="0">
              <a:buNone/>
            </a:pPr>
            <a:r>
              <a:rPr lang="en-US" sz="1100" b="1" spc="320" kern="0" dirty="0">
                <a:solidFill>
                  <a:srgbClr val="DBA111"/>
                </a:solidFill>
                <a:latin typeface="Calibri" pitchFamily="34" charset="0"/>
                <a:ea typeface="Calibri" pitchFamily="34" charset="-122"/>
                <a:cs typeface="Calibri" pitchFamily="34" charset="-120"/>
              </a:rPr>
              <a:t>FOUNDATION TOPICS  ·  SYSTEM ADMINISTRATION</a:t>
            </a:r>
            <a:endParaRPr lang="en-US" sz="1100" dirty="0"/>
          </a:p>
        </p:txBody>
      </p:sp>
      <p:sp>
        <p:nvSpPr>
          <p:cNvPr id="3" name="Text 1"/>
          <p:cNvSpPr/>
          <p:nvPr/>
        </p:nvSpPr>
        <p:spPr>
          <a:xfrm>
            <a:off x="548640" y="621792"/>
            <a:ext cx="11064240" cy="566928"/>
          </a:xfrm>
          <a:prstGeom prst="rect">
            <a:avLst/>
          </a:prstGeom>
          <a:noFill/>
          <a:ln/>
        </p:spPr>
        <p:txBody>
          <a:bodyPr wrap="square" lIns="0" tIns="0" rIns="0" bIns="0" rtlCol="0" anchor="ctr"/>
          <a:lstStyle/>
          <a:p>
            <a:pPr indent="0" marL="0">
              <a:buNone/>
            </a:pPr>
            <a:r>
              <a:rPr lang="en-US" sz="2600" b="1" dirty="0">
                <a:solidFill>
                  <a:srgbClr val="034694"/>
                </a:solidFill>
                <a:latin typeface="Century Gothic" pitchFamily="34" charset="0"/>
                <a:ea typeface="Century Gothic" pitchFamily="34" charset="-122"/>
                <a:cs typeface="Century Gothic" pitchFamily="34" charset="-120"/>
              </a:rPr>
              <a:t>Four afternoons: the host is the system’s runtime</a:t>
            </a:r>
            <a:endParaRPr lang="en-US" sz="2600" dirty="0"/>
          </a:p>
        </p:txBody>
      </p:sp>
      <p:sp>
        <p:nvSpPr>
          <p:cNvPr id="4" name="Shape 2"/>
          <p:cNvSpPr/>
          <p:nvPr/>
        </p:nvSpPr>
        <p:spPr>
          <a:xfrm>
            <a:off x="548640" y="1353312"/>
            <a:ext cx="2743200" cy="4160520"/>
          </a:xfrm>
          <a:prstGeom prst="rect">
            <a:avLst/>
          </a:prstGeom>
          <a:solidFill>
            <a:srgbClr val="FFFFFF"/>
          </a:solidFill>
          <a:ln w="12700">
            <a:solidFill>
              <a:srgbClr val="E5E7EB"/>
            </a:solidFill>
            <a:prstDash val="solid"/>
          </a:ln>
        </p:spPr>
      </p:sp>
      <p:sp>
        <p:nvSpPr>
          <p:cNvPr id="5" name="Shape 3"/>
          <p:cNvSpPr/>
          <p:nvPr/>
        </p:nvSpPr>
        <p:spPr>
          <a:xfrm>
            <a:off x="548640" y="1353312"/>
            <a:ext cx="2743200" cy="1051560"/>
          </a:xfrm>
          <a:prstGeom prst="rect">
            <a:avLst/>
          </a:prstGeom>
          <a:solidFill>
            <a:srgbClr val="034694"/>
          </a:solidFill>
          <a:ln/>
        </p:spPr>
      </p:sp>
      <p:sp>
        <p:nvSpPr>
          <p:cNvPr id="6" name="Text 4"/>
          <p:cNvSpPr/>
          <p:nvPr/>
        </p:nvSpPr>
        <p:spPr>
          <a:xfrm>
            <a:off x="694944" y="1417320"/>
            <a:ext cx="2450592" cy="292608"/>
          </a:xfrm>
          <a:prstGeom prst="rect">
            <a:avLst/>
          </a:prstGeom>
          <a:noFill/>
          <a:ln/>
        </p:spPr>
        <p:txBody>
          <a:bodyPr wrap="square" lIns="0" tIns="0" rIns="0" bIns="0" rtlCol="0" anchor="ctr"/>
          <a:lstStyle/>
          <a:p>
            <a:pPr indent="0" marL="0">
              <a:buNone/>
            </a:pPr>
            <a:r>
              <a:rPr lang="en-US" sz="1200" b="1" spc="120" kern="0" dirty="0">
                <a:solidFill>
                  <a:srgbClr val="DBA111"/>
                </a:solidFill>
                <a:latin typeface="Calibri" pitchFamily="34" charset="0"/>
                <a:ea typeface="Calibri" pitchFamily="34" charset="-122"/>
                <a:cs typeface="Calibri" pitchFamily="34" charset="-120"/>
              </a:rPr>
              <a:t>WEEK 1</a:t>
            </a:r>
            <a:endParaRPr lang="en-US" sz="1200" dirty="0"/>
          </a:p>
        </p:txBody>
      </p:sp>
      <p:sp>
        <p:nvSpPr>
          <p:cNvPr id="7" name="Text 5"/>
          <p:cNvSpPr/>
          <p:nvPr/>
        </p:nvSpPr>
        <p:spPr>
          <a:xfrm>
            <a:off x="694944" y="1719072"/>
            <a:ext cx="2450592" cy="530352"/>
          </a:xfrm>
          <a:prstGeom prst="rect">
            <a:avLst/>
          </a:prstGeom>
          <a:noFill/>
          <a:ln/>
        </p:spPr>
        <p:txBody>
          <a:bodyPr wrap="square" lIns="0" tIns="0" rIns="0" bIns="0" rtlCol="0" anchor="ctr"/>
          <a:lstStyle/>
          <a:p>
            <a:pPr indent="0" marL="0">
              <a:buNone/>
            </a:pPr>
            <a:r>
              <a:rPr lang="en-US" sz="1500" b="1" dirty="0">
                <a:solidFill>
                  <a:srgbClr val="FFFFFF"/>
                </a:solidFill>
                <a:latin typeface="Century Gothic" pitchFamily="34" charset="0"/>
                <a:ea typeface="Century Gothic" pitchFamily="34" charset="-122"/>
                <a:cs typeface="Century Gothic" pitchFamily="34" charset="-120"/>
              </a:rPr>
              <a:t>Linux on a VM</a:t>
            </a:r>
            <a:endParaRPr lang="en-US" sz="1500" dirty="0"/>
          </a:p>
        </p:txBody>
      </p:sp>
      <p:sp>
        <p:nvSpPr>
          <p:cNvPr id="8" name="Text 6"/>
          <p:cNvSpPr/>
          <p:nvPr/>
        </p:nvSpPr>
        <p:spPr>
          <a:xfrm>
            <a:off x="713232" y="2578608"/>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RHEL-class guests, not Docker-first</a:t>
            </a:r>
            <a:endParaRPr lang="en-US" sz="1300" dirty="0"/>
          </a:p>
        </p:txBody>
      </p:sp>
      <p:sp>
        <p:nvSpPr>
          <p:cNvPr id="9" name="Text 7"/>
          <p:cNvSpPr/>
          <p:nvPr/>
        </p:nvSpPr>
        <p:spPr>
          <a:xfrm>
            <a:off x="713232" y="3236976"/>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Filesystem, users, processes</a:t>
            </a:r>
            <a:endParaRPr lang="en-US" sz="1300" dirty="0"/>
          </a:p>
        </p:txBody>
      </p:sp>
      <p:sp>
        <p:nvSpPr>
          <p:cNvPr id="10" name="Text 8"/>
          <p:cNvSpPr/>
          <p:nvPr/>
        </p:nvSpPr>
        <p:spPr>
          <a:xfrm>
            <a:off x="713232" y="3895344"/>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systemctl and what a service is</a:t>
            </a:r>
            <a:endParaRPr lang="en-US" sz="1300" dirty="0"/>
          </a:p>
        </p:txBody>
      </p:sp>
      <p:sp>
        <p:nvSpPr>
          <p:cNvPr id="11" name="Text 9"/>
          <p:cNvSpPr/>
          <p:nvPr/>
        </p:nvSpPr>
        <p:spPr>
          <a:xfrm>
            <a:off x="713232" y="4553712"/>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Least privilege as a habit</a:t>
            </a:r>
            <a:endParaRPr lang="en-US" sz="1300" dirty="0"/>
          </a:p>
        </p:txBody>
      </p:sp>
      <p:sp>
        <p:nvSpPr>
          <p:cNvPr id="12" name="Shape 10"/>
          <p:cNvSpPr/>
          <p:nvPr/>
        </p:nvSpPr>
        <p:spPr>
          <a:xfrm>
            <a:off x="3429000" y="1353312"/>
            <a:ext cx="2743200" cy="4160520"/>
          </a:xfrm>
          <a:prstGeom prst="rect">
            <a:avLst/>
          </a:prstGeom>
          <a:solidFill>
            <a:srgbClr val="FFFFFF"/>
          </a:solidFill>
          <a:ln w="12700">
            <a:solidFill>
              <a:srgbClr val="E5E7EB"/>
            </a:solidFill>
            <a:prstDash val="solid"/>
          </a:ln>
        </p:spPr>
      </p:sp>
      <p:sp>
        <p:nvSpPr>
          <p:cNvPr id="13" name="Shape 11"/>
          <p:cNvSpPr/>
          <p:nvPr/>
        </p:nvSpPr>
        <p:spPr>
          <a:xfrm>
            <a:off x="3429000" y="1353312"/>
            <a:ext cx="2743200" cy="1051560"/>
          </a:xfrm>
          <a:prstGeom prst="rect">
            <a:avLst/>
          </a:prstGeom>
          <a:solidFill>
            <a:srgbClr val="034694"/>
          </a:solidFill>
          <a:ln/>
        </p:spPr>
      </p:sp>
      <p:sp>
        <p:nvSpPr>
          <p:cNvPr id="14" name="Text 12"/>
          <p:cNvSpPr/>
          <p:nvPr/>
        </p:nvSpPr>
        <p:spPr>
          <a:xfrm>
            <a:off x="3575304" y="1417320"/>
            <a:ext cx="2450592" cy="292608"/>
          </a:xfrm>
          <a:prstGeom prst="rect">
            <a:avLst/>
          </a:prstGeom>
          <a:noFill/>
          <a:ln/>
        </p:spPr>
        <p:txBody>
          <a:bodyPr wrap="square" lIns="0" tIns="0" rIns="0" bIns="0" rtlCol="0" anchor="ctr"/>
          <a:lstStyle/>
          <a:p>
            <a:pPr indent="0" marL="0">
              <a:buNone/>
            </a:pPr>
            <a:r>
              <a:rPr lang="en-US" sz="1200" b="1" spc="120" kern="0" dirty="0">
                <a:solidFill>
                  <a:srgbClr val="DBA111"/>
                </a:solidFill>
                <a:latin typeface="Calibri" pitchFamily="34" charset="0"/>
                <a:ea typeface="Calibri" pitchFamily="34" charset="-122"/>
                <a:cs typeface="Calibri" pitchFamily="34" charset="-120"/>
              </a:rPr>
              <a:t>WEEK 2</a:t>
            </a:r>
            <a:endParaRPr lang="en-US" sz="1200" dirty="0"/>
          </a:p>
        </p:txBody>
      </p:sp>
      <p:sp>
        <p:nvSpPr>
          <p:cNvPr id="15" name="Text 13"/>
          <p:cNvSpPr/>
          <p:nvPr/>
        </p:nvSpPr>
        <p:spPr>
          <a:xfrm>
            <a:off x="3575304" y="1719072"/>
            <a:ext cx="2450592" cy="530352"/>
          </a:xfrm>
          <a:prstGeom prst="rect">
            <a:avLst/>
          </a:prstGeom>
          <a:noFill/>
          <a:ln/>
        </p:spPr>
        <p:txBody>
          <a:bodyPr wrap="square" lIns="0" tIns="0" rIns="0" bIns="0" rtlCol="0" anchor="ctr"/>
          <a:lstStyle/>
          <a:p>
            <a:pPr indent="0" marL="0">
              <a:buNone/>
            </a:pPr>
            <a:r>
              <a:rPr lang="en-US" sz="1500" b="1" dirty="0">
                <a:solidFill>
                  <a:srgbClr val="FFFFFF"/>
                </a:solidFill>
                <a:latin typeface="Century Gothic" pitchFamily="34" charset="0"/>
                <a:ea typeface="Century Gothic" pitchFamily="34" charset="-122"/>
                <a:cs typeface="Century Gothic" pitchFamily="34" charset="-120"/>
              </a:rPr>
              <a:t>See what the machine is doing</a:t>
            </a:r>
            <a:endParaRPr lang="en-US" sz="1500" dirty="0"/>
          </a:p>
        </p:txBody>
      </p:sp>
      <p:sp>
        <p:nvSpPr>
          <p:cNvPr id="16" name="Text 14"/>
          <p:cNvSpPr/>
          <p:nvPr/>
        </p:nvSpPr>
        <p:spPr>
          <a:xfrm>
            <a:off x="3593592" y="2578608"/>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Logs, journalctl, and reading without drowning</a:t>
            </a:r>
            <a:endParaRPr lang="en-US" sz="1300" dirty="0"/>
          </a:p>
        </p:txBody>
      </p:sp>
      <p:sp>
        <p:nvSpPr>
          <p:cNvPr id="17" name="Text 15"/>
          <p:cNvSpPr/>
          <p:nvPr/>
        </p:nvSpPr>
        <p:spPr>
          <a:xfrm>
            <a:off x="3593592" y="3236976"/>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Symptom → hypothesis → test</a:t>
            </a:r>
            <a:endParaRPr lang="en-US" sz="1300" dirty="0"/>
          </a:p>
        </p:txBody>
      </p:sp>
      <p:sp>
        <p:nvSpPr>
          <p:cNvPr id="18" name="Text 16"/>
          <p:cNvSpPr/>
          <p:nvPr/>
        </p:nvSpPr>
        <p:spPr>
          <a:xfrm>
            <a:off x="3593592" y="3895344"/>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Tickets: incident vs change vs request</a:t>
            </a:r>
            <a:endParaRPr lang="en-US" sz="1300" dirty="0"/>
          </a:p>
        </p:txBody>
      </p:sp>
      <p:sp>
        <p:nvSpPr>
          <p:cNvPr id="19" name="Text 17"/>
          <p:cNvSpPr/>
          <p:nvPr/>
        </p:nvSpPr>
        <p:spPr>
          <a:xfrm>
            <a:off x="3593592" y="4553712"/>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Evidence packs a peer can reuse</a:t>
            </a:r>
            <a:endParaRPr lang="en-US" sz="1300" dirty="0"/>
          </a:p>
        </p:txBody>
      </p:sp>
      <p:sp>
        <p:nvSpPr>
          <p:cNvPr id="20" name="Shape 18"/>
          <p:cNvSpPr/>
          <p:nvPr/>
        </p:nvSpPr>
        <p:spPr>
          <a:xfrm>
            <a:off x="6309360" y="1353312"/>
            <a:ext cx="2743200" cy="4160520"/>
          </a:xfrm>
          <a:prstGeom prst="rect">
            <a:avLst/>
          </a:prstGeom>
          <a:solidFill>
            <a:srgbClr val="FFFFFF"/>
          </a:solidFill>
          <a:ln w="12700">
            <a:solidFill>
              <a:srgbClr val="E5E7EB"/>
            </a:solidFill>
            <a:prstDash val="solid"/>
          </a:ln>
        </p:spPr>
      </p:sp>
      <p:sp>
        <p:nvSpPr>
          <p:cNvPr id="21" name="Shape 19"/>
          <p:cNvSpPr/>
          <p:nvPr/>
        </p:nvSpPr>
        <p:spPr>
          <a:xfrm>
            <a:off x="6309360" y="1353312"/>
            <a:ext cx="2743200" cy="1051560"/>
          </a:xfrm>
          <a:prstGeom prst="rect">
            <a:avLst/>
          </a:prstGeom>
          <a:solidFill>
            <a:srgbClr val="034694"/>
          </a:solidFill>
          <a:ln/>
        </p:spPr>
      </p:sp>
      <p:sp>
        <p:nvSpPr>
          <p:cNvPr id="22" name="Text 20"/>
          <p:cNvSpPr/>
          <p:nvPr/>
        </p:nvSpPr>
        <p:spPr>
          <a:xfrm>
            <a:off x="6455664" y="1417320"/>
            <a:ext cx="2450592" cy="292608"/>
          </a:xfrm>
          <a:prstGeom prst="rect">
            <a:avLst/>
          </a:prstGeom>
          <a:noFill/>
          <a:ln/>
        </p:spPr>
        <p:txBody>
          <a:bodyPr wrap="square" lIns="0" tIns="0" rIns="0" bIns="0" rtlCol="0" anchor="ctr"/>
          <a:lstStyle/>
          <a:p>
            <a:pPr indent="0" marL="0">
              <a:buNone/>
            </a:pPr>
            <a:r>
              <a:rPr lang="en-US" sz="1200" b="1" spc="120" kern="0" dirty="0">
                <a:solidFill>
                  <a:srgbClr val="DBA111"/>
                </a:solidFill>
                <a:latin typeface="Calibri" pitchFamily="34" charset="0"/>
                <a:ea typeface="Calibri" pitchFamily="34" charset="-122"/>
                <a:cs typeface="Calibri" pitchFamily="34" charset="-120"/>
              </a:rPr>
              <a:t>WEEK 3</a:t>
            </a:r>
            <a:endParaRPr lang="en-US" sz="1200" dirty="0"/>
          </a:p>
        </p:txBody>
      </p:sp>
      <p:sp>
        <p:nvSpPr>
          <p:cNvPr id="23" name="Text 21"/>
          <p:cNvSpPr/>
          <p:nvPr/>
        </p:nvSpPr>
        <p:spPr>
          <a:xfrm>
            <a:off x="6455664" y="1719072"/>
            <a:ext cx="2450592" cy="530352"/>
          </a:xfrm>
          <a:prstGeom prst="rect">
            <a:avLst/>
          </a:prstGeom>
          <a:noFill/>
          <a:ln/>
        </p:spPr>
        <p:txBody>
          <a:bodyPr wrap="square" lIns="0" tIns="0" rIns="0" bIns="0" rtlCol="0" anchor="ctr"/>
          <a:lstStyle/>
          <a:p>
            <a:pPr indent="0" marL="0">
              <a:buNone/>
            </a:pPr>
            <a:r>
              <a:rPr lang="en-US" sz="1500" b="1" dirty="0">
                <a:solidFill>
                  <a:srgbClr val="FFFFFF"/>
                </a:solidFill>
                <a:latin typeface="Century Gothic" pitchFamily="34" charset="0"/>
                <a:ea typeface="Century Gothic" pitchFamily="34" charset="-122"/>
                <a:cs typeface="Century Gothic" pitchFamily="34" charset="-120"/>
              </a:rPr>
              <a:t>Software on the host</a:t>
            </a:r>
            <a:endParaRPr lang="en-US" sz="1500" dirty="0"/>
          </a:p>
        </p:txBody>
      </p:sp>
      <p:sp>
        <p:nvSpPr>
          <p:cNvPr id="24" name="Text 22"/>
          <p:cNvSpPr/>
          <p:nvPr/>
        </p:nvSpPr>
        <p:spPr>
          <a:xfrm>
            <a:off x="6473952" y="2578608"/>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Packages: what gets installed, and from where</a:t>
            </a:r>
            <a:endParaRPr lang="en-US" sz="1300" dirty="0"/>
          </a:p>
        </p:txBody>
      </p:sp>
      <p:sp>
        <p:nvSpPr>
          <p:cNvPr id="25" name="Text 23"/>
          <p:cNvSpPr/>
          <p:nvPr/>
        </p:nvSpPr>
        <p:spPr>
          <a:xfrm>
            <a:off x="6473952" y="3236976"/>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Why “works on my laptop” is not a deployment</a:t>
            </a:r>
            <a:endParaRPr lang="en-US" sz="1300" dirty="0"/>
          </a:p>
        </p:txBody>
      </p:sp>
      <p:sp>
        <p:nvSpPr>
          <p:cNvPr id="26" name="Text 24"/>
          <p:cNvSpPr/>
          <p:nvPr/>
        </p:nvSpPr>
        <p:spPr>
          <a:xfrm>
            <a:off x="6473952" y="3895344"/>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Secrets never live in Git or a screenshot</a:t>
            </a:r>
            <a:endParaRPr lang="en-US" sz="1300" dirty="0"/>
          </a:p>
        </p:txBody>
      </p:sp>
      <p:sp>
        <p:nvSpPr>
          <p:cNvPr id="27" name="Text 25"/>
          <p:cNvSpPr/>
          <p:nvPr/>
        </p:nvSpPr>
        <p:spPr>
          <a:xfrm>
            <a:off x="6473952" y="4553712"/>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Backup and snapshot as ideas</a:t>
            </a:r>
            <a:endParaRPr lang="en-US" sz="1300" dirty="0"/>
          </a:p>
        </p:txBody>
      </p:sp>
      <p:sp>
        <p:nvSpPr>
          <p:cNvPr id="28" name="Shape 26"/>
          <p:cNvSpPr/>
          <p:nvPr/>
        </p:nvSpPr>
        <p:spPr>
          <a:xfrm>
            <a:off x="9189720" y="1353312"/>
            <a:ext cx="2743200" cy="4160520"/>
          </a:xfrm>
          <a:prstGeom prst="rect">
            <a:avLst/>
          </a:prstGeom>
          <a:solidFill>
            <a:srgbClr val="FFFFFF"/>
          </a:solidFill>
          <a:ln w="12700">
            <a:solidFill>
              <a:srgbClr val="E5E7EB"/>
            </a:solidFill>
            <a:prstDash val="solid"/>
          </a:ln>
        </p:spPr>
      </p:sp>
      <p:sp>
        <p:nvSpPr>
          <p:cNvPr id="29" name="Shape 27"/>
          <p:cNvSpPr/>
          <p:nvPr/>
        </p:nvSpPr>
        <p:spPr>
          <a:xfrm>
            <a:off x="9189720" y="1353312"/>
            <a:ext cx="2743200" cy="1051560"/>
          </a:xfrm>
          <a:prstGeom prst="rect">
            <a:avLst/>
          </a:prstGeom>
          <a:solidFill>
            <a:srgbClr val="034694"/>
          </a:solidFill>
          <a:ln/>
        </p:spPr>
      </p:sp>
      <p:sp>
        <p:nvSpPr>
          <p:cNvPr id="30" name="Text 28"/>
          <p:cNvSpPr/>
          <p:nvPr/>
        </p:nvSpPr>
        <p:spPr>
          <a:xfrm>
            <a:off x="9336024" y="1417320"/>
            <a:ext cx="2450592" cy="292608"/>
          </a:xfrm>
          <a:prstGeom prst="rect">
            <a:avLst/>
          </a:prstGeom>
          <a:noFill/>
          <a:ln/>
        </p:spPr>
        <p:txBody>
          <a:bodyPr wrap="square" lIns="0" tIns="0" rIns="0" bIns="0" rtlCol="0" anchor="ctr"/>
          <a:lstStyle/>
          <a:p>
            <a:pPr indent="0" marL="0">
              <a:buNone/>
            </a:pPr>
            <a:r>
              <a:rPr lang="en-US" sz="1200" b="1" spc="120" kern="0" dirty="0">
                <a:solidFill>
                  <a:srgbClr val="DBA111"/>
                </a:solidFill>
                <a:latin typeface="Calibri" pitchFamily="34" charset="0"/>
                <a:ea typeface="Calibri" pitchFamily="34" charset="-122"/>
                <a:cs typeface="Calibri" pitchFamily="34" charset="-120"/>
              </a:rPr>
              <a:t>WEEK 4</a:t>
            </a:r>
            <a:endParaRPr lang="en-US" sz="1200" dirty="0"/>
          </a:p>
        </p:txBody>
      </p:sp>
      <p:sp>
        <p:nvSpPr>
          <p:cNvPr id="31" name="Text 29"/>
          <p:cNvSpPr/>
          <p:nvPr/>
        </p:nvSpPr>
        <p:spPr>
          <a:xfrm>
            <a:off x="9336024" y="1719072"/>
            <a:ext cx="2450592" cy="530352"/>
          </a:xfrm>
          <a:prstGeom prst="rect">
            <a:avLst/>
          </a:prstGeom>
          <a:noFill/>
          <a:ln/>
        </p:spPr>
        <p:txBody>
          <a:bodyPr wrap="square" lIns="0" tIns="0" rIns="0" bIns="0" rtlCol="0" anchor="ctr"/>
          <a:lstStyle/>
          <a:p>
            <a:pPr indent="0" marL="0">
              <a:buNone/>
            </a:pPr>
            <a:r>
              <a:rPr lang="en-US" sz="1500" b="1" dirty="0">
                <a:solidFill>
                  <a:srgbClr val="FFFFFF"/>
                </a:solidFill>
                <a:latin typeface="Century Gothic" pitchFamily="34" charset="0"/>
                <a:ea typeface="Century Gothic" pitchFamily="34" charset="-122"/>
                <a:cs typeface="Century Gothic" pitchFamily="34" charset="-120"/>
              </a:rPr>
              <a:t>Trust and identity</a:t>
            </a:r>
            <a:endParaRPr lang="en-US" sz="1500" dirty="0"/>
          </a:p>
        </p:txBody>
      </p:sp>
      <p:sp>
        <p:nvSpPr>
          <p:cNvPr id="32" name="Text 30"/>
          <p:cNvSpPr/>
          <p:nvPr/>
        </p:nvSpPr>
        <p:spPr>
          <a:xfrm>
            <a:off x="9354312" y="2578608"/>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What a certificate is, in one page</a:t>
            </a:r>
            <a:endParaRPr lang="en-US" sz="1300" dirty="0"/>
          </a:p>
        </p:txBody>
      </p:sp>
      <p:sp>
        <p:nvSpPr>
          <p:cNvPr id="33" name="Text 31"/>
          <p:cNvSpPr/>
          <p:nvPr/>
        </p:nvSpPr>
        <p:spPr>
          <a:xfrm>
            <a:off x="9354312" y="3236976"/>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Why every box should not have its own password file</a:t>
            </a:r>
            <a:endParaRPr lang="en-US" sz="1300" dirty="0"/>
          </a:p>
        </p:txBody>
      </p:sp>
      <p:sp>
        <p:nvSpPr>
          <p:cNvPr id="34" name="Text 32"/>
          <p:cNvSpPr/>
          <p:nvPr/>
        </p:nvSpPr>
        <p:spPr>
          <a:xfrm>
            <a:off x="9354312" y="3895344"/>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How admin work shows up in SE V&amp;V</a:t>
            </a:r>
            <a:endParaRPr lang="en-US" sz="1300" dirty="0"/>
          </a:p>
        </p:txBody>
      </p:sp>
      <p:sp>
        <p:nvSpPr>
          <p:cNvPr id="35" name="Text 33"/>
          <p:cNvSpPr/>
          <p:nvPr/>
        </p:nvSpPr>
        <p:spPr>
          <a:xfrm>
            <a:off x="9354312" y="4553712"/>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Hold FreeIPA, vSAN, Ansible, NFS Kerberos</a:t>
            </a:r>
            <a:endParaRPr lang="en-US" sz="1300" dirty="0"/>
          </a:p>
        </p:txBody>
      </p:sp>
      <p:sp>
        <p:nvSpPr>
          <p:cNvPr id="36" name="Shape 34"/>
          <p:cNvSpPr/>
          <p:nvPr/>
        </p:nvSpPr>
        <p:spPr>
          <a:xfrm>
            <a:off x="548640" y="6501384"/>
            <a:ext cx="320040" cy="36576"/>
          </a:xfrm>
          <a:prstGeom prst="rect">
            <a:avLst/>
          </a:prstGeom>
          <a:solidFill>
            <a:srgbClr val="DBA111"/>
          </a:solidFill>
          <a:ln/>
        </p:spPr>
      </p:sp>
      <p:sp>
        <p:nvSpPr>
          <p:cNvPr id="37" name="Text 35"/>
          <p:cNvSpPr/>
          <p:nvPr/>
        </p:nvSpPr>
        <p:spPr>
          <a:xfrm>
            <a:off x="960120" y="6382512"/>
            <a:ext cx="6583680" cy="274320"/>
          </a:xfrm>
          <a:prstGeom prst="rect">
            <a:avLst/>
          </a:prstGeom>
          <a:noFill/>
          <a:ln/>
        </p:spPr>
        <p:txBody>
          <a:bodyPr wrap="square" lIns="0" tIns="0" rIns="0" bIns="0" rtlCol="0" anchor="ctr"/>
          <a:lstStyle/>
          <a:p>
            <a:pPr indent="0" marL="0">
              <a:buNone/>
            </a:pPr>
            <a:r>
              <a:rPr lang="en-US" sz="1000" b="1" spc="160" kern="0" dirty="0">
                <a:solidFill>
                  <a:srgbClr val="475569"/>
                </a:solidFill>
                <a:latin typeface="Calibri" pitchFamily="34" charset="0"/>
                <a:ea typeface="Calibri" pitchFamily="34" charset="-122"/>
                <a:cs typeface="Calibri" pitchFamily="34" charset="-120"/>
              </a:rPr>
              <a:t>CISS INTERNSHIP  |  DELIVERY APPROACH</a:t>
            </a:r>
            <a:endParaRPr lang="en-US" sz="1000" dirty="0"/>
          </a:p>
        </p:txBody>
      </p:sp>
      <p:sp>
        <p:nvSpPr>
          <p:cNvPr id="38" name="Text 36"/>
          <p:cNvSpPr/>
          <p:nvPr/>
        </p:nvSpPr>
        <p:spPr>
          <a:xfrm>
            <a:off x="7406640" y="6382512"/>
            <a:ext cx="3291840" cy="274320"/>
          </a:xfrm>
          <a:prstGeom prst="rect">
            <a:avLst/>
          </a:prstGeom>
          <a:noFill/>
          <a:ln/>
        </p:spPr>
        <p:txBody>
          <a:bodyPr wrap="square" lIns="0" tIns="0" rIns="0" bIns="0" rtlCol="0" anchor="ctr"/>
          <a:lstStyle/>
          <a:p>
            <a:pPr algn="r" indent="0" marL="0">
              <a:buNone/>
            </a:pPr>
            <a:r>
              <a:rPr lang="en-US" sz="1000" i="1" dirty="0">
                <a:solidFill>
                  <a:srgbClr val="475569"/>
                </a:solidFill>
                <a:latin typeface="Calibri" pitchFamily="34" charset="0"/>
                <a:ea typeface="Calibri" pitchFamily="34" charset="-122"/>
                <a:cs typeface="Calibri" pitchFamily="34" charset="-120"/>
              </a:rPr>
              <a:t>Admin foundation</a:t>
            </a:r>
            <a:endParaRPr lang="en-US" sz="1000" dirty="0"/>
          </a:p>
        </p:txBody>
      </p:sp>
      <p:sp>
        <p:nvSpPr>
          <p:cNvPr id="39" name="Text 37"/>
          <p:cNvSpPr/>
          <p:nvPr/>
        </p:nvSpPr>
        <p:spPr>
          <a:xfrm>
            <a:off x="10835640" y="6382512"/>
            <a:ext cx="777240" cy="274320"/>
          </a:xfrm>
          <a:prstGeom prst="rect">
            <a:avLst/>
          </a:prstGeom>
          <a:noFill/>
          <a:ln/>
        </p:spPr>
        <p:txBody>
          <a:bodyPr wrap="square" lIns="0" tIns="0" rIns="0" bIns="0" rtlCol="0" anchor="ctr"/>
          <a:lstStyle/>
          <a:p>
            <a:pPr algn="r" indent="0" marL="0">
              <a:buNone/>
            </a:pPr>
            <a:r>
              <a:rPr lang="en-US" sz="1200" b="1" dirty="0">
                <a:solidFill>
                  <a:srgbClr val="034694"/>
                </a:solidFill>
                <a:latin typeface="Century Gothic" pitchFamily="34" charset="0"/>
                <a:ea typeface="Century Gothic" pitchFamily="34" charset="-122"/>
                <a:cs typeface="Century Gothic"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256032"/>
          </a:xfrm>
          <a:prstGeom prst="rect">
            <a:avLst/>
          </a:prstGeom>
          <a:noFill/>
          <a:ln/>
        </p:spPr>
        <p:txBody>
          <a:bodyPr wrap="square" lIns="0" tIns="0" rIns="0" bIns="0" rtlCol="0" anchor="ctr"/>
          <a:lstStyle/>
          <a:p>
            <a:pPr indent="0" marL="0">
              <a:buNone/>
            </a:pPr>
            <a:r>
              <a:rPr lang="en-US" sz="1100" b="1" spc="320" kern="0" dirty="0">
                <a:solidFill>
                  <a:srgbClr val="DBA111"/>
                </a:solidFill>
                <a:latin typeface="Calibri" pitchFamily="34" charset="0"/>
                <a:ea typeface="Calibri" pitchFamily="34" charset="-122"/>
                <a:cs typeface="Calibri" pitchFamily="34" charset="-120"/>
              </a:rPr>
              <a:t>FOUNDATION TOPICS  ·  SOFTWARE DEVELOPMENT</a:t>
            </a:r>
            <a:endParaRPr lang="en-US" sz="1100" dirty="0"/>
          </a:p>
        </p:txBody>
      </p:sp>
      <p:sp>
        <p:nvSpPr>
          <p:cNvPr id="3" name="Text 1"/>
          <p:cNvSpPr/>
          <p:nvPr/>
        </p:nvSpPr>
        <p:spPr>
          <a:xfrm>
            <a:off x="548640" y="621792"/>
            <a:ext cx="11064240" cy="566928"/>
          </a:xfrm>
          <a:prstGeom prst="rect">
            <a:avLst/>
          </a:prstGeom>
          <a:noFill/>
          <a:ln/>
        </p:spPr>
        <p:txBody>
          <a:bodyPr wrap="square" lIns="0" tIns="0" rIns="0" bIns="0" rtlCol="0" anchor="ctr"/>
          <a:lstStyle/>
          <a:p>
            <a:pPr indent="0" marL="0">
              <a:buNone/>
            </a:pPr>
            <a:r>
              <a:rPr lang="en-US" sz="2600" b="1" dirty="0">
                <a:solidFill>
                  <a:srgbClr val="034694"/>
                </a:solidFill>
                <a:latin typeface="Century Gothic" pitchFamily="34" charset="0"/>
                <a:ea typeface="Century Gothic" pitchFamily="34" charset="-122"/>
                <a:cs typeface="Century Gothic" pitchFamily="34" charset="-120"/>
              </a:rPr>
              <a:t>Four afternoons: change control, then how software talks</a:t>
            </a:r>
            <a:endParaRPr lang="en-US" sz="2600" dirty="0"/>
          </a:p>
        </p:txBody>
      </p:sp>
      <p:sp>
        <p:nvSpPr>
          <p:cNvPr id="4" name="Shape 2"/>
          <p:cNvSpPr/>
          <p:nvPr/>
        </p:nvSpPr>
        <p:spPr>
          <a:xfrm>
            <a:off x="548640" y="1353312"/>
            <a:ext cx="2743200" cy="4160520"/>
          </a:xfrm>
          <a:prstGeom prst="rect">
            <a:avLst/>
          </a:prstGeom>
          <a:solidFill>
            <a:srgbClr val="FFFFFF"/>
          </a:solidFill>
          <a:ln w="12700">
            <a:solidFill>
              <a:srgbClr val="E5E7EB"/>
            </a:solidFill>
            <a:prstDash val="solid"/>
          </a:ln>
        </p:spPr>
      </p:sp>
      <p:sp>
        <p:nvSpPr>
          <p:cNvPr id="5" name="Shape 3"/>
          <p:cNvSpPr/>
          <p:nvPr/>
        </p:nvSpPr>
        <p:spPr>
          <a:xfrm>
            <a:off x="548640" y="1353312"/>
            <a:ext cx="2743200" cy="1051560"/>
          </a:xfrm>
          <a:prstGeom prst="rect">
            <a:avLst/>
          </a:prstGeom>
          <a:solidFill>
            <a:srgbClr val="034694"/>
          </a:solidFill>
          <a:ln/>
        </p:spPr>
      </p:sp>
      <p:sp>
        <p:nvSpPr>
          <p:cNvPr id="6" name="Text 4"/>
          <p:cNvSpPr/>
          <p:nvPr/>
        </p:nvSpPr>
        <p:spPr>
          <a:xfrm>
            <a:off x="694944" y="1417320"/>
            <a:ext cx="2450592" cy="292608"/>
          </a:xfrm>
          <a:prstGeom prst="rect">
            <a:avLst/>
          </a:prstGeom>
          <a:noFill/>
          <a:ln/>
        </p:spPr>
        <p:txBody>
          <a:bodyPr wrap="square" lIns="0" tIns="0" rIns="0" bIns="0" rtlCol="0" anchor="ctr"/>
          <a:lstStyle/>
          <a:p>
            <a:pPr indent="0" marL="0">
              <a:buNone/>
            </a:pPr>
            <a:r>
              <a:rPr lang="en-US" sz="1200" b="1" spc="120" kern="0" dirty="0">
                <a:solidFill>
                  <a:srgbClr val="DBA111"/>
                </a:solidFill>
                <a:latin typeface="Calibri" pitchFamily="34" charset="0"/>
                <a:ea typeface="Calibri" pitchFamily="34" charset="-122"/>
                <a:cs typeface="Calibri" pitchFamily="34" charset="-120"/>
              </a:rPr>
              <a:t>WEEK 1</a:t>
            </a:r>
            <a:endParaRPr lang="en-US" sz="1200" dirty="0"/>
          </a:p>
        </p:txBody>
      </p:sp>
      <p:sp>
        <p:nvSpPr>
          <p:cNvPr id="7" name="Text 5"/>
          <p:cNvSpPr/>
          <p:nvPr/>
        </p:nvSpPr>
        <p:spPr>
          <a:xfrm>
            <a:off x="694944" y="1719072"/>
            <a:ext cx="2450592" cy="530352"/>
          </a:xfrm>
          <a:prstGeom prst="rect">
            <a:avLst/>
          </a:prstGeom>
          <a:noFill/>
          <a:ln/>
        </p:spPr>
        <p:txBody>
          <a:bodyPr wrap="square" lIns="0" tIns="0" rIns="0" bIns="0" rtlCol="0" anchor="ctr"/>
          <a:lstStyle/>
          <a:p>
            <a:pPr indent="0" marL="0">
              <a:buNone/>
            </a:pPr>
            <a:r>
              <a:rPr lang="en-US" sz="1500" b="1" dirty="0">
                <a:solidFill>
                  <a:srgbClr val="FFFFFF"/>
                </a:solidFill>
                <a:latin typeface="Century Gothic" pitchFamily="34" charset="0"/>
                <a:ea typeface="Century Gothic" pitchFamily="34" charset="-122"/>
                <a:cs typeface="Century Gothic" pitchFamily="34" charset="-120"/>
              </a:rPr>
              <a:t>Git as daily craft</a:t>
            </a:r>
            <a:endParaRPr lang="en-US" sz="1500" dirty="0"/>
          </a:p>
        </p:txBody>
      </p:sp>
      <p:sp>
        <p:nvSpPr>
          <p:cNvPr id="8" name="Text 6"/>
          <p:cNvSpPr/>
          <p:nvPr/>
        </p:nvSpPr>
        <p:spPr>
          <a:xfrm>
            <a:off x="713232" y="2578608"/>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Clone, branch, commit, push</a:t>
            </a:r>
            <a:endParaRPr lang="en-US" sz="1300" dirty="0"/>
          </a:p>
        </p:txBody>
      </p:sp>
      <p:sp>
        <p:nvSpPr>
          <p:cNvPr id="9" name="Text 7"/>
          <p:cNvSpPr/>
          <p:nvPr/>
        </p:nvSpPr>
        <p:spPr>
          <a:xfrm>
            <a:off x="713232" y="3236976"/>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History you would not be ashamed of</a:t>
            </a:r>
            <a:endParaRPr lang="en-US" sz="1300" dirty="0"/>
          </a:p>
        </p:txBody>
      </p:sp>
      <p:sp>
        <p:nvSpPr>
          <p:cNvPr id="10" name="Text 8"/>
          <p:cNvSpPr/>
          <p:nvPr/>
        </p:nvSpPr>
        <p:spPr>
          <a:xfrm>
            <a:off x="713232" y="3895344"/>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Recovery without destroying the repo</a:t>
            </a:r>
            <a:endParaRPr lang="en-US" sz="1300" dirty="0"/>
          </a:p>
        </p:txBody>
      </p:sp>
      <p:sp>
        <p:nvSpPr>
          <p:cNvPr id="11" name="Text 9"/>
          <p:cNvSpPr/>
          <p:nvPr/>
        </p:nvSpPr>
        <p:spPr>
          <a:xfrm>
            <a:off x="713232" y="4553712"/>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Branch names tied to a ticket</a:t>
            </a:r>
            <a:endParaRPr lang="en-US" sz="1300" dirty="0"/>
          </a:p>
        </p:txBody>
      </p:sp>
      <p:sp>
        <p:nvSpPr>
          <p:cNvPr id="12" name="Shape 10"/>
          <p:cNvSpPr/>
          <p:nvPr/>
        </p:nvSpPr>
        <p:spPr>
          <a:xfrm>
            <a:off x="3429000" y="1353312"/>
            <a:ext cx="2743200" cy="4160520"/>
          </a:xfrm>
          <a:prstGeom prst="rect">
            <a:avLst/>
          </a:prstGeom>
          <a:solidFill>
            <a:srgbClr val="FFFFFF"/>
          </a:solidFill>
          <a:ln w="12700">
            <a:solidFill>
              <a:srgbClr val="E5E7EB"/>
            </a:solidFill>
            <a:prstDash val="solid"/>
          </a:ln>
        </p:spPr>
      </p:sp>
      <p:sp>
        <p:nvSpPr>
          <p:cNvPr id="13" name="Shape 11"/>
          <p:cNvSpPr/>
          <p:nvPr/>
        </p:nvSpPr>
        <p:spPr>
          <a:xfrm>
            <a:off x="3429000" y="1353312"/>
            <a:ext cx="2743200" cy="1051560"/>
          </a:xfrm>
          <a:prstGeom prst="rect">
            <a:avLst/>
          </a:prstGeom>
          <a:solidFill>
            <a:srgbClr val="034694"/>
          </a:solidFill>
          <a:ln/>
        </p:spPr>
      </p:sp>
      <p:sp>
        <p:nvSpPr>
          <p:cNvPr id="14" name="Text 12"/>
          <p:cNvSpPr/>
          <p:nvPr/>
        </p:nvSpPr>
        <p:spPr>
          <a:xfrm>
            <a:off x="3575304" y="1417320"/>
            <a:ext cx="2450592" cy="292608"/>
          </a:xfrm>
          <a:prstGeom prst="rect">
            <a:avLst/>
          </a:prstGeom>
          <a:noFill/>
          <a:ln/>
        </p:spPr>
        <p:txBody>
          <a:bodyPr wrap="square" lIns="0" tIns="0" rIns="0" bIns="0" rtlCol="0" anchor="ctr"/>
          <a:lstStyle/>
          <a:p>
            <a:pPr indent="0" marL="0">
              <a:buNone/>
            </a:pPr>
            <a:r>
              <a:rPr lang="en-US" sz="1200" b="1" spc="120" kern="0" dirty="0">
                <a:solidFill>
                  <a:srgbClr val="DBA111"/>
                </a:solidFill>
                <a:latin typeface="Calibri" pitchFamily="34" charset="0"/>
                <a:ea typeface="Calibri" pitchFamily="34" charset="-122"/>
                <a:cs typeface="Calibri" pitchFamily="34" charset="-120"/>
              </a:rPr>
              <a:t>WEEK 2</a:t>
            </a:r>
            <a:endParaRPr lang="en-US" sz="1200" dirty="0"/>
          </a:p>
        </p:txBody>
      </p:sp>
      <p:sp>
        <p:nvSpPr>
          <p:cNvPr id="15" name="Text 13"/>
          <p:cNvSpPr/>
          <p:nvPr/>
        </p:nvSpPr>
        <p:spPr>
          <a:xfrm>
            <a:off x="3575304" y="1719072"/>
            <a:ext cx="2450592" cy="530352"/>
          </a:xfrm>
          <a:prstGeom prst="rect">
            <a:avLst/>
          </a:prstGeom>
          <a:noFill/>
          <a:ln/>
        </p:spPr>
        <p:txBody>
          <a:bodyPr wrap="square" lIns="0" tIns="0" rIns="0" bIns="0" rtlCol="0" anchor="ctr"/>
          <a:lstStyle/>
          <a:p>
            <a:pPr indent="0" marL="0">
              <a:buNone/>
            </a:pPr>
            <a:r>
              <a:rPr lang="en-US" sz="1500" b="1" dirty="0">
                <a:solidFill>
                  <a:srgbClr val="FFFFFF"/>
                </a:solidFill>
                <a:latin typeface="Century Gothic" pitchFamily="34" charset="0"/>
                <a:ea typeface="Century Gothic" pitchFamily="34" charset="-122"/>
                <a:cs typeface="Century Gothic" pitchFamily="34" charset="-120"/>
              </a:rPr>
              <a:t>How a team ships a change</a:t>
            </a:r>
            <a:endParaRPr lang="en-US" sz="1500" dirty="0"/>
          </a:p>
        </p:txBody>
      </p:sp>
      <p:sp>
        <p:nvSpPr>
          <p:cNvPr id="16" name="Text 14"/>
          <p:cNvSpPr/>
          <p:nvPr/>
        </p:nvSpPr>
        <p:spPr>
          <a:xfrm>
            <a:off x="3593592" y="2578608"/>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Ticket → branch → review → merge</a:t>
            </a:r>
            <a:endParaRPr lang="en-US" sz="1300" dirty="0"/>
          </a:p>
        </p:txBody>
      </p:sp>
      <p:sp>
        <p:nvSpPr>
          <p:cNvPr id="17" name="Text 15"/>
          <p:cNvSpPr/>
          <p:nvPr/>
        </p:nvSpPr>
        <p:spPr>
          <a:xfrm>
            <a:off x="3593592" y="3236976"/>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What a good review comment looks like</a:t>
            </a:r>
            <a:endParaRPr lang="en-US" sz="1300" dirty="0"/>
          </a:p>
        </p:txBody>
      </p:sp>
      <p:sp>
        <p:nvSpPr>
          <p:cNvPr id="18" name="Text 16"/>
          <p:cNvSpPr/>
          <p:nvPr/>
        </p:nvSpPr>
        <p:spPr>
          <a:xfrm>
            <a:off x="3593592" y="3895344"/>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Program tools vs lab tools (same habits)</a:t>
            </a:r>
            <a:endParaRPr lang="en-US" sz="1300" dirty="0"/>
          </a:p>
        </p:txBody>
      </p:sp>
      <p:sp>
        <p:nvSpPr>
          <p:cNvPr id="19" name="Text 17"/>
          <p:cNvSpPr/>
          <p:nvPr/>
        </p:nvSpPr>
        <p:spPr>
          <a:xfrm>
            <a:off x="3593592" y="4553712"/>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You do not merge your own unchecked work</a:t>
            </a:r>
            <a:endParaRPr lang="en-US" sz="1300" dirty="0"/>
          </a:p>
        </p:txBody>
      </p:sp>
      <p:sp>
        <p:nvSpPr>
          <p:cNvPr id="20" name="Shape 18"/>
          <p:cNvSpPr/>
          <p:nvPr/>
        </p:nvSpPr>
        <p:spPr>
          <a:xfrm>
            <a:off x="6309360" y="1353312"/>
            <a:ext cx="2743200" cy="4160520"/>
          </a:xfrm>
          <a:prstGeom prst="rect">
            <a:avLst/>
          </a:prstGeom>
          <a:solidFill>
            <a:srgbClr val="FFFFFF"/>
          </a:solidFill>
          <a:ln w="12700">
            <a:solidFill>
              <a:srgbClr val="E5E7EB"/>
            </a:solidFill>
            <a:prstDash val="solid"/>
          </a:ln>
        </p:spPr>
      </p:sp>
      <p:sp>
        <p:nvSpPr>
          <p:cNvPr id="21" name="Shape 19"/>
          <p:cNvSpPr/>
          <p:nvPr/>
        </p:nvSpPr>
        <p:spPr>
          <a:xfrm>
            <a:off x="6309360" y="1353312"/>
            <a:ext cx="2743200" cy="1051560"/>
          </a:xfrm>
          <a:prstGeom prst="rect">
            <a:avLst/>
          </a:prstGeom>
          <a:solidFill>
            <a:srgbClr val="034694"/>
          </a:solidFill>
          <a:ln/>
        </p:spPr>
      </p:sp>
      <p:sp>
        <p:nvSpPr>
          <p:cNvPr id="22" name="Text 20"/>
          <p:cNvSpPr/>
          <p:nvPr/>
        </p:nvSpPr>
        <p:spPr>
          <a:xfrm>
            <a:off x="6455664" y="1417320"/>
            <a:ext cx="2450592" cy="292608"/>
          </a:xfrm>
          <a:prstGeom prst="rect">
            <a:avLst/>
          </a:prstGeom>
          <a:noFill/>
          <a:ln/>
        </p:spPr>
        <p:txBody>
          <a:bodyPr wrap="square" lIns="0" tIns="0" rIns="0" bIns="0" rtlCol="0" anchor="ctr"/>
          <a:lstStyle/>
          <a:p>
            <a:pPr indent="0" marL="0">
              <a:buNone/>
            </a:pPr>
            <a:r>
              <a:rPr lang="en-US" sz="1200" b="1" spc="120" kern="0" dirty="0">
                <a:solidFill>
                  <a:srgbClr val="DBA111"/>
                </a:solidFill>
                <a:latin typeface="Calibri" pitchFamily="34" charset="0"/>
                <a:ea typeface="Calibri" pitchFamily="34" charset="-122"/>
                <a:cs typeface="Calibri" pitchFamily="34" charset="-120"/>
              </a:rPr>
              <a:t>WEEK 3</a:t>
            </a:r>
            <a:endParaRPr lang="en-US" sz="1200" dirty="0"/>
          </a:p>
        </p:txBody>
      </p:sp>
      <p:sp>
        <p:nvSpPr>
          <p:cNvPr id="23" name="Text 21"/>
          <p:cNvSpPr/>
          <p:nvPr/>
        </p:nvSpPr>
        <p:spPr>
          <a:xfrm>
            <a:off x="6455664" y="1719072"/>
            <a:ext cx="2450592" cy="530352"/>
          </a:xfrm>
          <a:prstGeom prst="rect">
            <a:avLst/>
          </a:prstGeom>
          <a:noFill/>
          <a:ln/>
        </p:spPr>
        <p:txBody>
          <a:bodyPr wrap="square" lIns="0" tIns="0" rIns="0" bIns="0" rtlCol="0" anchor="ctr"/>
          <a:lstStyle/>
          <a:p>
            <a:pPr indent="0" marL="0">
              <a:buNone/>
            </a:pPr>
            <a:r>
              <a:rPr lang="en-US" sz="1500" b="1" dirty="0">
                <a:solidFill>
                  <a:srgbClr val="FFFFFF"/>
                </a:solidFill>
                <a:latin typeface="Century Gothic" pitchFamily="34" charset="0"/>
                <a:ea typeface="Century Gothic" pitchFamily="34" charset="-122"/>
                <a:cs typeface="Century Gothic" pitchFamily="34" charset="-120"/>
              </a:rPr>
              <a:t>Reading and writing code</a:t>
            </a:r>
            <a:endParaRPr lang="en-US" sz="1500" dirty="0"/>
          </a:p>
        </p:txBody>
      </p:sp>
      <p:sp>
        <p:nvSpPr>
          <p:cNvPr id="24" name="Text 22"/>
          <p:cNvSpPr/>
          <p:nvPr/>
        </p:nvSpPr>
        <p:spPr>
          <a:xfrm>
            <a:off x="6473952" y="2578608"/>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Python may be how you think; Java is the contract language</a:t>
            </a:r>
            <a:endParaRPr lang="en-US" sz="1300" dirty="0"/>
          </a:p>
        </p:txBody>
      </p:sp>
      <p:sp>
        <p:nvSpPr>
          <p:cNvPr id="25" name="Text 23"/>
          <p:cNvSpPr/>
          <p:nvPr/>
        </p:nvSpPr>
        <p:spPr>
          <a:xfrm>
            <a:off x="6473952" y="3236976"/>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Read someone else’s function before writing yours</a:t>
            </a:r>
            <a:endParaRPr lang="en-US" sz="1300" dirty="0"/>
          </a:p>
        </p:txBody>
      </p:sp>
      <p:sp>
        <p:nvSpPr>
          <p:cNvPr id="26" name="Text 24"/>
          <p:cNvSpPr/>
          <p:nvPr/>
        </p:nvSpPr>
        <p:spPr>
          <a:xfrm>
            <a:off x="6473952" y="3895344"/>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Secrets, credentials, and integrity</a:t>
            </a:r>
            <a:endParaRPr lang="en-US" sz="1300" dirty="0"/>
          </a:p>
        </p:txBody>
      </p:sp>
      <p:sp>
        <p:nvSpPr>
          <p:cNvPr id="27" name="Text 25"/>
          <p:cNvSpPr/>
          <p:nvPr/>
        </p:nvSpPr>
        <p:spPr>
          <a:xfrm>
            <a:off x="6473952" y="4553712"/>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Code implements a requirement — it does not invent one</a:t>
            </a:r>
            <a:endParaRPr lang="en-US" sz="1300" dirty="0"/>
          </a:p>
        </p:txBody>
      </p:sp>
      <p:sp>
        <p:nvSpPr>
          <p:cNvPr id="28" name="Shape 26"/>
          <p:cNvSpPr/>
          <p:nvPr/>
        </p:nvSpPr>
        <p:spPr>
          <a:xfrm>
            <a:off x="9189720" y="1353312"/>
            <a:ext cx="2743200" cy="4160520"/>
          </a:xfrm>
          <a:prstGeom prst="rect">
            <a:avLst/>
          </a:prstGeom>
          <a:solidFill>
            <a:srgbClr val="FFFFFF"/>
          </a:solidFill>
          <a:ln w="12700">
            <a:solidFill>
              <a:srgbClr val="E5E7EB"/>
            </a:solidFill>
            <a:prstDash val="solid"/>
          </a:ln>
        </p:spPr>
      </p:sp>
      <p:sp>
        <p:nvSpPr>
          <p:cNvPr id="29" name="Shape 27"/>
          <p:cNvSpPr/>
          <p:nvPr/>
        </p:nvSpPr>
        <p:spPr>
          <a:xfrm>
            <a:off x="9189720" y="1353312"/>
            <a:ext cx="2743200" cy="1051560"/>
          </a:xfrm>
          <a:prstGeom prst="rect">
            <a:avLst/>
          </a:prstGeom>
          <a:solidFill>
            <a:srgbClr val="034694"/>
          </a:solidFill>
          <a:ln/>
        </p:spPr>
      </p:sp>
      <p:sp>
        <p:nvSpPr>
          <p:cNvPr id="30" name="Text 28"/>
          <p:cNvSpPr/>
          <p:nvPr/>
        </p:nvSpPr>
        <p:spPr>
          <a:xfrm>
            <a:off x="9336024" y="1417320"/>
            <a:ext cx="2450592" cy="292608"/>
          </a:xfrm>
          <a:prstGeom prst="rect">
            <a:avLst/>
          </a:prstGeom>
          <a:noFill/>
          <a:ln/>
        </p:spPr>
        <p:txBody>
          <a:bodyPr wrap="square" lIns="0" tIns="0" rIns="0" bIns="0" rtlCol="0" anchor="ctr"/>
          <a:lstStyle/>
          <a:p>
            <a:pPr indent="0" marL="0">
              <a:buNone/>
            </a:pPr>
            <a:r>
              <a:rPr lang="en-US" sz="1200" b="1" spc="120" kern="0" dirty="0">
                <a:solidFill>
                  <a:srgbClr val="DBA111"/>
                </a:solidFill>
                <a:latin typeface="Calibri" pitchFamily="34" charset="0"/>
                <a:ea typeface="Calibri" pitchFamily="34" charset="-122"/>
                <a:cs typeface="Calibri" pitchFamily="34" charset="-120"/>
              </a:rPr>
              <a:t>WEEK 4</a:t>
            </a:r>
            <a:endParaRPr lang="en-US" sz="1200" dirty="0"/>
          </a:p>
        </p:txBody>
      </p:sp>
      <p:sp>
        <p:nvSpPr>
          <p:cNvPr id="31" name="Text 29"/>
          <p:cNvSpPr/>
          <p:nvPr/>
        </p:nvSpPr>
        <p:spPr>
          <a:xfrm>
            <a:off x="9336024" y="1719072"/>
            <a:ext cx="2450592" cy="530352"/>
          </a:xfrm>
          <a:prstGeom prst="rect">
            <a:avLst/>
          </a:prstGeom>
          <a:noFill/>
          <a:ln/>
        </p:spPr>
        <p:txBody>
          <a:bodyPr wrap="square" lIns="0" tIns="0" rIns="0" bIns="0" rtlCol="0" anchor="ctr"/>
          <a:lstStyle/>
          <a:p>
            <a:pPr indent="0" marL="0">
              <a:buNone/>
            </a:pPr>
            <a:r>
              <a:rPr lang="en-US" sz="1500" b="1" dirty="0">
                <a:solidFill>
                  <a:srgbClr val="FFFFFF"/>
                </a:solidFill>
                <a:latin typeface="Century Gothic" pitchFamily="34" charset="0"/>
                <a:ea typeface="Century Gothic" pitchFamily="34" charset="-122"/>
                <a:cs typeface="Century Gothic" pitchFamily="34" charset="-120"/>
              </a:rPr>
              <a:t>Services, not scripts</a:t>
            </a:r>
            <a:endParaRPr lang="en-US" sz="1500" dirty="0"/>
          </a:p>
        </p:txBody>
      </p:sp>
      <p:sp>
        <p:nvSpPr>
          <p:cNvPr id="32" name="Text 30"/>
          <p:cNvSpPr/>
          <p:nvPr/>
        </p:nvSpPr>
        <p:spPr>
          <a:xfrm>
            <a:off x="9354312" y="2578608"/>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A process that talks to a database</a:t>
            </a:r>
            <a:endParaRPr lang="en-US" sz="1300" dirty="0"/>
          </a:p>
        </p:txBody>
      </p:sp>
      <p:sp>
        <p:nvSpPr>
          <p:cNvPr id="33" name="Text 31"/>
          <p:cNvSpPr/>
          <p:nvPr/>
        </p:nvSpPr>
        <p:spPr>
          <a:xfrm>
            <a:off x="9354312" y="3236976"/>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A process that publishes/consumes a message</a:t>
            </a:r>
            <a:endParaRPr lang="en-US" sz="1300" dirty="0"/>
          </a:p>
        </p:txBody>
      </p:sp>
      <p:sp>
        <p:nvSpPr>
          <p:cNvPr id="34" name="Text 32"/>
          <p:cNvSpPr/>
          <p:nvPr/>
        </p:nvSpPr>
        <p:spPr>
          <a:xfrm>
            <a:off x="9354312" y="3895344"/>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Why an ICD exists before a parser</a:t>
            </a:r>
            <a:endParaRPr lang="en-US" sz="1300" dirty="0"/>
          </a:p>
        </p:txBody>
      </p:sp>
      <p:sp>
        <p:nvSpPr>
          <p:cNvPr id="35" name="Text 33"/>
          <p:cNvSpPr/>
          <p:nvPr/>
        </p:nvSpPr>
        <p:spPr>
          <a:xfrm>
            <a:off x="9354312" y="4553712"/>
            <a:ext cx="2414016" cy="621792"/>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Hold JDBC pools, JavaFX, Jenkins, ActiveMQ RA</a:t>
            </a:r>
            <a:endParaRPr lang="en-US" sz="1300" dirty="0"/>
          </a:p>
        </p:txBody>
      </p:sp>
      <p:sp>
        <p:nvSpPr>
          <p:cNvPr id="36" name="Shape 34"/>
          <p:cNvSpPr/>
          <p:nvPr/>
        </p:nvSpPr>
        <p:spPr>
          <a:xfrm>
            <a:off x="548640" y="6501384"/>
            <a:ext cx="320040" cy="36576"/>
          </a:xfrm>
          <a:prstGeom prst="rect">
            <a:avLst/>
          </a:prstGeom>
          <a:solidFill>
            <a:srgbClr val="DBA111"/>
          </a:solidFill>
          <a:ln/>
        </p:spPr>
      </p:sp>
      <p:sp>
        <p:nvSpPr>
          <p:cNvPr id="37" name="Text 35"/>
          <p:cNvSpPr/>
          <p:nvPr/>
        </p:nvSpPr>
        <p:spPr>
          <a:xfrm>
            <a:off x="960120" y="6382512"/>
            <a:ext cx="6583680" cy="274320"/>
          </a:xfrm>
          <a:prstGeom prst="rect">
            <a:avLst/>
          </a:prstGeom>
          <a:noFill/>
          <a:ln/>
        </p:spPr>
        <p:txBody>
          <a:bodyPr wrap="square" lIns="0" tIns="0" rIns="0" bIns="0" rtlCol="0" anchor="ctr"/>
          <a:lstStyle/>
          <a:p>
            <a:pPr indent="0" marL="0">
              <a:buNone/>
            </a:pPr>
            <a:r>
              <a:rPr lang="en-US" sz="1000" b="1" spc="160" kern="0" dirty="0">
                <a:solidFill>
                  <a:srgbClr val="475569"/>
                </a:solidFill>
                <a:latin typeface="Calibri" pitchFamily="34" charset="0"/>
                <a:ea typeface="Calibri" pitchFamily="34" charset="-122"/>
                <a:cs typeface="Calibri" pitchFamily="34" charset="-120"/>
              </a:rPr>
              <a:t>CISS INTERNSHIP  |  DELIVERY APPROACH</a:t>
            </a:r>
            <a:endParaRPr lang="en-US" sz="1000" dirty="0"/>
          </a:p>
        </p:txBody>
      </p:sp>
      <p:sp>
        <p:nvSpPr>
          <p:cNvPr id="38" name="Text 36"/>
          <p:cNvSpPr/>
          <p:nvPr/>
        </p:nvSpPr>
        <p:spPr>
          <a:xfrm>
            <a:off x="7406640" y="6382512"/>
            <a:ext cx="3291840" cy="274320"/>
          </a:xfrm>
          <a:prstGeom prst="rect">
            <a:avLst/>
          </a:prstGeom>
          <a:noFill/>
          <a:ln/>
        </p:spPr>
        <p:txBody>
          <a:bodyPr wrap="square" lIns="0" tIns="0" rIns="0" bIns="0" rtlCol="0" anchor="ctr"/>
          <a:lstStyle/>
          <a:p>
            <a:pPr algn="r" indent="0" marL="0">
              <a:buNone/>
            </a:pPr>
            <a:r>
              <a:rPr lang="en-US" sz="1000" i="1" dirty="0">
                <a:solidFill>
                  <a:srgbClr val="475569"/>
                </a:solidFill>
                <a:latin typeface="Calibri" pitchFamily="34" charset="0"/>
                <a:ea typeface="Calibri" pitchFamily="34" charset="-122"/>
                <a:cs typeface="Calibri" pitchFamily="34" charset="-120"/>
              </a:rPr>
              <a:t>Software foundation</a:t>
            </a:r>
            <a:endParaRPr lang="en-US" sz="1000" dirty="0"/>
          </a:p>
        </p:txBody>
      </p:sp>
      <p:sp>
        <p:nvSpPr>
          <p:cNvPr id="39" name="Text 37"/>
          <p:cNvSpPr/>
          <p:nvPr/>
        </p:nvSpPr>
        <p:spPr>
          <a:xfrm>
            <a:off x="10835640" y="6382512"/>
            <a:ext cx="777240" cy="274320"/>
          </a:xfrm>
          <a:prstGeom prst="rect">
            <a:avLst/>
          </a:prstGeom>
          <a:noFill/>
          <a:ln/>
        </p:spPr>
        <p:txBody>
          <a:bodyPr wrap="square" lIns="0" tIns="0" rIns="0" bIns="0" rtlCol="0" anchor="ctr"/>
          <a:lstStyle/>
          <a:p>
            <a:pPr algn="r" indent="0" marL="0">
              <a:buNone/>
            </a:pPr>
            <a:r>
              <a:rPr lang="en-US" sz="1200" b="1" dirty="0">
                <a:solidFill>
                  <a:srgbClr val="034694"/>
                </a:solidFill>
                <a:latin typeface="Century Gothic" pitchFamily="34" charset="0"/>
                <a:ea typeface="Century Gothic" pitchFamily="34" charset="-122"/>
                <a:cs typeface="Century Gothic"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256032"/>
          </a:xfrm>
          <a:prstGeom prst="rect">
            <a:avLst/>
          </a:prstGeom>
          <a:noFill/>
          <a:ln/>
        </p:spPr>
        <p:txBody>
          <a:bodyPr wrap="square" lIns="0" tIns="0" rIns="0" bIns="0" rtlCol="0" anchor="ctr"/>
          <a:lstStyle/>
          <a:p>
            <a:pPr indent="0" marL="0">
              <a:buNone/>
            </a:pPr>
            <a:r>
              <a:rPr lang="en-US" sz="1100" b="1" spc="320" kern="0" dirty="0">
                <a:solidFill>
                  <a:srgbClr val="DBA111"/>
                </a:solidFill>
                <a:latin typeface="Calibri" pitchFamily="34" charset="0"/>
                <a:ea typeface="Calibri" pitchFamily="34" charset="-122"/>
                <a:cs typeface="Calibri" pitchFamily="34" charset="-120"/>
              </a:rPr>
              <a:t>WEEK 5  ·  CAPSTONE KICKOFF</a:t>
            </a:r>
            <a:endParaRPr lang="en-US" sz="1100" dirty="0"/>
          </a:p>
        </p:txBody>
      </p:sp>
      <p:sp>
        <p:nvSpPr>
          <p:cNvPr id="3" name="Text 1"/>
          <p:cNvSpPr/>
          <p:nvPr/>
        </p:nvSpPr>
        <p:spPr>
          <a:xfrm>
            <a:off x="548640" y="621792"/>
            <a:ext cx="11064240" cy="566928"/>
          </a:xfrm>
          <a:prstGeom prst="rect">
            <a:avLst/>
          </a:prstGeom>
          <a:noFill/>
          <a:ln/>
        </p:spPr>
        <p:txBody>
          <a:bodyPr wrap="square" lIns="0" tIns="0" rIns="0" bIns="0" rtlCol="0" anchor="ctr"/>
          <a:lstStyle/>
          <a:p>
            <a:pPr indent="0" marL="0">
              <a:buNone/>
            </a:pPr>
            <a:r>
              <a:rPr lang="en-US" sz="2600" b="1" dirty="0">
                <a:solidFill>
                  <a:srgbClr val="034694"/>
                </a:solidFill>
                <a:latin typeface="Century Gothic" pitchFamily="34" charset="0"/>
                <a:ea typeface="Century Gothic" pitchFamily="34" charset="-122"/>
                <a:cs typeface="Century Gothic" pitchFamily="34" charset="-120"/>
              </a:rPr>
              <a:t>SE shows the whole problem. Each discipline shows its work.</a:t>
            </a:r>
            <a:endParaRPr lang="en-US" sz="2600" dirty="0"/>
          </a:p>
        </p:txBody>
      </p:sp>
      <p:sp>
        <p:nvSpPr>
          <p:cNvPr id="4" name="Shape 2"/>
          <p:cNvSpPr/>
          <p:nvPr/>
        </p:nvSpPr>
        <p:spPr>
          <a:xfrm>
            <a:off x="548640" y="1353312"/>
            <a:ext cx="11091672" cy="1051560"/>
          </a:xfrm>
          <a:prstGeom prst="rect">
            <a:avLst/>
          </a:prstGeom>
          <a:solidFill>
            <a:srgbClr val="021F47"/>
          </a:solidFill>
          <a:ln/>
        </p:spPr>
      </p:sp>
      <p:sp>
        <p:nvSpPr>
          <p:cNvPr id="5" name="Text 3"/>
          <p:cNvSpPr/>
          <p:nvPr/>
        </p:nvSpPr>
        <p:spPr>
          <a:xfrm>
            <a:off x="777240" y="1426464"/>
            <a:ext cx="10698480" cy="292608"/>
          </a:xfrm>
          <a:prstGeom prst="rect">
            <a:avLst/>
          </a:prstGeom>
          <a:noFill/>
          <a:ln/>
        </p:spPr>
        <p:txBody>
          <a:bodyPr wrap="square" lIns="0" tIns="0" rIns="0" bIns="0" rtlCol="0" anchor="ctr"/>
          <a:lstStyle/>
          <a:p>
            <a:pPr indent="0" marL="0">
              <a:buNone/>
            </a:pPr>
            <a:r>
              <a:rPr lang="en-US" sz="1300" b="1" spc="140" kern="0" dirty="0">
                <a:solidFill>
                  <a:srgbClr val="DBA111"/>
                </a:solidFill>
                <a:latin typeface="Calibri" pitchFamily="34" charset="0"/>
                <a:ea typeface="Calibri" pitchFamily="34" charset="-122"/>
                <a:cs typeface="Calibri" pitchFamily="34" charset="-120"/>
              </a:rPr>
              <a:t>SYSTEMS ENGINEERING  —  PROJECT OVERVIEW</a:t>
            </a:r>
            <a:endParaRPr lang="en-US" sz="1300" dirty="0"/>
          </a:p>
        </p:txBody>
      </p:sp>
      <p:sp>
        <p:nvSpPr>
          <p:cNvPr id="6" name="Text 4"/>
          <p:cNvSpPr/>
          <p:nvPr/>
        </p:nvSpPr>
        <p:spPr>
          <a:xfrm>
            <a:off x="777240" y="1737360"/>
            <a:ext cx="10698480" cy="5029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Prototype Radar Situational Awareness System (PRSAS): two simulated radars, a secure path to a central site, a track processor, a database, and an authenticated air-picture client. Unclassified lab only. Not a live C2 system.</a:t>
            </a:r>
            <a:endParaRPr lang="en-US" sz="1400" dirty="0"/>
          </a:p>
        </p:txBody>
      </p:sp>
      <p:sp>
        <p:nvSpPr>
          <p:cNvPr id="7" name="Shape 5"/>
          <p:cNvSpPr/>
          <p:nvPr/>
        </p:nvSpPr>
        <p:spPr>
          <a:xfrm>
            <a:off x="548640" y="2578608"/>
            <a:ext cx="2743200" cy="2606040"/>
          </a:xfrm>
          <a:prstGeom prst="rect">
            <a:avLst/>
          </a:prstGeom>
          <a:solidFill>
            <a:srgbClr val="FFFFFF"/>
          </a:solidFill>
          <a:ln w="12700">
            <a:solidFill>
              <a:srgbClr val="E5E7EB"/>
            </a:solidFill>
            <a:prstDash val="solid"/>
          </a:ln>
        </p:spPr>
      </p:sp>
      <p:sp>
        <p:nvSpPr>
          <p:cNvPr id="8" name="Shape 6"/>
          <p:cNvSpPr/>
          <p:nvPr/>
        </p:nvSpPr>
        <p:spPr>
          <a:xfrm>
            <a:off x="548640" y="2578608"/>
            <a:ext cx="2743200" cy="73152"/>
          </a:xfrm>
          <a:prstGeom prst="rect">
            <a:avLst/>
          </a:prstGeom>
          <a:solidFill>
            <a:srgbClr val="DBA111"/>
          </a:solidFill>
          <a:ln/>
        </p:spPr>
      </p:sp>
      <p:sp>
        <p:nvSpPr>
          <p:cNvPr id="9" name="Text 7"/>
          <p:cNvSpPr/>
          <p:nvPr/>
        </p:nvSpPr>
        <p:spPr>
          <a:xfrm>
            <a:off x="694944" y="2779776"/>
            <a:ext cx="2450592" cy="658368"/>
          </a:xfrm>
          <a:prstGeom prst="rect">
            <a:avLst/>
          </a:prstGeom>
          <a:noFill/>
          <a:ln/>
        </p:spPr>
        <p:txBody>
          <a:bodyPr wrap="square" lIns="0" tIns="0" rIns="0" bIns="0" rtlCol="0" anchor="t"/>
          <a:lstStyle/>
          <a:p>
            <a:pPr indent="0" marL="0">
              <a:buNone/>
            </a:pPr>
            <a:r>
              <a:rPr lang="en-US" sz="1500" b="1" dirty="0">
                <a:solidFill>
                  <a:srgbClr val="034694"/>
                </a:solidFill>
                <a:latin typeface="Century Gothic" pitchFamily="34" charset="0"/>
                <a:ea typeface="Century Gothic" pitchFamily="34" charset="-122"/>
                <a:cs typeface="Century Gothic" pitchFamily="34" charset="-120"/>
              </a:rPr>
              <a:t>SE must accomplish</a:t>
            </a:r>
            <a:endParaRPr lang="en-US" sz="1500" dirty="0"/>
          </a:p>
        </p:txBody>
      </p:sp>
      <p:sp>
        <p:nvSpPr>
          <p:cNvPr id="10" name="Text 8"/>
          <p:cNvSpPr/>
          <p:nvPr/>
        </p:nvSpPr>
        <p:spPr>
          <a:xfrm>
            <a:off x="694944" y="3474720"/>
            <a:ext cx="2450592" cy="1554480"/>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CONOPS, MBSE artifacts, track schema, V&amp;V, virtualization study, lessons-learned. Owns the shared contracts the others build against.</a:t>
            </a:r>
            <a:endParaRPr lang="en-US" sz="1300" dirty="0"/>
          </a:p>
        </p:txBody>
      </p:sp>
      <p:sp>
        <p:nvSpPr>
          <p:cNvPr id="11" name="Shape 9"/>
          <p:cNvSpPr/>
          <p:nvPr/>
        </p:nvSpPr>
        <p:spPr>
          <a:xfrm>
            <a:off x="3429000" y="2578608"/>
            <a:ext cx="2743200" cy="2606040"/>
          </a:xfrm>
          <a:prstGeom prst="rect">
            <a:avLst/>
          </a:prstGeom>
          <a:solidFill>
            <a:srgbClr val="FFFFFF"/>
          </a:solidFill>
          <a:ln w="12700">
            <a:solidFill>
              <a:srgbClr val="E5E7EB"/>
            </a:solidFill>
            <a:prstDash val="solid"/>
          </a:ln>
        </p:spPr>
      </p:sp>
      <p:sp>
        <p:nvSpPr>
          <p:cNvPr id="12" name="Shape 10"/>
          <p:cNvSpPr/>
          <p:nvPr/>
        </p:nvSpPr>
        <p:spPr>
          <a:xfrm>
            <a:off x="3429000" y="2578608"/>
            <a:ext cx="2743200" cy="73152"/>
          </a:xfrm>
          <a:prstGeom prst="rect">
            <a:avLst/>
          </a:prstGeom>
          <a:solidFill>
            <a:srgbClr val="DBA111"/>
          </a:solidFill>
          <a:ln/>
        </p:spPr>
      </p:sp>
      <p:sp>
        <p:nvSpPr>
          <p:cNvPr id="13" name="Text 11"/>
          <p:cNvSpPr/>
          <p:nvPr/>
        </p:nvSpPr>
        <p:spPr>
          <a:xfrm>
            <a:off x="3575304" y="2779776"/>
            <a:ext cx="2450592" cy="658368"/>
          </a:xfrm>
          <a:prstGeom prst="rect">
            <a:avLst/>
          </a:prstGeom>
          <a:noFill/>
          <a:ln/>
        </p:spPr>
        <p:txBody>
          <a:bodyPr wrap="square" lIns="0" tIns="0" rIns="0" bIns="0" rtlCol="0" anchor="t"/>
          <a:lstStyle/>
          <a:p>
            <a:pPr indent="0" marL="0">
              <a:buNone/>
            </a:pPr>
            <a:r>
              <a:rPr lang="en-US" sz="1500" b="1" dirty="0">
                <a:solidFill>
                  <a:srgbClr val="034694"/>
                </a:solidFill>
                <a:latin typeface="Century Gothic" pitchFamily="34" charset="0"/>
                <a:ea typeface="Century Gothic" pitchFamily="34" charset="-122"/>
                <a:cs typeface="Century Gothic" pitchFamily="34" charset="-120"/>
              </a:rPr>
              <a:t>Networking must accomplish</a:t>
            </a:r>
            <a:endParaRPr lang="en-US" sz="1500" dirty="0"/>
          </a:p>
        </p:txBody>
      </p:sp>
      <p:sp>
        <p:nvSpPr>
          <p:cNvPr id="14" name="Text 12"/>
          <p:cNvSpPr/>
          <p:nvPr/>
        </p:nvSpPr>
        <p:spPr>
          <a:xfrm>
            <a:off x="3575304" y="3474720"/>
            <a:ext cx="2450592" cy="1554480"/>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Three-site topology, least-privilege firewalls, site-to-site encryption, path validation, and a replayable configuration guide.</a:t>
            </a:r>
            <a:endParaRPr lang="en-US" sz="1300" dirty="0"/>
          </a:p>
        </p:txBody>
      </p:sp>
      <p:sp>
        <p:nvSpPr>
          <p:cNvPr id="15" name="Shape 13"/>
          <p:cNvSpPr/>
          <p:nvPr/>
        </p:nvSpPr>
        <p:spPr>
          <a:xfrm>
            <a:off x="6309360" y="2578608"/>
            <a:ext cx="2743200" cy="2606040"/>
          </a:xfrm>
          <a:prstGeom prst="rect">
            <a:avLst/>
          </a:prstGeom>
          <a:solidFill>
            <a:srgbClr val="FFFFFF"/>
          </a:solidFill>
          <a:ln w="12700">
            <a:solidFill>
              <a:srgbClr val="E5E7EB"/>
            </a:solidFill>
            <a:prstDash val="solid"/>
          </a:ln>
        </p:spPr>
      </p:sp>
      <p:sp>
        <p:nvSpPr>
          <p:cNvPr id="16" name="Shape 14"/>
          <p:cNvSpPr/>
          <p:nvPr/>
        </p:nvSpPr>
        <p:spPr>
          <a:xfrm>
            <a:off x="6309360" y="2578608"/>
            <a:ext cx="2743200" cy="73152"/>
          </a:xfrm>
          <a:prstGeom prst="rect">
            <a:avLst/>
          </a:prstGeom>
          <a:solidFill>
            <a:srgbClr val="DBA111"/>
          </a:solidFill>
          <a:ln/>
        </p:spPr>
      </p:sp>
      <p:sp>
        <p:nvSpPr>
          <p:cNvPr id="17" name="Text 15"/>
          <p:cNvSpPr/>
          <p:nvPr/>
        </p:nvSpPr>
        <p:spPr>
          <a:xfrm>
            <a:off x="6455664" y="2779776"/>
            <a:ext cx="2450592" cy="658368"/>
          </a:xfrm>
          <a:prstGeom prst="rect">
            <a:avLst/>
          </a:prstGeom>
          <a:noFill/>
          <a:ln/>
        </p:spPr>
        <p:txBody>
          <a:bodyPr wrap="square" lIns="0" tIns="0" rIns="0" bIns="0" rtlCol="0" anchor="t"/>
          <a:lstStyle/>
          <a:p>
            <a:pPr indent="0" marL="0">
              <a:buNone/>
            </a:pPr>
            <a:r>
              <a:rPr lang="en-US" sz="1500" b="1" dirty="0">
                <a:solidFill>
                  <a:srgbClr val="034694"/>
                </a:solidFill>
                <a:latin typeface="Century Gothic" pitchFamily="34" charset="0"/>
                <a:ea typeface="Century Gothic" pitchFamily="34" charset="-122"/>
                <a:cs typeface="Century Gothic" pitchFamily="34" charset="-120"/>
              </a:rPr>
              <a:t>Admin must accomplish</a:t>
            </a:r>
            <a:endParaRPr lang="en-US" sz="1500" dirty="0"/>
          </a:p>
        </p:txBody>
      </p:sp>
      <p:sp>
        <p:nvSpPr>
          <p:cNvPr id="18" name="Text 16"/>
          <p:cNvSpPr/>
          <p:nvPr/>
        </p:nvSpPr>
        <p:spPr>
          <a:xfrm>
            <a:off x="6455664" y="3474720"/>
            <a:ext cx="2450592" cy="1554480"/>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VM provisioning, identity, lab certificates, host hardening, and enough automation that the stack can be rebuilt.</a:t>
            </a:r>
            <a:endParaRPr lang="en-US" sz="1300" dirty="0"/>
          </a:p>
        </p:txBody>
      </p:sp>
      <p:sp>
        <p:nvSpPr>
          <p:cNvPr id="19" name="Shape 17"/>
          <p:cNvSpPr/>
          <p:nvPr/>
        </p:nvSpPr>
        <p:spPr>
          <a:xfrm>
            <a:off x="9189720" y="2578608"/>
            <a:ext cx="2743200" cy="2606040"/>
          </a:xfrm>
          <a:prstGeom prst="rect">
            <a:avLst/>
          </a:prstGeom>
          <a:solidFill>
            <a:srgbClr val="FFFFFF"/>
          </a:solidFill>
          <a:ln w="12700">
            <a:solidFill>
              <a:srgbClr val="E5E7EB"/>
            </a:solidFill>
            <a:prstDash val="solid"/>
          </a:ln>
        </p:spPr>
      </p:sp>
      <p:sp>
        <p:nvSpPr>
          <p:cNvPr id="20" name="Shape 18"/>
          <p:cNvSpPr/>
          <p:nvPr/>
        </p:nvSpPr>
        <p:spPr>
          <a:xfrm>
            <a:off x="9189720" y="2578608"/>
            <a:ext cx="2743200" cy="73152"/>
          </a:xfrm>
          <a:prstGeom prst="rect">
            <a:avLst/>
          </a:prstGeom>
          <a:solidFill>
            <a:srgbClr val="DBA111"/>
          </a:solidFill>
          <a:ln/>
        </p:spPr>
      </p:sp>
      <p:sp>
        <p:nvSpPr>
          <p:cNvPr id="21" name="Text 19"/>
          <p:cNvSpPr/>
          <p:nvPr/>
        </p:nvSpPr>
        <p:spPr>
          <a:xfrm>
            <a:off x="9336024" y="2779776"/>
            <a:ext cx="2450592" cy="658368"/>
          </a:xfrm>
          <a:prstGeom prst="rect">
            <a:avLst/>
          </a:prstGeom>
          <a:noFill/>
          <a:ln/>
        </p:spPr>
        <p:txBody>
          <a:bodyPr wrap="square" lIns="0" tIns="0" rIns="0" bIns="0" rtlCol="0" anchor="t"/>
          <a:lstStyle/>
          <a:p>
            <a:pPr indent="0" marL="0">
              <a:buNone/>
            </a:pPr>
            <a:r>
              <a:rPr lang="en-US" sz="1500" b="1" dirty="0">
                <a:solidFill>
                  <a:srgbClr val="034694"/>
                </a:solidFill>
                <a:latin typeface="Century Gothic" pitchFamily="34" charset="0"/>
                <a:ea typeface="Century Gothic" pitchFamily="34" charset="-122"/>
                <a:cs typeface="Century Gothic" pitchFamily="34" charset="-120"/>
              </a:rPr>
              <a:t>Software must accomplish</a:t>
            </a:r>
            <a:endParaRPr lang="en-US" sz="1500" dirty="0"/>
          </a:p>
        </p:txBody>
      </p:sp>
      <p:sp>
        <p:nvSpPr>
          <p:cNvPr id="22" name="Text 20"/>
          <p:cNvSpPr/>
          <p:nvPr/>
        </p:nvSpPr>
        <p:spPr>
          <a:xfrm>
            <a:off x="9336024" y="3474720"/>
            <a:ext cx="2450592" cy="1554480"/>
          </a:xfrm>
          <a:prstGeom prst="rect">
            <a:avLst/>
          </a:prstGeom>
          <a:noFill/>
          <a:ln/>
        </p:spPr>
        <p:txBody>
          <a:bodyPr wrap="square" lIns="0" tIns="0" rIns="0" bIns="0" rtlCol="0" anchor="t"/>
          <a:lstStyle/>
          <a:p>
            <a:pPr indent="0" marL="0">
              <a:buNone/>
            </a:pPr>
            <a:r>
              <a:rPr lang="en-US" sz="1300" dirty="0">
                <a:solidFill>
                  <a:srgbClr val="111827"/>
                </a:solidFill>
                <a:latin typeface="Calibri" pitchFamily="34" charset="0"/>
                <a:ea typeface="Calibri" pitchFamily="34" charset="-122"/>
                <a:cs typeface="Calibri" pitchFamily="34" charset="-120"/>
              </a:rPr>
              <a:t>Radar-message simulators, track-processing daemon, situational-awareness client, and end-to-end integration with the other tracks.</a:t>
            </a:r>
            <a:endParaRPr lang="en-US" sz="1300" dirty="0"/>
          </a:p>
        </p:txBody>
      </p:sp>
      <p:sp>
        <p:nvSpPr>
          <p:cNvPr id="23" name="Shape 21"/>
          <p:cNvSpPr/>
          <p:nvPr/>
        </p:nvSpPr>
        <p:spPr>
          <a:xfrm>
            <a:off x="548640" y="6501384"/>
            <a:ext cx="320040" cy="36576"/>
          </a:xfrm>
          <a:prstGeom prst="rect">
            <a:avLst/>
          </a:prstGeom>
          <a:solidFill>
            <a:srgbClr val="DBA111"/>
          </a:solidFill>
          <a:ln/>
        </p:spPr>
      </p:sp>
      <p:sp>
        <p:nvSpPr>
          <p:cNvPr id="24" name="Text 22"/>
          <p:cNvSpPr/>
          <p:nvPr/>
        </p:nvSpPr>
        <p:spPr>
          <a:xfrm>
            <a:off x="960120" y="6382512"/>
            <a:ext cx="6583680" cy="274320"/>
          </a:xfrm>
          <a:prstGeom prst="rect">
            <a:avLst/>
          </a:prstGeom>
          <a:noFill/>
          <a:ln/>
        </p:spPr>
        <p:txBody>
          <a:bodyPr wrap="square" lIns="0" tIns="0" rIns="0" bIns="0" rtlCol="0" anchor="ctr"/>
          <a:lstStyle/>
          <a:p>
            <a:pPr indent="0" marL="0">
              <a:buNone/>
            </a:pPr>
            <a:r>
              <a:rPr lang="en-US" sz="1000" b="1" spc="160" kern="0" dirty="0">
                <a:solidFill>
                  <a:srgbClr val="475569"/>
                </a:solidFill>
                <a:latin typeface="Calibri" pitchFamily="34" charset="0"/>
                <a:ea typeface="Calibri" pitchFamily="34" charset="-122"/>
                <a:cs typeface="Calibri" pitchFamily="34" charset="-120"/>
              </a:rPr>
              <a:t>CISS INTERNSHIP  |  DELIVERY APPROACH</a:t>
            </a:r>
            <a:endParaRPr lang="en-US" sz="1000" dirty="0"/>
          </a:p>
        </p:txBody>
      </p:sp>
      <p:sp>
        <p:nvSpPr>
          <p:cNvPr id="25" name="Text 23"/>
          <p:cNvSpPr/>
          <p:nvPr/>
        </p:nvSpPr>
        <p:spPr>
          <a:xfrm>
            <a:off x="7406640" y="6382512"/>
            <a:ext cx="3291840" cy="274320"/>
          </a:xfrm>
          <a:prstGeom prst="rect">
            <a:avLst/>
          </a:prstGeom>
          <a:noFill/>
          <a:ln/>
        </p:spPr>
        <p:txBody>
          <a:bodyPr wrap="square" lIns="0" tIns="0" rIns="0" bIns="0" rtlCol="0" anchor="ctr"/>
          <a:lstStyle/>
          <a:p>
            <a:pPr algn="r" indent="0" marL="0">
              <a:buNone/>
            </a:pPr>
            <a:r>
              <a:rPr lang="en-US" sz="1000" i="1" dirty="0">
                <a:solidFill>
                  <a:srgbClr val="475569"/>
                </a:solidFill>
                <a:latin typeface="Calibri" pitchFamily="34" charset="0"/>
                <a:ea typeface="Calibri" pitchFamily="34" charset="-122"/>
                <a:cs typeface="Calibri" pitchFamily="34" charset="-120"/>
              </a:rPr>
              <a:t>Week 5</a:t>
            </a:r>
            <a:endParaRPr lang="en-US" sz="1000" dirty="0"/>
          </a:p>
        </p:txBody>
      </p:sp>
      <p:sp>
        <p:nvSpPr>
          <p:cNvPr id="26" name="Text 24"/>
          <p:cNvSpPr/>
          <p:nvPr/>
        </p:nvSpPr>
        <p:spPr>
          <a:xfrm>
            <a:off x="10835640" y="6382512"/>
            <a:ext cx="777240" cy="274320"/>
          </a:xfrm>
          <a:prstGeom prst="rect">
            <a:avLst/>
          </a:prstGeom>
          <a:noFill/>
          <a:ln/>
        </p:spPr>
        <p:txBody>
          <a:bodyPr wrap="square" lIns="0" tIns="0" rIns="0" bIns="0" rtlCol="0" anchor="ctr"/>
          <a:lstStyle/>
          <a:p>
            <a:pPr algn="r" indent="0" marL="0">
              <a:buNone/>
            </a:pPr>
            <a:r>
              <a:rPr lang="en-US" sz="1200" b="1" dirty="0">
                <a:solidFill>
                  <a:srgbClr val="034694"/>
                </a:solidFill>
                <a:latin typeface="Century Gothic" pitchFamily="34" charset="0"/>
                <a:ea typeface="Century Gothic" pitchFamily="34" charset="-122"/>
                <a:cs typeface="Century Gothic"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256032"/>
          </a:xfrm>
          <a:prstGeom prst="rect">
            <a:avLst/>
          </a:prstGeom>
          <a:noFill/>
          <a:ln/>
        </p:spPr>
        <p:txBody>
          <a:bodyPr wrap="square" lIns="0" tIns="0" rIns="0" bIns="0" rtlCol="0" anchor="ctr"/>
          <a:lstStyle/>
          <a:p>
            <a:pPr indent="0" marL="0">
              <a:buNone/>
            </a:pPr>
            <a:r>
              <a:rPr lang="en-US" sz="1100" b="1" spc="320" kern="0" dirty="0">
                <a:solidFill>
                  <a:srgbClr val="DBA111"/>
                </a:solidFill>
                <a:latin typeface="Calibri" pitchFamily="34" charset="0"/>
                <a:ea typeface="Calibri" pitchFamily="34" charset="-122"/>
                <a:cs typeface="Calibri" pitchFamily="34" charset="-120"/>
              </a:rPr>
              <a:t>WEEKS 6 AND BEYOND</a:t>
            </a:r>
            <a:endParaRPr lang="en-US" sz="1100" dirty="0"/>
          </a:p>
        </p:txBody>
      </p:sp>
      <p:sp>
        <p:nvSpPr>
          <p:cNvPr id="3" name="Text 1"/>
          <p:cNvSpPr/>
          <p:nvPr/>
        </p:nvSpPr>
        <p:spPr>
          <a:xfrm>
            <a:off x="548640" y="621792"/>
            <a:ext cx="11064240" cy="566928"/>
          </a:xfrm>
          <a:prstGeom prst="rect">
            <a:avLst/>
          </a:prstGeom>
          <a:noFill/>
          <a:ln/>
        </p:spPr>
        <p:txBody>
          <a:bodyPr wrap="square" lIns="0" tIns="0" rIns="0" bIns="0" rtlCol="0" anchor="ctr"/>
          <a:lstStyle/>
          <a:p>
            <a:pPr indent="0" marL="0">
              <a:buNone/>
            </a:pPr>
            <a:r>
              <a:rPr lang="en-US" sz="2600" b="1" dirty="0">
                <a:solidFill>
                  <a:srgbClr val="034694"/>
                </a:solidFill>
                <a:latin typeface="Century Gothic" pitchFamily="34" charset="0"/>
                <a:ea typeface="Century Gothic" pitchFamily="34" charset="-122"/>
                <a:cs typeface="Century Gothic" pitchFamily="34" charset="-120"/>
              </a:rPr>
              <a:t>Every afternoon is the same four-part loop</a:t>
            </a:r>
            <a:endParaRPr lang="en-US" sz="2600" dirty="0"/>
          </a:p>
        </p:txBody>
      </p:sp>
      <p:sp>
        <p:nvSpPr>
          <p:cNvPr id="4" name="Shape 2"/>
          <p:cNvSpPr/>
          <p:nvPr/>
        </p:nvSpPr>
        <p:spPr>
          <a:xfrm>
            <a:off x="548640" y="1371600"/>
            <a:ext cx="2743200" cy="2926080"/>
          </a:xfrm>
          <a:prstGeom prst="rect">
            <a:avLst/>
          </a:prstGeom>
          <a:solidFill>
            <a:srgbClr val="FFFFFF"/>
          </a:solidFill>
          <a:ln w="12700">
            <a:solidFill>
              <a:srgbClr val="E5E7EB"/>
            </a:solidFill>
            <a:prstDash val="solid"/>
          </a:ln>
        </p:spPr>
      </p:sp>
      <p:sp>
        <p:nvSpPr>
          <p:cNvPr id="5" name="Shape 3"/>
          <p:cNvSpPr/>
          <p:nvPr/>
        </p:nvSpPr>
        <p:spPr>
          <a:xfrm>
            <a:off x="548640" y="1371600"/>
            <a:ext cx="2743200" cy="1051560"/>
          </a:xfrm>
          <a:prstGeom prst="rect">
            <a:avLst/>
          </a:prstGeom>
          <a:solidFill>
            <a:srgbClr val="021F47"/>
          </a:solidFill>
          <a:ln/>
        </p:spPr>
      </p:sp>
      <p:sp>
        <p:nvSpPr>
          <p:cNvPr id="6" name="Text 4"/>
          <p:cNvSpPr/>
          <p:nvPr/>
        </p:nvSpPr>
        <p:spPr>
          <a:xfrm>
            <a:off x="713232" y="1444752"/>
            <a:ext cx="2414016" cy="365760"/>
          </a:xfrm>
          <a:prstGeom prst="rect">
            <a:avLst/>
          </a:prstGeom>
          <a:noFill/>
          <a:ln/>
        </p:spPr>
        <p:txBody>
          <a:bodyPr wrap="square" lIns="0" tIns="0" rIns="0" bIns="0" rtlCol="0" anchor="ctr"/>
          <a:lstStyle/>
          <a:p>
            <a:pPr indent="0" marL="0">
              <a:buNone/>
            </a:pPr>
            <a:r>
              <a:rPr lang="en-US" sz="2000" b="1" dirty="0">
                <a:solidFill>
                  <a:srgbClr val="DBA111"/>
                </a:solidFill>
                <a:latin typeface="Century Gothic" pitchFamily="34" charset="0"/>
                <a:ea typeface="Century Gothic" pitchFamily="34" charset="-122"/>
                <a:cs typeface="Century Gothic" pitchFamily="34" charset="-120"/>
              </a:rPr>
              <a:t>01</a:t>
            </a:r>
            <a:endParaRPr lang="en-US" sz="2000" dirty="0"/>
          </a:p>
        </p:txBody>
      </p:sp>
      <p:sp>
        <p:nvSpPr>
          <p:cNvPr id="7" name="Text 5"/>
          <p:cNvSpPr/>
          <p:nvPr/>
        </p:nvSpPr>
        <p:spPr>
          <a:xfrm>
            <a:off x="713232" y="1828800"/>
            <a:ext cx="2414016" cy="438912"/>
          </a:xfrm>
          <a:prstGeom prst="rect">
            <a:avLst/>
          </a:prstGeom>
          <a:noFill/>
          <a:ln/>
        </p:spPr>
        <p:txBody>
          <a:bodyPr wrap="square" lIns="0" tIns="0" rIns="0" bIns="0" rtlCol="0" anchor="ctr"/>
          <a:lstStyle/>
          <a:p>
            <a:pPr indent="0" marL="0">
              <a:buNone/>
            </a:pPr>
            <a:r>
              <a:rPr lang="en-US" sz="2200" b="1" dirty="0">
                <a:solidFill>
                  <a:srgbClr val="FFFFFF"/>
                </a:solidFill>
                <a:latin typeface="Century Gothic" pitchFamily="34" charset="0"/>
                <a:ea typeface="Century Gothic" pitchFamily="34" charset="-122"/>
                <a:cs typeface="Century Gothic" pitchFamily="34" charset="-120"/>
              </a:rPr>
              <a:t>Review</a:t>
            </a:r>
            <a:endParaRPr lang="en-US" sz="2200" dirty="0"/>
          </a:p>
        </p:txBody>
      </p:sp>
      <p:sp>
        <p:nvSpPr>
          <p:cNvPr id="8" name="Text 6"/>
          <p:cNvSpPr/>
          <p:nvPr/>
        </p:nvSpPr>
        <p:spPr>
          <a:xfrm>
            <a:off x="713232" y="2542032"/>
            <a:ext cx="2414016" cy="1600200"/>
          </a:xfrm>
          <a:prstGeom prst="rect">
            <a:avLst/>
          </a:prstGeom>
          <a:noFill/>
          <a:ln/>
        </p:spPr>
        <p:txBody>
          <a:bodyPr wrap="square" lIns="0" tIns="0" rIns="0" bIns="0" rtlCol="0" anchor="t"/>
          <a:lstStyle/>
          <a:p>
            <a:pPr indent="0" marL="0">
              <a:buNone/>
            </a:pPr>
            <a:r>
              <a:rPr lang="en-US" sz="1400" dirty="0">
                <a:solidFill>
                  <a:srgbClr val="111827"/>
                </a:solidFill>
                <a:latin typeface="Calibri" pitchFamily="34" charset="0"/>
                <a:ea typeface="Calibri" pitchFamily="34" charset="-122"/>
                <a:cs typeface="Calibri" pitchFamily="34" charset="-120"/>
              </a:rPr>
              <a:t>Look at last week’s assigned capstone work. What is done, what is wrong, what is blocked. This is not a status meeting that skips the artifacts.</a:t>
            </a:r>
            <a:endParaRPr lang="en-US" sz="1400" dirty="0"/>
          </a:p>
        </p:txBody>
      </p:sp>
      <p:sp>
        <p:nvSpPr>
          <p:cNvPr id="9" name="Shape 7"/>
          <p:cNvSpPr/>
          <p:nvPr/>
        </p:nvSpPr>
        <p:spPr>
          <a:xfrm>
            <a:off x="3429000" y="1371600"/>
            <a:ext cx="2743200" cy="2926080"/>
          </a:xfrm>
          <a:prstGeom prst="rect">
            <a:avLst/>
          </a:prstGeom>
          <a:solidFill>
            <a:srgbClr val="FFFFFF"/>
          </a:solidFill>
          <a:ln w="12700">
            <a:solidFill>
              <a:srgbClr val="E5E7EB"/>
            </a:solidFill>
            <a:prstDash val="solid"/>
          </a:ln>
        </p:spPr>
      </p:sp>
      <p:sp>
        <p:nvSpPr>
          <p:cNvPr id="10" name="Shape 8"/>
          <p:cNvSpPr/>
          <p:nvPr/>
        </p:nvSpPr>
        <p:spPr>
          <a:xfrm>
            <a:off x="3429000" y="1371600"/>
            <a:ext cx="2743200" cy="1051560"/>
          </a:xfrm>
          <a:prstGeom prst="rect">
            <a:avLst/>
          </a:prstGeom>
          <a:solidFill>
            <a:srgbClr val="034694"/>
          </a:solidFill>
          <a:ln/>
        </p:spPr>
      </p:sp>
      <p:sp>
        <p:nvSpPr>
          <p:cNvPr id="11" name="Text 9"/>
          <p:cNvSpPr/>
          <p:nvPr/>
        </p:nvSpPr>
        <p:spPr>
          <a:xfrm>
            <a:off x="3593592" y="1444752"/>
            <a:ext cx="2414016" cy="365760"/>
          </a:xfrm>
          <a:prstGeom prst="rect">
            <a:avLst/>
          </a:prstGeom>
          <a:noFill/>
          <a:ln/>
        </p:spPr>
        <p:txBody>
          <a:bodyPr wrap="square" lIns="0" tIns="0" rIns="0" bIns="0" rtlCol="0" anchor="ctr"/>
          <a:lstStyle/>
          <a:p>
            <a:pPr indent="0" marL="0">
              <a:buNone/>
            </a:pPr>
            <a:r>
              <a:rPr lang="en-US" sz="2000" b="1" dirty="0">
                <a:solidFill>
                  <a:srgbClr val="DBA111"/>
                </a:solidFill>
                <a:latin typeface="Century Gothic" pitchFamily="34" charset="0"/>
                <a:ea typeface="Century Gothic" pitchFamily="34" charset="-122"/>
                <a:cs typeface="Century Gothic" pitchFamily="34" charset="-120"/>
              </a:rPr>
              <a:t>02</a:t>
            </a:r>
            <a:endParaRPr lang="en-US" sz="2000" dirty="0"/>
          </a:p>
        </p:txBody>
      </p:sp>
      <p:sp>
        <p:nvSpPr>
          <p:cNvPr id="12" name="Text 10"/>
          <p:cNvSpPr/>
          <p:nvPr/>
        </p:nvSpPr>
        <p:spPr>
          <a:xfrm>
            <a:off x="3593592" y="1828800"/>
            <a:ext cx="2414016" cy="438912"/>
          </a:xfrm>
          <a:prstGeom prst="rect">
            <a:avLst/>
          </a:prstGeom>
          <a:noFill/>
          <a:ln/>
        </p:spPr>
        <p:txBody>
          <a:bodyPr wrap="square" lIns="0" tIns="0" rIns="0" bIns="0" rtlCol="0" anchor="ctr"/>
          <a:lstStyle/>
          <a:p>
            <a:pPr indent="0" marL="0">
              <a:buNone/>
            </a:pPr>
            <a:r>
              <a:rPr lang="en-US" sz="2200" b="1" dirty="0">
                <a:solidFill>
                  <a:srgbClr val="FFFFFF"/>
                </a:solidFill>
                <a:latin typeface="Century Gothic" pitchFamily="34" charset="0"/>
                <a:ea typeface="Century Gothic" pitchFamily="34" charset="-122"/>
                <a:cs typeface="Century Gothic" pitchFamily="34" charset="-120"/>
              </a:rPr>
              <a:t>Teach</a:t>
            </a:r>
            <a:endParaRPr lang="en-US" sz="2200" dirty="0"/>
          </a:p>
        </p:txBody>
      </p:sp>
      <p:sp>
        <p:nvSpPr>
          <p:cNvPr id="13" name="Text 11"/>
          <p:cNvSpPr/>
          <p:nvPr/>
        </p:nvSpPr>
        <p:spPr>
          <a:xfrm>
            <a:off x="3593592" y="2542032"/>
            <a:ext cx="2414016" cy="1600200"/>
          </a:xfrm>
          <a:prstGeom prst="rect">
            <a:avLst/>
          </a:prstGeom>
          <a:noFill/>
          <a:ln/>
        </p:spPr>
        <p:txBody>
          <a:bodyPr wrap="square" lIns="0" tIns="0" rIns="0" bIns="0" rtlCol="0" anchor="t"/>
          <a:lstStyle/>
          <a:p>
            <a:pPr indent="0" marL="0">
              <a:buNone/>
            </a:pPr>
            <a:r>
              <a:rPr lang="en-US" sz="1400" dirty="0">
                <a:solidFill>
                  <a:srgbClr val="111827"/>
                </a:solidFill>
                <a:latin typeface="Calibri" pitchFamily="34" charset="0"/>
                <a:ea typeface="Calibri" pitchFamily="34" charset="-122"/>
                <a:cs typeface="Calibri" pitchFamily="34" charset="-120"/>
              </a:rPr>
              <a:t>New material for the discipline — now at depth. Junos, identity, Java services, architecture, and so on, always in service of the project.</a:t>
            </a:r>
            <a:endParaRPr lang="en-US" sz="1400" dirty="0"/>
          </a:p>
        </p:txBody>
      </p:sp>
      <p:sp>
        <p:nvSpPr>
          <p:cNvPr id="14" name="Shape 12"/>
          <p:cNvSpPr/>
          <p:nvPr/>
        </p:nvSpPr>
        <p:spPr>
          <a:xfrm>
            <a:off x="6309360" y="1371600"/>
            <a:ext cx="2743200" cy="2926080"/>
          </a:xfrm>
          <a:prstGeom prst="rect">
            <a:avLst/>
          </a:prstGeom>
          <a:solidFill>
            <a:srgbClr val="FFFFFF"/>
          </a:solidFill>
          <a:ln w="12700">
            <a:solidFill>
              <a:srgbClr val="E5E7EB"/>
            </a:solidFill>
            <a:prstDash val="solid"/>
          </a:ln>
        </p:spPr>
      </p:sp>
      <p:sp>
        <p:nvSpPr>
          <p:cNvPr id="15" name="Shape 13"/>
          <p:cNvSpPr/>
          <p:nvPr/>
        </p:nvSpPr>
        <p:spPr>
          <a:xfrm>
            <a:off x="6309360" y="1371600"/>
            <a:ext cx="2743200" cy="1051560"/>
          </a:xfrm>
          <a:prstGeom prst="rect">
            <a:avLst/>
          </a:prstGeom>
          <a:solidFill>
            <a:srgbClr val="021F47"/>
          </a:solidFill>
          <a:ln/>
        </p:spPr>
      </p:sp>
      <p:sp>
        <p:nvSpPr>
          <p:cNvPr id="16" name="Text 14"/>
          <p:cNvSpPr/>
          <p:nvPr/>
        </p:nvSpPr>
        <p:spPr>
          <a:xfrm>
            <a:off x="6473952" y="1444752"/>
            <a:ext cx="2414016" cy="365760"/>
          </a:xfrm>
          <a:prstGeom prst="rect">
            <a:avLst/>
          </a:prstGeom>
          <a:noFill/>
          <a:ln/>
        </p:spPr>
        <p:txBody>
          <a:bodyPr wrap="square" lIns="0" tIns="0" rIns="0" bIns="0" rtlCol="0" anchor="ctr"/>
          <a:lstStyle/>
          <a:p>
            <a:pPr indent="0" marL="0">
              <a:buNone/>
            </a:pPr>
            <a:r>
              <a:rPr lang="en-US" sz="2000" b="1" dirty="0">
                <a:solidFill>
                  <a:srgbClr val="DBA111"/>
                </a:solidFill>
                <a:latin typeface="Century Gothic" pitchFamily="34" charset="0"/>
                <a:ea typeface="Century Gothic" pitchFamily="34" charset="-122"/>
                <a:cs typeface="Century Gothic" pitchFamily="34" charset="-120"/>
              </a:rPr>
              <a:t>03</a:t>
            </a:r>
            <a:endParaRPr lang="en-US" sz="2000" dirty="0"/>
          </a:p>
        </p:txBody>
      </p:sp>
      <p:sp>
        <p:nvSpPr>
          <p:cNvPr id="17" name="Text 15"/>
          <p:cNvSpPr/>
          <p:nvPr/>
        </p:nvSpPr>
        <p:spPr>
          <a:xfrm>
            <a:off x="6473952" y="1828800"/>
            <a:ext cx="2414016" cy="438912"/>
          </a:xfrm>
          <a:prstGeom prst="rect">
            <a:avLst/>
          </a:prstGeom>
          <a:noFill/>
          <a:ln/>
        </p:spPr>
        <p:txBody>
          <a:bodyPr wrap="square" lIns="0" tIns="0" rIns="0" bIns="0" rtlCol="0" anchor="ctr"/>
          <a:lstStyle/>
          <a:p>
            <a:pPr indent="0" marL="0">
              <a:buNone/>
            </a:pPr>
            <a:r>
              <a:rPr lang="en-US" sz="2200" b="1" dirty="0">
                <a:solidFill>
                  <a:srgbClr val="FFFFFF"/>
                </a:solidFill>
                <a:latin typeface="Century Gothic" pitchFamily="34" charset="0"/>
                <a:ea typeface="Century Gothic" pitchFamily="34" charset="-122"/>
                <a:cs typeface="Century Gothic" pitchFamily="34" charset="-120"/>
              </a:rPr>
              <a:t>Exercise</a:t>
            </a:r>
            <a:endParaRPr lang="en-US" sz="2200" dirty="0"/>
          </a:p>
        </p:txBody>
      </p:sp>
      <p:sp>
        <p:nvSpPr>
          <p:cNvPr id="18" name="Text 16"/>
          <p:cNvSpPr/>
          <p:nvPr/>
        </p:nvSpPr>
        <p:spPr>
          <a:xfrm>
            <a:off x="6473952" y="2542032"/>
            <a:ext cx="2414016" cy="1600200"/>
          </a:xfrm>
          <a:prstGeom prst="rect">
            <a:avLst/>
          </a:prstGeom>
          <a:noFill/>
          <a:ln/>
        </p:spPr>
        <p:txBody>
          <a:bodyPr wrap="square" lIns="0" tIns="0" rIns="0" bIns="0" rtlCol="0" anchor="t"/>
          <a:lstStyle/>
          <a:p>
            <a:pPr indent="0" marL="0">
              <a:buNone/>
            </a:pPr>
            <a:r>
              <a:rPr lang="en-US" sz="1400" dirty="0">
                <a:solidFill>
                  <a:srgbClr val="111827"/>
                </a:solidFill>
                <a:latin typeface="Calibri" pitchFamily="34" charset="0"/>
                <a:ea typeface="Calibri" pitchFamily="34" charset="-122"/>
                <a:cs typeface="Calibri" pitchFamily="34" charset="-120"/>
              </a:rPr>
              <a:t>Do something in the room. A config, a diagram, a failing test, a log pack. Interns leave with muscle memory, not only notes.</a:t>
            </a:r>
            <a:endParaRPr lang="en-US" sz="1400" dirty="0"/>
          </a:p>
        </p:txBody>
      </p:sp>
      <p:sp>
        <p:nvSpPr>
          <p:cNvPr id="19" name="Shape 17"/>
          <p:cNvSpPr/>
          <p:nvPr/>
        </p:nvSpPr>
        <p:spPr>
          <a:xfrm>
            <a:off x="9189720" y="1371600"/>
            <a:ext cx="2743200" cy="2926080"/>
          </a:xfrm>
          <a:prstGeom prst="rect">
            <a:avLst/>
          </a:prstGeom>
          <a:solidFill>
            <a:srgbClr val="FFFFFF"/>
          </a:solidFill>
          <a:ln w="12700">
            <a:solidFill>
              <a:srgbClr val="E5E7EB"/>
            </a:solidFill>
            <a:prstDash val="solid"/>
          </a:ln>
        </p:spPr>
      </p:sp>
      <p:sp>
        <p:nvSpPr>
          <p:cNvPr id="20" name="Shape 18"/>
          <p:cNvSpPr/>
          <p:nvPr/>
        </p:nvSpPr>
        <p:spPr>
          <a:xfrm>
            <a:off x="9189720" y="1371600"/>
            <a:ext cx="2743200" cy="1051560"/>
          </a:xfrm>
          <a:prstGeom prst="rect">
            <a:avLst/>
          </a:prstGeom>
          <a:solidFill>
            <a:srgbClr val="034694"/>
          </a:solidFill>
          <a:ln/>
        </p:spPr>
      </p:sp>
      <p:sp>
        <p:nvSpPr>
          <p:cNvPr id="21" name="Text 19"/>
          <p:cNvSpPr/>
          <p:nvPr/>
        </p:nvSpPr>
        <p:spPr>
          <a:xfrm>
            <a:off x="9354312" y="1444752"/>
            <a:ext cx="2414016" cy="365760"/>
          </a:xfrm>
          <a:prstGeom prst="rect">
            <a:avLst/>
          </a:prstGeom>
          <a:noFill/>
          <a:ln/>
        </p:spPr>
        <p:txBody>
          <a:bodyPr wrap="square" lIns="0" tIns="0" rIns="0" bIns="0" rtlCol="0" anchor="ctr"/>
          <a:lstStyle/>
          <a:p>
            <a:pPr indent="0" marL="0">
              <a:buNone/>
            </a:pPr>
            <a:r>
              <a:rPr lang="en-US" sz="2000" b="1" dirty="0">
                <a:solidFill>
                  <a:srgbClr val="DBA111"/>
                </a:solidFill>
                <a:latin typeface="Century Gothic" pitchFamily="34" charset="0"/>
                <a:ea typeface="Century Gothic" pitchFamily="34" charset="-122"/>
                <a:cs typeface="Century Gothic" pitchFamily="34" charset="-120"/>
              </a:rPr>
              <a:t>04</a:t>
            </a:r>
            <a:endParaRPr lang="en-US" sz="2000" dirty="0"/>
          </a:p>
        </p:txBody>
      </p:sp>
      <p:sp>
        <p:nvSpPr>
          <p:cNvPr id="22" name="Text 20"/>
          <p:cNvSpPr/>
          <p:nvPr/>
        </p:nvSpPr>
        <p:spPr>
          <a:xfrm>
            <a:off x="9354312" y="1828800"/>
            <a:ext cx="2414016" cy="438912"/>
          </a:xfrm>
          <a:prstGeom prst="rect">
            <a:avLst/>
          </a:prstGeom>
          <a:noFill/>
          <a:ln/>
        </p:spPr>
        <p:txBody>
          <a:bodyPr wrap="square" lIns="0" tIns="0" rIns="0" bIns="0" rtlCol="0" anchor="ctr"/>
          <a:lstStyle/>
          <a:p>
            <a:pPr indent="0" marL="0">
              <a:buNone/>
            </a:pPr>
            <a:r>
              <a:rPr lang="en-US" sz="2200" b="1" dirty="0">
                <a:solidFill>
                  <a:srgbClr val="FFFFFF"/>
                </a:solidFill>
                <a:latin typeface="Century Gothic" pitchFamily="34" charset="0"/>
                <a:ea typeface="Century Gothic" pitchFamily="34" charset="-122"/>
                <a:cs typeface="Century Gothic" pitchFamily="34" charset="-120"/>
              </a:rPr>
              <a:t>Assign</a:t>
            </a:r>
            <a:endParaRPr lang="en-US" sz="2200" dirty="0"/>
          </a:p>
        </p:txBody>
      </p:sp>
      <p:sp>
        <p:nvSpPr>
          <p:cNvPr id="23" name="Text 21"/>
          <p:cNvSpPr/>
          <p:nvPr/>
        </p:nvSpPr>
        <p:spPr>
          <a:xfrm>
            <a:off x="9354312" y="2542032"/>
            <a:ext cx="2414016" cy="1600200"/>
          </a:xfrm>
          <a:prstGeom prst="rect">
            <a:avLst/>
          </a:prstGeom>
          <a:noFill/>
          <a:ln/>
        </p:spPr>
        <p:txBody>
          <a:bodyPr wrap="square" lIns="0" tIns="0" rIns="0" bIns="0" rtlCol="0" anchor="t"/>
          <a:lstStyle/>
          <a:p>
            <a:pPr indent="0" marL="0">
              <a:buNone/>
            </a:pPr>
            <a:r>
              <a:rPr lang="en-US" sz="1400" dirty="0">
                <a:solidFill>
                  <a:srgbClr val="111827"/>
                </a:solidFill>
                <a:latin typeface="Calibri" pitchFamily="34" charset="0"/>
                <a:ea typeface="Calibri" pitchFamily="34" charset="-122"/>
                <a:cs typeface="Calibri" pitchFamily="34" charset="-120"/>
              </a:rPr>
              <a:t>Work to be accomplished during the following week on the capstone. Due when that discipline meets again. SE assignments continue for everyone.</a:t>
            </a:r>
            <a:endParaRPr lang="en-US" sz="1400" dirty="0"/>
          </a:p>
        </p:txBody>
      </p:sp>
      <p:sp>
        <p:nvSpPr>
          <p:cNvPr id="24" name="Shape 22"/>
          <p:cNvSpPr/>
          <p:nvPr/>
        </p:nvSpPr>
        <p:spPr>
          <a:xfrm>
            <a:off x="548640" y="4498848"/>
            <a:ext cx="11091672" cy="1417320"/>
          </a:xfrm>
          <a:prstGeom prst="rect">
            <a:avLst/>
          </a:prstGeom>
          <a:solidFill>
            <a:srgbClr val="F5F3EC"/>
          </a:solidFill>
          <a:ln/>
        </p:spPr>
      </p:sp>
      <p:sp>
        <p:nvSpPr>
          <p:cNvPr id="25" name="Text 23"/>
          <p:cNvSpPr/>
          <p:nvPr/>
        </p:nvSpPr>
        <p:spPr>
          <a:xfrm>
            <a:off x="777240" y="4617720"/>
            <a:ext cx="10698480" cy="292608"/>
          </a:xfrm>
          <a:prstGeom prst="rect">
            <a:avLst/>
          </a:prstGeom>
          <a:noFill/>
          <a:ln/>
        </p:spPr>
        <p:txBody>
          <a:bodyPr wrap="square" lIns="0" tIns="0" rIns="0" bIns="0" rtlCol="0" anchor="ctr"/>
          <a:lstStyle/>
          <a:p>
            <a:pPr indent="0" marL="0">
              <a:buNone/>
            </a:pPr>
            <a:r>
              <a:rPr lang="en-US" sz="1200" b="1" spc="160" kern="0" dirty="0">
                <a:solidFill>
                  <a:srgbClr val="034694"/>
                </a:solidFill>
                <a:latin typeface="Calibri" pitchFamily="34" charset="0"/>
                <a:ea typeface="Calibri" pitchFamily="34" charset="-122"/>
                <a:cs typeface="Calibri" pitchFamily="34" charset="-120"/>
              </a:rPr>
              <a:t>WHAT “DEPTH” MEANS HERE</a:t>
            </a:r>
            <a:endParaRPr lang="en-US" sz="1200" dirty="0"/>
          </a:p>
        </p:txBody>
      </p:sp>
      <p:sp>
        <p:nvSpPr>
          <p:cNvPr id="26" name="Text 24"/>
          <p:cNvSpPr/>
          <p:nvPr/>
        </p:nvSpPr>
        <p:spPr>
          <a:xfrm>
            <a:off x="777240" y="4937760"/>
            <a:ext cx="10698480" cy="777240"/>
          </a:xfrm>
          <a:prstGeom prst="rect">
            <a:avLst/>
          </a:prstGeom>
          <a:noFill/>
          <a:ln/>
        </p:spPr>
        <p:txBody>
          <a:bodyPr wrap="square" lIns="0" tIns="0" rIns="0" bIns="0" rtlCol="0" anchor="t"/>
          <a:lstStyle/>
          <a:p>
            <a:pPr indent="0" marL="0">
              <a:buNone/>
            </a:pPr>
            <a:r>
              <a:rPr lang="en-US" sz="1400" dirty="0">
                <a:solidFill>
                  <a:srgbClr val="111827"/>
                </a:solidFill>
                <a:latin typeface="Calibri" pitchFamily="34" charset="0"/>
                <a:ea typeface="Calibri" pitchFamily="34" charset="-122"/>
                <a:cs typeface="Calibri" pitchFamily="34" charset="-120"/>
              </a:rPr>
              <a:t>Networking goes into Junos, zones, routing, and tunnels. Admin goes into identity, certificates, virtualization, and hardening. Software goes into Java, PostgreSQL, messaging, daemons, and the client. SE goes into CONOPS, behavior, ICDs, and V&amp;V — with the whole class still in the room.</a:t>
            </a:r>
            <a:endParaRPr lang="en-US" sz="1400" dirty="0"/>
          </a:p>
        </p:txBody>
      </p:sp>
      <p:sp>
        <p:nvSpPr>
          <p:cNvPr id="27" name="Shape 25"/>
          <p:cNvSpPr/>
          <p:nvPr/>
        </p:nvSpPr>
        <p:spPr>
          <a:xfrm>
            <a:off x="548640" y="6501384"/>
            <a:ext cx="320040" cy="36576"/>
          </a:xfrm>
          <a:prstGeom prst="rect">
            <a:avLst/>
          </a:prstGeom>
          <a:solidFill>
            <a:srgbClr val="DBA111"/>
          </a:solidFill>
          <a:ln/>
        </p:spPr>
      </p:sp>
      <p:sp>
        <p:nvSpPr>
          <p:cNvPr id="28" name="Text 26"/>
          <p:cNvSpPr/>
          <p:nvPr/>
        </p:nvSpPr>
        <p:spPr>
          <a:xfrm>
            <a:off x="960120" y="6382512"/>
            <a:ext cx="6583680" cy="274320"/>
          </a:xfrm>
          <a:prstGeom prst="rect">
            <a:avLst/>
          </a:prstGeom>
          <a:noFill/>
          <a:ln/>
        </p:spPr>
        <p:txBody>
          <a:bodyPr wrap="square" lIns="0" tIns="0" rIns="0" bIns="0" rtlCol="0" anchor="ctr"/>
          <a:lstStyle/>
          <a:p>
            <a:pPr indent="0" marL="0">
              <a:buNone/>
            </a:pPr>
            <a:r>
              <a:rPr lang="en-US" sz="1000" b="1" spc="160" kern="0" dirty="0">
                <a:solidFill>
                  <a:srgbClr val="475569"/>
                </a:solidFill>
                <a:latin typeface="Calibri" pitchFamily="34" charset="0"/>
                <a:ea typeface="Calibri" pitchFamily="34" charset="-122"/>
                <a:cs typeface="Calibri" pitchFamily="34" charset="-120"/>
              </a:rPr>
              <a:t>CISS INTERNSHIP  |  DELIVERY APPROACH</a:t>
            </a:r>
            <a:endParaRPr lang="en-US" sz="1000" dirty="0"/>
          </a:p>
        </p:txBody>
      </p:sp>
      <p:sp>
        <p:nvSpPr>
          <p:cNvPr id="29" name="Text 27"/>
          <p:cNvSpPr/>
          <p:nvPr/>
        </p:nvSpPr>
        <p:spPr>
          <a:xfrm>
            <a:off x="7406640" y="6382512"/>
            <a:ext cx="3291840" cy="274320"/>
          </a:xfrm>
          <a:prstGeom prst="rect">
            <a:avLst/>
          </a:prstGeom>
          <a:noFill/>
          <a:ln/>
        </p:spPr>
        <p:txBody>
          <a:bodyPr wrap="square" lIns="0" tIns="0" rIns="0" bIns="0" rtlCol="0" anchor="ctr"/>
          <a:lstStyle/>
          <a:p>
            <a:pPr algn="r" indent="0" marL="0">
              <a:buNone/>
            </a:pPr>
            <a:r>
              <a:rPr lang="en-US" sz="1000" i="1" dirty="0">
                <a:solidFill>
                  <a:srgbClr val="475569"/>
                </a:solidFill>
                <a:latin typeface="Calibri" pitchFamily="34" charset="0"/>
                <a:ea typeface="Calibri" pitchFamily="34" charset="-122"/>
                <a:cs typeface="Calibri" pitchFamily="34" charset="-120"/>
              </a:rPr>
              <a:t>Weeks 6+</a:t>
            </a:r>
            <a:endParaRPr lang="en-US" sz="1000" dirty="0"/>
          </a:p>
        </p:txBody>
      </p:sp>
      <p:sp>
        <p:nvSpPr>
          <p:cNvPr id="30" name="Text 28"/>
          <p:cNvSpPr/>
          <p:nvPr/>
        </p:nvSpPr>
        <p:spPr>
          <a:xfrm>
            <a:off x="10835640" y="6382512"/>
            <a:ext cx="777240" cy="274320"/>
          </a:xfrm>
          <a:prstGeom prst="rect">
            <a:avLst/>
          </a:prstGeom>
          <a:noFill/>
          <a:ln/>
        </p:spPr>
        <p:txBody>
          <a:bodyPr wrap="square" lIns="0" tIns="0" rIns="0" bIns="0" rtlCol="0" anchor="ctr"/>
          <a:lstStyle/>
          <a:p>
            <a:pPr algn="r" indent="0" marL="0">
              <a:buNone/>
            </a:pPr>
            <a:r>
              <a:rPr lang="en-US" sz="1200" b="1" dirty="0">
                <a:solidFill>
                  <a:srgbClr val="034694"/>
                </a:solidFill>
                <a:latin typeface="Century Gothic" pitchFamily="34" charset="0"/>
                <a:ea typeface="Century Gothic" pitchFamily="34" charset="-122"/>
                <a:cs typeface="Century Gothic"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256032"/>
          </a:xfrm>
          <a:prstGeom prst="rect">
            <a:avLst/>
          </a:prstGeom>
          <a:noFill/>
          <a:ln/>
        </p:spPr>
        <p:txBody>
          <a:bodyPr wrap="square" lIns="0" tIns="0" rIns="0" bIns="0" rtlCol="0" anchor="ctr"/>
          <a:lstStyle/>
          <a:p>
            <a:pPr indent="0" marL="0">
              <a:buNone/>
            </a:pPr>
            <a:r>
              <a:rPr lang="en-US" sz="1100" b="1" spc="320" kern="0" dirty="0">
                <a:solidFill>
                  <a:srgbClr val="DBA111"/>
                </a:solidFill>
                <a:latin typeface="Calibri" pitchFamily="34" charset="0"/>
                <a:ea typeface="Calibri" pitchFamily="34" charset="-122"/>
                <a:cs typeface="Calibri" pitchFamily="34" charset="-120"/>
              </a:rPr>
              <a:t>MILITARY LECTURES</a:t>
            </a:r>
            <a:endParaRPr lang="en-US" sz="1100" dirty="0"/>
          </a:p>
        </p:txBody>
      </p:sp>
      <p:sp>
        <p:nvSpPr>
          <p:cNvPr id="3" name="Text 1"/>
          <p:cNvSpPr/>
          <p:nvPr/>
        </p:nvSpPr>
        <p:spPr>
          <a:xfrm>
            <a:off x="548640" y="621792"/>
            <a:ext cx="11064240" cy="566928"/>
          </a:xfrm>
          <a:prstGeom prst="rect">
            <a:avLst/>
          </a:prstGeom>
          <a:noFill/>
          <a:ln/>
        </p:spPr>
        <p:txBody>
          <a:bodyPr wrap="square" lIns="0" tIns="0" rIns="0" bIns="0" rtlCol="0" anchor="ctr"/>
          <a:lstStyle/>
          <a:p>
            <a:pPr indent="0" marL="0">
              <a:buNone/>
            </a:pPr>
            <a:r>
              <a:rPr lang="en-US" sz="2600" b="1" dirty="0">
                <a:solidFill>
                  <a:srgbClr val="034694"/>
                </a:solidFill>
                <a:latin typeface="Century Gothic" pitchFamily="34" charset="0"/>
                <a:ea typeface="Century Gothic" pitchFamily="34" charset="-122"/>
                <a:cs typeface="Century Gothic" pitchFamily="34" charset="-120"/>
              </a:rPr>
              <a:t>Worked in as needed — after TAA review, not before</a:t>
            </a:r>
            <a:endParaRPr lang="en-US" sz="2600" dirty="0"/>
          </a:p>
        </p:txBody>
      </p:sp>
      <p:sp>
        <p:nvSpPr>
          <p:cNvPr id="4" name="Shape 2"/>
          <p:cNvSpPr/>
          <p:nvPr/>
        </p:nvSpPr>
        <p:spPr>
          <a:xfrm>
            <a:off x="548640" y="1353312"/>
            <a:ext cx="11091672" cy="868680"/>
          </a:xfrm>
          <a:prstGeom prst="rect">
            <a:avLst/>
          </a:prstGeom>
          <a:solidFill>
            <a:srgbClr val="F5F3EC"/>
          </a:solidFill>
          <a:ln/>
        </p:spPr>
      </p:sp>
      <p:sp>
        <p:nvSpPr>
          <p:cNvPr id="5" name="Text 3"/>
          <p:cNvSpPr/>
          <p:nvPr/>
        </p:nvSpPr>
        <p:spPr>
          <a:xfrm>
            <a:off x="777240" y="1444752"/>
            <a:ext cx="10698480" cy="685800"/>
          </a:xfrm>
          <a:prstGeom prst="rect">
            <a:avLst/>
          </a:prstGeom>
          <a:noFill/>
          <a:ln/>
        </p:spPr>
        <p:txBody>
          <a:bodyPr wrap="square" lIns="0" tIns="0" rIns="0" bIns="0" rtlCol="0" anchor="ctr"/>
          <a:lstStyle/>
          <a:p>
            <a:pPr indent="0" marL="0">
              <a:buNone/>
            </a:pPr>
            <a:r>
              <a:rPr lang="en-US" sz="1500" dirty="0">
                <a:solidFill>
                  <a:srgbClr val="111827"/>
                </a:solidFill>
                <a:latin typeface="Calibri" pitchFamily="34" charset="0"/>
                <a:ea typeface="Calibri" pitchFamily="34" charset="-122"/>
                <a:cs typeface="Calibri" pitchFamily="34" charset="-120"/>
              </a:rPr>
              <a:t>Military content is useful so interns can talk to operators without pretending to be them. It is also the fastest way to step on the Technical Assistance Agreement. No lecture is scheduled until export/TAA review says it is not a defense service.</a:t>
            </a:r>
            <a:endParaRPr lang="en-US" sz="1500" dirty="0"/>
          </a:p>
        </p:txBody>
      </p:sp>
      <p:sp>
        <p:nvSpPr>
          <p:cNvPr id="6" name="Shape 4"/>
          <p:cNvSpPr/>
          <p:nvPr/>
        </p:nvSpPr>
        <p:spPr>
          <a:xfrm>
            <a:off x="548640" y="2395728"/>
            <a:ext cx="5532120" cy="3154680"/>
          </a:xfrm>
          <a:prstGeom prst="rect">
            <a:avLst/>
          </a:prstGeom>
          <a:solidFill>
            <a:srgbClr val="FFFFFF"/>
          </a:solidFill>
          <a:ln w="12700">
            <a:solidFill>
              <a:srgbClr val="E5E7EB"/>
            </a:solidFill>
            <a:prstDash val="solid"/>
          </a:ln>
        </p:spPr>
      </p:sp>
      <p:sp>
        <p:nvSpPr>
          <p:cNvPr id="7" name="Shape 5"/>
          <p:cNvSpPr/>
          <p:nvPr/>
        </p:nvSpPr>
        <p:spPr>
          <a:xfrm>
            <a:off x="548640" y="2395728"/>
            <a:ext cx="91440" cy="3154680"/>
          </a:xfrm>
          <a:prstGeom prst="rect">
            <a:avLst/>
          </a:prstGeom>
          <a:solidFill>
            <a:srgbClr val="034694"/>
          </a:solidFill>
          <a:ln/>
        </p:spPr>
      </p:sp>
      <p:sp>
        <p:nvSpPr>
          <p:cNvPr id="8" name="Text 6"/>
          <p:cNvSpPr/>
          <p:nvPr/>
        </p:nvSpPr>
        <p:spPr>
          <a:xfrm>
            <a:off x="868680" y="2542032"/>
            <a:ext cx="4983480" cy="320040"/>
          </a:xfrm>
          <a:prstGeom prst="rect">
            <a:avLst/>
          </a:prstGeom>
          <a:noFill/>
          <a:ln/>
        </p:spPr>
        <p:txBody>
          <a:bodyPr wrap="square" lIns="0" tIns="0" rIns="0" bIns="0" rtlCol="0" anchor="ctr"/>
          <a:lstStyle/>
          <a:p>
            <a:pPr indent="0" marL="0">
              <a:buNone/>
            </a:pPr>
            <a:r>
              <a:rPr lang="en-US" sz="1300" b="1" spc="140" kern="0" dirty="0">
                <a:solidFill>
                  <a:srgbClr val="034694"/>
                </a:solidFill>
                <a:latin typeface="Calibri" pitchFamily="34" charset="0"/>
                <a:ea typeface="Calibri" pitchFamily="34" charset="-122"/>
                <a:cs typeface="Calibri" pitchFamily="34" charset="-120"/>
              </a:rPr>
              <a:t>LIKELY SAFE TO REVIEW</a:t>
            </a:r>
            <a:endParaRPr lang="en-US" sz="1300" dirty="0"/>
          </a:p>
        </p:txBody>
      </p:sp>
      <p:sp>
        <p:nvSpPr>
          <p:cNvPr id="9" name="Text 7"/>
          <p:cNvSpPr/>
          <p:nvPr/>
        </p:nvSpPr>
        <p:spPr>
          <a:xfrm>
            <a:off x="868680" y="2944368"/>
            <a:ext cx="4983480" cy="54864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Open-source UAE military structure, ranks, and public platforms</a:t>
            </a:r>
            <a:endParaRPr lang="en-US" sz="1300" dirty="0"/>
          </a:p>
        </p:txBody>
      </p:sp>
      <p:sp>
        <p:nvSpPr>
          <p:cNvPr id="10" name="Text 8"/>
          <p:cNvSpPr/>
          <p:nvPr/>
        </p:nvSpPr>
        <p:spPr>
          <a:xfrm>
            <a:off x="868680" y="3538728"/>
            <a:ext cx="4983480" cy="54864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Unclassified CONOPS / AOC vocabulary as literacy, not instruction in how to fight</a:t>
            </a:r>
            <a:endParaRPr lang="en-US" sz="1300" dirty="0"/>
          </a:p>
        </p:txBody>
      </p:sp>
      <p:sp>
        <p:nvSpPr>
          <p:cNvPr id="11" name="Text 9"/>
          <p:cNvSpPr/>
          <p:nvPr/>
        </p:nvSpPr>
        <p:spPr>
          <a:xfrm>
            <a:off x="868680" y="4133088"/>
            <a:ext cx="4983480" cy="54864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How an operator reads a picture — using the classroom SA system, not a fielded C2</a:t>
            </a:r>
            <a:endParaRPr lang="en-US" sz="1300" dirty="0"/>
          </a:p>
        </p:txBody>
      </p:sp>
      <p:sp>
        <p:nvSpPr>
          <p:cNvPr id="12" name="Text 10"/>
          <p:cNvSpPr/>
          <p:nvPr/>
        </p:nvSpPr>
        <p:spPr>
          <a:xfrm>
            <a:off x="868680" y="4727448"/>
            <a:ext cx="4983480" cy="54864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Public planning terms (ATO as a document type) without planning a real mission</a:t>
            </a:r>
            <a:endParaRPr lang="en-US" sz="1300" dirty="0"/>
          </a:p>
        </p:txBody>
      </p:sp>
      <p:sp>
        <p:nvSpPr>
          <p:cNvPr id="13" name="Shape 11"/>
          <p:cNvSpPr/>
          <p:nvPr/>
        </p:nvSpPr>
        <p:spPr>
          <a:xfrm>
            <a:off x="6263640" y="2395728"/>
            <a:ext cx="5376672" cy="3154680"/>
          </a:xfrm>
          <a:prstGeom prst="rect">
            <a:avLst/>
          </a:prstGeom>
          <a:solidFill>
            <a:srgbClr val="FFFFFF"/>
          </a:solidFill>
          <a:ln w="12700">
            <a:solidFill>
              <a:srgbClr val="E5E7EB"/>
            </a:solidFill>
            <a:prstDash val="solid"/>
          </a:ln>
        </p:spPr>
      </p:sp>
      <p:sp>
        <p:nvSpPr>
          <p:cNvPr id="14" name="Shape 12"/>
          <p:cNvSpPr/>
          <p:nvPr/>
        </p:nvSpPr>
        <p:spPr>
          <a:xfrm>
            <a:off x="6263640" y="2395728"/>
            <a:ext cx="91440" cy="3154680"/>
          </a:xfrm>
          <a:prstGeom prst="rect">
            <a:avLst/>
          </a:prstGeom>
          <a:solidFill>
            <a:srgbClr val="7A1F1F"/>
          </a:solidFill>
          <a:ln/>
        </p:spPr>
      </p:sp>
      <p:sp>
        <p:nvSpPr>
          <p:cNvPr id="15" name="Text 13"/>
          <p:cNvSpPr/>
          <p:nvPr/>
        </p:nvSpPr>
        <p:spPr>
          <a:xfrm>
            <a:off x="6583680" y="2542032"/>
            <a:ext cx="4846320" cy="320040"/>
          </a:xfrm>
          <a:prstGeom prst="rect">
            <a:avLst/>
          </a:prstGeom>
          <a:noFill/>
          <a:ln/>
        </p:spPr>
        <p:txBody>
          <a:bodyPr wrap="square" lIns="0" tIns="0" rIns="0" bIns="0" rtlCol="0" anchor="ctr"/>
          <a:lstStyle/>
          <a:p>
            <a:pPr indent="0" marL="0">
              <a:buNone/>
            </a:pPr>
            <a:r>
              <a:rPr lang="en-US" sz="1300" b="1" spc="120" kern="0" dirty="0">
                <a:solidFill>
                  <a:srgbClr val="7A1F1F"/>
                </a:solidFill>
                <a:latin typeface="Calibri" pitchFamily="34" charset="0"/>
                <a:ea typeface="Calibri" pitchFamily="34" charset="-122"/>
                <a:cs typeface="Calibri" pitchFamily="34" charset="-120"/>
              </a:rPr>
              <a:t>DO NOT TEACH UNTIL TAA SAYS YES</a:t>
            </a:r>
            <a:endParaRPr lang="en-US" sz="1300" dirty="0"/>
          </a:p>
        </p:txBody>
      </p:sp>
      <p:sp>
        <p:nvSpPr>
          <p:cNvPr id="16" name="Text 14"/>
          <p:cNvSpPr/>
          <p:nvPr/>
        </p:nvSpPr>
        <p:spPr>
          <a:xfrm>
            <a:off x="6583680" y="2944368"/>
            <a:ext cx="4846320" cy="54864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Tactics, techniques, procedures, or employment of weapons</a:t>
            </a:r>
            <a:endParaRPr lang="en-US" sz="1300" dirty="0"/>
          </a:p>
        </p:txBody>
      </p:sp>
      <p:sp>
        <p:nvSpPr>
          <p:cNvPr id="17" name="Text 15"/>
          <p:cNvSpPr/>
          <p:nvPr/>
        </p:nvSpPr>
        <p:spPr>
          <a:xfrm>
            <a:off x="6583680" y="3538728"/>
            <a:ext cx="4846320" cy="54864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Real basing, order of battle, ROE, or classified interfaces</a:t>
            </a:r>
            <a:endParaRPr lang="en-US" sz="1300" dirty="0"/>
          </a:p>
        </p:txBody>
      </p:sp>
      <p:sp>
        <p:nvSpPr>
          <p:cNvPr id="18" name="Text 16"/>
          <p:cNvSpPr/>
          <p:nvPr/>
        </p:nvSpPr>
        <p:spPr>
          <a:xfrm>
            <a:off x="6583680" y="4133088"/>
            <a:ext cx="4846320" cy="54864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How to plan or execute an actual air tasking cycle</a:t>
            </a:r>
            <a:endParaRPr lang="en-US" sz="1300" dirty="0"/>
          </a:p>
        </p:txBody>
      </p:sp>
      <p:sp>
        <p:nvSpPr>
          <p:cNvPr id="19" name="Text 17"/>
          <p:cNvSpPr/>
          <p:nvPr/>
        </p:nvSpPr>
        <p:spPr>
          <a:xfrm>
            <a:off x="6583680" y="4727448"/>
            <a:ext cx="4846320" cy="54864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Anything that would be “teaching them to operate a defense article”</a:t>
            </a:r>
            <a:endParaRPr lang="en-US" sz="1300" dirty="0"/>
          </a:p>
        </p:txBody>
      </p:sp>
      <p:sp>
        <p:nvSpPr>
          <p:cNvPr id="20" name="Shape 18"/>
          <p:cNvSpPr/>
          <p:nvPr/>
        </p:nvSpPr>
        <p:spPr>
          <a:xfrm>
            <a:off x="548640" y="6501384"/>
            <a:ext cx="320040" cy="36576"/>
          </a:xfrm>
          <a:prstGeom prst="rect">
            <a:avLst/>
          </a:prstGeom>
          <a:solidFill>
            <a:srgbClr val="DBA111"/>
          </a:solidFill>
          <a:ln/>
        </p:spPr>
      </p:sp>
      <p:sp>
        <p:nvSpPr>
          <p:cNvPr id="21" name="Text 19"/>
          <p:cNvSpPr/>
          <p:nvPr/>
        </p:nvSpPr>
        <p:spPr>
          <a:xfrm>
            <a:off x="960120" y="6382512"/>
            <a:ext cx="6583680" cy="274320"/>
          </a:xfrm>
          <a:prstGeom prst="rect">
            <a:avLst/>
          </a:prstGeom>
          <a:noFill/>
          <a:ln/>
        </p:spPr>
        <p:txBody>
          <a:bodyPr wrap="square" lIns="0" tIns="0" rIns="0" bIns="0" rtlCol="0" anchor="ctr"/>
          <a:lstStyle/>
          <a:p>
            <a:pPr indent="0" marL="0">
              <a:buNone/>
            </a:pPr>
            <a:r>
              <a:rPr lang="en-US" sz="1000" b="1" spc="160" kern="0" dirty="0">
                <a:solidFill>
                  <a:srgbClr val="475569"/>
                </a:solidFill>
                <a:latin typeface="Calibri" pitchFamily="34" charset="0"/>
                <a:ea typeface="Calibri" pitchFamily="34" charset="-122"/>
                <a:cs typeface="Calibri" pitchFamily="34" charset="-120"/>
              </a:rPr>
              <a:t>CISS INTERNSHIP  |  DELIVERY APPROACH</a:t>
            </a:r>
            <a:endParaRPr lang="en-US" sz="1000" dirty="0"/>
          </a:p>
        </p:txBody>
      </p:sp>
      <p:sp>
        <p:nvSpPr>
          <p:cNvPr id="22" name="Text 20"/>
          <p:cNvSpPr/>
          <p:nvPr/>
        </p:nvSpPr>
        <p:spPr>
          <a:xfrm>
            <a:off x="7406640" y="6382512"/>
            <a:ext cx="3291840" cy="274320"/>
          </a:xfrm>
          <a:prstGeom prst="rect">
            <a:avLst/>
          </a:prstGeom>
          <a:noFill/>
          <a:ln/>
        </p:spPr>
        <p:txBody>
          <a:bodyPr wrap="square" lIns="0" tIns="0" rIns="0" bIns="0" rtlCol="0" anchor="ctr"/>
          <a:lstStyle/>
          <a:p>
            <a:pPr algn="r" indent="0" marL="0">
              <a:buNone/>
            </a:pPr>
            <a:r>
              <a:rPr lang="en-US" sz="1000" i="1" dirty="0">
                <a:solidFill>
                  <a:srgbClr val="475569"/>
                </a:solidFill>
                <a:latin typeface="Calibri" pitchFamily="34" charset="0"/>
                <a:ea typeface="Calibri" pitchFamily="34" charset="-122"/>
                <a:cs typeface="Calibri" pitchFamily="34" charset="-120"/>
              </a:rPr>
              <a:t>Military / TAA</a:t>
            </a:r>
            <a:endParaRPr lang="en-US" sz="1000" dirty="0"/>
          </a:p>
        </p:txBody>
      </p:sp>
      <p:sp>
        <p:nvSpPr>
          <p:cNvPr id="23" name="Text 21"/>
          <p:cNvSpPr/>
          <p:nvPr/>
        </p:nvSpPr>
        <p:spPr>
          <a:xfrm>
            <a:off x="10835640" y="6382512"/>
            <a:ext cx="777240" cy="274320"/>
          </a:xfrm>
          <a:prstGeom prst="rect">
            <a:avLst/>
          </a:prstGeom>
          <a:noFill/>
          <a:ln/>
        </p:spPr>
        <p:txBody>
          <a:bodyPr wrap="square" lIns="0" tIns="0" rIns="0" bIns="0" rtlCol="0" anchor="ctr"/>
          <a:lstStyle/>
          <a:p>
            <a:pPr algn="r" indent="0" marL="0">
              <a:buNone/>
            </a:pPr>
            <a:r>
              <a:rPr lang="en-US" sz="1200" b="1" dirty="0">
                <a:solidFill>
                  <a:srgbClr val="034694"/>
                </a:solidFill>
                <a:latin typeface="Century Gothic" pitchFamily="34" charset="0"/>
                <a:ea typeface="Century Gothic" pitchFamily="34" charset="-122"/>
                <a:cs typeface="Century Gothic"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256032"/>
          </a:xfrm>
          <a:prstGeom prst="rect">
            <a:avLst/>
          </a:prstGeom>
          <a:noFill/>
          <a:ln/>
        </p:spPr>
        <p:txBody>
          <a:bodyPr wrap="square" lIns="0" tIns="0" rIns="0" bIns="0" rtlCol="0" anchor="ctr"/>
          <a:lstStyle/>
          <a:p>
            <a:pPr indent="0" marL="0">
              <a:buNone/>
            </a:pPr>
            <a:r>
              <a:rPr lang="en-US" sz="1100" b="1" spc="320" kern="0" dirty="0">
                <a:solidFill>
                  <a:srgbClr val="DBA111"/>
                </a:solidFill>
                <a:latin typeface="Calibri" pitchFamily="34" charset="0"/>
                <a:ea typeface="Calibri" pitchFamily="34" charset="-122"/>
                <a:cs typeface="Calibri" pitchFamily="34" charset="-120"/>
              </a:rPr>
              <a:t>WEEKS 25–36</a:t>
            </a:r>
            <a:endParaRPr lang="en-US" sz="1100" dirty="0"/>
          </a:p>
        </p:txBody>
      </p:sp>
      <p:sp>
        <p:nvSpPr>
          <p:cNvPr id="3" name="Text 1"/>
          <p:cNvSpPr/>
          <p:nvPr/>
        </p:nvSpPr>
        <p:spPr>
          <a:xfrm>
            <a:off x="548640" y="621792"/>
            <a:ext cx="11064240" cy="566928"/>
          </a:xfrm>
          <a:prstGeom prst="rect">
            <a:avLst/>
          </a:prstGeom>
          <a:noFill/>
          <a:ln/>
        </p:spPr>
        <p:txBody>
          <a:bodyPr wrap="square" lIns="0" tIns="0" rIns="0" bIns="0" rtlCol="0" anchor="ctr"/>
          <a:lstStyle/>
          <a:p>
            <a:pPr indent="0" marL="0">
              <a:buNone/>
            </a:pPr>
            <a:r>
              <a:rPr lang="en-US" sz="2600" b="1" dirty="0">
                <a:solidFill>
                  <a:srgbClr val="034694"/>
                </a:solidFill>
                <a:latin typeface="Century Gothic" pitchFamily="34" charset="0"/>
                <a:ea typeface="Century Gothic" pitchFamily="34" charset="-122"/>
                <a:cs typeface="Century Gothic" pitchFamily="34" charset="-120"/>
              </a:rPr>
              <a:t>Masdar remains the plan. SDC is a gated option.</a:t>
            </a:r>
            <a:endParaRPr lang="en-US" sz="2600" dirty="0"/>
          </a:p>
        </p:txBody>
      </p:sp>
      <p:sp>
        <p:nvSpPr>
          <p:cNvPr id="4" name="Shape 2"/>
          <p:cNvSpPr/>
          <p:nvPr/>
        </p:nvSpPr>
        <p:spPr>
          <a:xfrm>
            <a:off x="548640" y="1371600"/>
            <a:ext cx="7040880" cy="4160520"/>
          </a:xfrm>
          <a:prstGeom prst="rect">
            <a:avLst/>
          </a:prstGeom>
          <a:solidFill>
            <a:srgbClr val="FFFFFF"/>
          </a:solidFill>
          <a:ln w="12700">
            <a:solidFill>
              <a:srgbClr val="E5E7EB"/>
            </a:solidFill>
            <a:prstDash val="solid"/>
          </a:ln>
        </p:spPr>
      </p:sp>
      <p:sp>
        <p:nvSpPr>
          <p:cNvPr id="5" name="Shape 3"/>
          <p:cNvSpPr/>
          <p:nvPr/>
        </p:nvSpPr>
        <p:spPr>
          <a:xfrm>
            <a:off x="548640" y="1371600"/>
            <a:ext cx="7040880" cy="73152"/>
          </a:xfrm>
          <a:prstGeom prst="rect">
            <a:avLst/>
          </a:prstGeom>
          <a:solidFill>
            <a:srgbClr val="DBA111"/>
          </a:solidFill>
          <a:ln/>
        </p:spPr>
      </p:sp>
      <p:sp>
        <p:nvSpPr>
          <p:cNvPr id="6" name="Text 4"/>
          <p:cNvSpPr/>
          <p:nvPr/>
        </p:nvSpPr>
        <p:spPr>
          <a:xfrm>
            <a:off x="822960" y="1600200"/>
            <a:ext cx="6537960" cy="365760"/>
          </a:xfrm>
          <a:prstGeom prst="rect">
            <a:avLst/>
          </a:prstGeom>
          <a:noFill/>
          <a:ln/>
        </p:spPr>
        <p:txBody>
          <a:bodyPr wrap="square" lIns="0" tIns="0" rIns="0" bIns="0" rtlCol="0" anchor="ctr"/>
          <a:lstStyle/>
          <a:p>
            <a:pPr indent="0" marL="0">
              <a:buNone/>
            </a:pPr>
            <a:r>
              <a:rPr lang="en-US" sz="2000" b="1" dirty="0">
                <a:solidFill>
                  <a:srgbClr val="034694"/>
                </a:solidFill>
                <a:latin typeface="Century Gothic" pitchFamily="34" charset="0"/>
                <a:ea typeface="Century Gothic" pitchFamily="34" charset="-122"/>
                <a:cs typeface="Century Gothic" pitchFamily="34" charset="-120"/>
              </a:rPr>
              <a:t>What “may” means</a:t>
            </a:r>
            <a:endParaRPr lang="en-US" sz="2000" dirty="0"/>
          </a:p>
        </p:txBody>
      </p:sp>
      <p:sp>
        <p:nvSpPr>
          <p:cNvPr id="7" name="Text 5"/>
          <p:cNvSpPr/>
          <p:nvPr/>
        </p:nvSpPr>
        <p:spPr>
          <a:xfrm>
            <a:off x="822960" y="2084832"/>
            <a:ext cx="6537960" cy="292608"/>
          </a:xfrm>
          <a:prstGeom prst="rect">
            <a:avLst/>
          </a:prstGeom>
          <a:noFill/>
          <a:ln/>
        </p:spPr>
        <p:txBody>
          <a:bodyPr wrap="square" lIns="0" tIns="0" rIns="0" bIns="0" rtlCol="0" anchor="ctr"/>
          <a:lstStyle/>
          <a:p>
            <a:pPr indent="0" marL="0">
              <a:buNone/>
            </a:pPr>
            <a:r>
              <a:rPr lang="en-US" sz="1400" b="1" dirty="0">
                <a:solidFill>
                  <a:srgbClr val="034694"/>
                </a:solidFill>
                <a:latin typeface="Calibri" pitchFamily="34" charset="0"/>
                <a:ea typeface="Calibri" pitchFamily="34" charset="-122"/>
                <a:cs typeface="Calibri" pitchFamily="34" charset="-120"/>
              </a:rPr>
              <a:t>Not in the plan of record</a:t>
            </a:r>
            <a:endParaRPr lang="en-US" sz="1400" dirty="0"/>
          </a:p>
        </p:txBody>
      </p:sp>
      <p:sp>
        <p:nvSpPr>
          <p:cNvPr id="8" name="Text 6"/>
          <p:cNvSpPr/>
          <p:nvPr/>
        </p:nvSpPr>
        <p:spPr>
          <a:xfrm>
            <a:off x="822960" y="2359152"/>
            <a:ext cx="6537960" cy="45720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The 36-week Masdar afternoon cadence is what we staff and schedule. SDC on-site is an add-on.</a:t>
            </a:r>
            <a:endParaRPr lang="en-US" sz="1300" dirty="0"/>
          </a:p>
        </p:txBody>
      </p:sp>
      <p:sp>
        <p:nvSpPr>
          <p:cNvPr id="9" name="Text 7"/>
          <p:cNvSpPr/>
          <p:nvPr/>
        </p:nvSpPr>
        <p:spPr>
          <a:xfrm>
            <a:off x="822960" y="2889504"/>
            <a:ext cx="6537960" cy="292608"/>
          </a:xfrm>
          <a:prstGeom prst="rect">
            <a:avLst/>
          </a:prstGeom>
          <a:noFill/>
          <a:ln/>
        </p:spPr>
        <p:txBody>
          <a:bodyPr wrap="square" lIns="0" tIns="0" rIns="0" bIns="0" rtlCol="0" anchor="ctr"/>
          <a:lstStyle/>
          <a:p>
            <a:pPr indent="0" marL="0">
              <a:buNone/>
            </a:pPr>
            <a:r>
              <a:rPr lang="en-US" sz="1400" b="1" dirty="0">
                <a:solidFill>
                  <a:srgbClr val="034694"/>
                </a:solidFill>
                <a:latin typeface="Calibri" pitchFamily="34" charset="0"/>
                <a:ea typeface="Calibri" pitchFamily="34" charset="-122"/>
                <a:cs typeface="Calibri" pitchFamily="34" charset="-120"/>
              </a:rPr>
              <a:t>By discipline, not as a cohort move</a:t>
            </a:r>
            <a:endParaRPr lang="en-US" sz="1400" dirty="0"/>
          </a:p>
        </p:txBody>
      </p:sp>
      <p:sp>
        <p:nvSpPr>
          <p:cNvPr id="10" name="Text 8"/>
          <p:cNvSpPr/>
          <p:nvPr/>
        </p:nvSpPr>
        <p:spPr>
          <a:xfrm>
            <a:off x="822960" y="3163824"/>
            <a:ext cx="6537960" cy="45720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A student working a specific discipline may go to the SDC for training. This is not “the class relocates in week 25.”</a:t>
            </a:r>
            <a:endParaRPr lang="en-US" sz="1300" dirty="0"/>
          </a:p>
        </p:txBody>
      </p:sp>
      <p:sp>
        <p:nvSpPr>
          <p:cNvPr id="11" name="Text 9"/>
          <p:cNvSpPr/>
          <p:nvPr/>
        </p:nvSpPr>
        <p:spPr>
          <a:xfrm>
            <a:off x="822960" y="3694176"/>
            <a:ext cx="6537960" cy="292608"/>
          </a:xfrm>
          <a:prstGeom prst="rect">
            <a:avLst/>
          </a:prstGeom>
          <a:noFill/>
          <a:ln/>
        </p:spPr>
        <p:txBody>
          <a:bodyPr wrap="square" lIns="0" tIns="0" rIns="0" bIns="0" rtlCol="0" anchor="ctr"/>
          <a:lstStyle/>
          <a:p>
            <a:pPr indent="0" marL="0">
              <a:buNone/>
            </a:pPr>
            <a:r>
              <a:rPr lang="en-US" sz="1400" b="1" dirty="0">
                <a:solidFill>
                  <a:srgbClr val="034694"/>
                </a:solidFill>
                <a:latin typeface="Calibri" pitchFamily="34" charset="0"/>
                <a:ea typeface="Calibri" pitchFamily="34" charset="-122"/>
                <a:cs typeface="Calibri" pitchFamily="34" charset="-120"/>
              </a:rPr>
              <a:t>Approvals are not in place</a:t>
            </a:r>
            <a:endParaRPr lang="en-US" sz="1400" dirty="0"/>
          </a:p>
        </p:txBody>
      </p:sp>
      <p:sp>
        <p:nvSpPr>
          <p:cNvPr id="12" name="Text 10"/>
          <p:cNvSpPr/>
          <p:nvPr/>
        </p:nvSpPr>
        <p:spPr>
          <a:xfrm>
            <a:off x="822960" y="3968496"/>
            <a:ext cx="6537960" cy="45720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Base access, export, and host-nation/program permissions are still open. Do not brief interns that they will be at Al Dhafra.</a:t>
            </a:r>
            <a:endParaRPr lang="en-US" sz="1300" dirty="0"/>
          </a:p>
        </p:txBody>
      </p:sp>
      <p:sp>
        <p:nvSpPr>
          <p:cNvPr id="13" name="Text 11"/>
          <p:cNvSpPr/>
          <p:nvPr/>
        </p:nvSpPr>
        <p:spPr>
          <a:xfrm>
            <a:off x="822960" y="4498848"/>
            <a:ext cx="6537960" cy="292608"/>
          </a:xfrm>
          <a:prstGeom prst="rect">
            <a:avLst/>
          </a:prstGeom>
          <a:noFill/>
          <a:ln/>
        </p:spPr>
        <p:txBody>
          <a:bodyPr wrap="square" lIns="0" tIns="0" rIns="0" bIns="0" rtlCol="0" anchor="ctr"/>
          <a:lstStyle/>
          <a:p>
            <a:pPr indent="0" marL="0">
              <a:buNone/>
            </a:pPr>
            <a:r>
              <a:rPr lang="en-US" sz="1400" b="1" dirty="0">
                <a:solidFill>
                  <a:srgbClr val="034694"/>
                </a:solidFill>
                <a:latin typeface="Calibri" pitchFamily="34" charset="0"/>
                <a:ea typeface="Calibri" pitchFamily="34" charset="-122"/>
                <a:cs typeface="Calibri" pitchFamily="34" charset="-120"/>
              </a:rPr>
              <a:t>If approvals land</a:t>
            </a:r>
            <a:endParaRPr lang="en-US" sz="1400" dirty="0"/>
          </a:p>
        </p:txBody>
      </p:sp>
      <p:sp>
        <p:nvSpPr>
          <p:cNvPr id="14" name="Text 12"/>
          <p:cNvSpPr/>
          <p:nvPr/>
        </p:nvSpPr>
        <p:spPr>
          <a:xfrm>
            <a:off x="822960" y="4773168"/>
            <a:ext cx="6537960" cy="45720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Use SDC time for gear, labs, and work that cannot be done at Masdar. Keep SE and capstone integration on the Masdar rhythm unless that also gets approved.</a:t>
            </a:r>
            <a:endParaRPr lang="en-US" sz="1300" dirty="0"/>
          </a:p>
        </p:txBody>
      </p:sp>
      <p:sp>
        <p:nvSpPr>
          <p:cNvPr id="15" name="Shape 13"/>
          <p:cNvSpPr/>
          <p:nvPr/>
        </p:nvSpPr>
        <p:spPr>
          <a:xfrm>
            <a:off x="7772400" y="1371600"/>
            <a:ext cx="3867912" cy="4160520"/>
          </a:xfrm>
          <a:prstGeom prst="rect">
            <a:avLst/>
          </a:prstGeom>
          <a:solidFill>
            <a:srgbClr val="021F47"/>
          </a:solidFill>
          <a:ln/>
        </p:spPr>
      </p:sp>
      <p:sp>
        <p:nvSpPr>
          <p:cNvPr id="16" name="Text 14"/>
          <p:cNvSpPr/>
          <p:nvPr/>
        </p:nvSpPr>
        <p:spPr>
          <a:xfrm>
            <a:off x="8001000" y="1600200"/>
            <a:ext cx="3474720" cy="274320"/>
          </a:xfrm>
          <a:prstGeom prst="rect">
            <a:avLst/>
          </a:prstGeom>
          <a:noFill/>
          <a:ln/>
        </p:spPr>
        <p:txBody>
          <a:bodyPr wrap="square" lIns="0" tIns="0" rIns="0" bIns="0" rtlCol="0" anchor="ctr"/>
          <a:lstStyle/>
          <a:p>
            <a:pPr indent="0" marL="0">
              <a:buNone/>
            </a:pPr>
            <a:r>
              <a:rPr lang="en-US" sz="1200" b="1" spc="200" kern="0" dirty="0">
                <a:solidFill>
                  <a:srgbClr val="DBA111"/>
                </a:solidFill>
                <a:latin typeface="Calibri" pitchFamily="34" charset="0"/>
                <a:ea typeface="Calibri" pitchFamily="34" charset="-122"/>
                <a:cs typeface="Calibri" pitchFamily="34" charset="-120"/>
              </a:rPr>
              <a:t>BRIEFING LINE</a:t>
            </a:r>
            <a:endParaRPr lang="en-US" sz="1200" dirty="0"/>
          </a:p>
        </p:txBody>
      </p:sp>
      <p:sp>
        <p:nvSpPr>
          <p:cNvPr id="17" name="Text 15"/>
          <p:cNvSpPr/>
          <p:nvPr/>
        </p:nvSpPr>
        <p:spPr>
          <a:xfrm>
            <a:off x="8001000" y="2011680"/>
            <a:ext cx="3474720" cy="155448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After 24 weeks, selected students may train at the SDC if approvals are granted. Until then, all instruction is at Masdar City.</a:t>
            </a:r>
            <a:endParaRPr lang="en-US" sz="1600" dirty="0"/>
          </a:p>
        </p:txBody>
      </p:sp>
      <p:sp>
        <p:nvSpPr>
          <p:cNvPr id="18" name="Text 16"/>
          <p:cNvSpPr/>
          <p:nvPr/>
        </p:nvSpPr>
        <p:spPr>
          <a:xfrm>
            <a:off x="8001000" y="3794760"/>
            <a:ext cx="3474720" cy="1280160"/>
          </a:xfrm>
          <a:prstGeom prst="rect">
            <a:avLst/>
          </a:prstGeom>
          <a:noFill/>
          <a:ln/>
        </p:spPr>
        <p:txBody>
          <a:bodyPr wrap="square" lIns="0" tIns="0" rIns="0" bIns="0" rtlCol="0" anchor="ctr"/>
          <a:lstStyle/>
          <a:p>
            <a:pPr indent="0" marL="0">
              <a:buNone/>
            </a:pPr>
            <a:r>
              <a:rPr lang="en-US" sz="1500" i="1" dirty="0">
                <a:solidFill>
                  <a:srgbClr val="DBA111"/>
                </a:solidFill>
                <a:latin typeface="Calibri" pitchFamily="34" charset="0"/>
                <a:ea typeface="Calibri" pitchFamily="34" charset="-122"/>
                <a:cs typeface="Calibri" pitchFamily="34" charset="-120"/>
              </a:rPr>
              <a:t>Do not write SDC weeks into the published intern calendar as a promise.</a:t>
            </a:r>
            <a:endParaRPr lang="en-US" sz="1500" dirty="0"/>
          </a:p>
        </p:txBody>
      </p:sp>
      <p:sp>
        <p:nvSpPr>
          <p:cNvPr id="19" name="Shape 17"/>
          <p:cNvSpPr/>
          <p:nvPr/>
        </p:nvSpPr>
        <p:spPr>
          <a:xfrm>
            <a:off x="548640" y="6501384"/>
            <a:ext cx="320040" cy="36576"/>
          </a:xfrm>
          <a:prstGeom prst="rect">
            <a:avLst/>
          </a:prstGeom>
          <a:solidFill>
            <a:srgbClr val="DBA111"/>
          </a:solidFill>
          <a:ln/>
        </p:spPr>
      </p:sp>
      <p:sp>
        <p:nvSpPr>
          <p:cNvPr id="20" name="Text 18"/>
          <p:cNvSpPr/>
          <p:nvPr/>
        </p:nvSpPr>
        <p:spPr>
          <a:xfrm>
            <a:off x="960120" y="6382512"/>
            <a:ext cx="6583680" cy="274320"/>
          </a:xfrm>
          <a:prstGeom prst="rect">
            <a:avLst/>
          </a:prstGeom>
          <a:noFill/>
          <a:ln/>
        </p:spPr>
        <p:txBody>
          <a:bodyPr wrap="square" lIns="0" tIns="0" rIns="0" bIns="0" rtlCol="0" anchor="ctr"/>
          <a:lstStyle/>
          <a:p>
            <a:pPr indent="0" marL="0">
              <a:buNone/>
            </a:pPr>
            <a:r>
              <a:rPr lang="en-US" sz="1000" b="1" spc="160" kern="0" dirty="0">
                <a:solidFill>
                  <a:srgbClr val="475569"/>
                </a:solidFill>
                <a:latin typeface="Calibri" pitchFamily="34" charset="0"/>
                <a:ea typeface="Calibri" pitchFamily="34" charset="-122"/>
                <a:cs typeface="Calibri" pitchFamily="34" charset="-120"/>
              </a:rPr>
              <a:t>CISS INTERNSHIP  |  DELIVERY APPROACH</a:t>
            </a:r>
            <a:endParaRPr lang="en-US" sz="1000" dirty="0"/>
          </a:p>
        </p:txBody>
      </p:sp>
      <p:sp>
        <p:nvSpPr>
          <p:cNvPr id="21" name="Text 19"/>
          <p:cNvSpPr/>
          <p:nvPr/>
        </p:nvSpPr>
        <p:spPr>
          <a:xfrm>
            <a:off x="7406640" y="6382512"/>
            <a:ext cx="3291840" cy="274320"/>
          </a:xfrm>
          <a:prstGeom prst="rect">
            <a:avLst/>
          </a:prstGeom>
          <a:noFill/>
          <a:ln/>
        </p:spPr>
        <p:txBody>
          <a:bodyPr wrap="square" lIns="0" tIns="0" rIns="0" bIns="0" rtlCol="0" anchor="ctr"/>
          <a:lstStyle/>
          <a:p>
            <a:pPr algn="r" indent="0" marL="0">
              <a:buNone/>
            </a:pPr>
            <a:r>
              <a:rPr lang="en-US" sz="1000" i="1" dirty="0">
                <a:solidFill>
                  <a:srgbClr val="475569"/>
                </a:solidFill>
                <a:latin typeface="Calibri" pitchFamily="34" charset="0"/>
                <a:ea typeface="Calibri" pitchFamily="34" charset="-122"/>
                <a:cs typeface="Calibri" pitchFamily="34" charset="-120"/>
              </a:rPr>
              <a:t>SDC option</a:t>
            </a:r>
            <a:endParaRPr lang="en-US" sz="1000" dirty="0"/>
          </a:p>
        </p:txBody>
      </p:sp>
      <p:sp>
        <p:nvSpPr>
          <p:cNvPr id="22" name="Text 20"/>
          <p:cNvSpPr/>
          <p:nvPr/>
        </p:nvSpPr>
        <p:spPr>
          <a:xfrm>
            <a:off x="10835640" y="6382512"/>
            <a:ext cx="777240" cy="274320"/>
          </a:xfrm>
          <a:prstGeom prst="rect">
            <a:avLst/>
          </a:prstGeom>
          <a:noFill/>
          <a:ln/>
        </p:spPr>
        <p:txBody>
          <a:bodyPr wrap="square" lIns="0" tIns="0" rIns="0" bIns="0" rtlCol="0" anchor="ctr"/>
          <a:lstStyle/>
          <a:p>
            <a:pPr algn="r" indent="0" marL="0">
              <a:buNone/>
            </a:pPr>
            <a:r>
              <a:rPr lang="en-US" sz="1200" b="1" dirty="0">
                <a:solidFill>
                  <a:srgbClr val="034694"/>
                </a:solidFill>
                <a:latin typeface="Century Gothic" pitchFamily="34" charset="0"/>
                <a:ea typeface="Century Gothic" pitchFamily="34" charset="-122"/>
                <a:cs typeface="Century Gothic"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256032"/>
          </a:xfrm>
          <a:prstGeom prst="rect">
            <a:avLst/>
          </a:prstGeom>
          <a:noFill/>
          <a:ln/>
        </p:spPr>
        <p:txBody>
          <a:bodyPr wrap="square" lIns="0" tIns="0" rIns="0" bIns="0" rtlCol="0" anchor="ctr"/>
          <a:lstStyle/>
          <a:p>
            <a:pPr indent="0" marL="0">
              <a:buNone/>
            </a:pPr>
            <a:r>
              <a:rPr lang="en-US" sz="1100" b="1" spc="320" kern="0" dirty="0">
                <a:solidFill>
                  <a:srgbClr val="DBA111"/>
                </a:solidFill>
                <a:latin typeface="Calibri" pitchFamily="34" charset="0"/>
                <a:ea typeface="Calibri" pitchFamily="34" charset="-122"/>
                <a:cs typeface="Calibri" pitchFamily="34" charset="-120"/>
              </a:rPr>
              <a:t>DECISIONS AND NEXT STEPS</a:t>
            </a:r>
            <a:endParaRPr lang="en-US" sz="1100" dirty="0"/>
          </a:p>
        </p:txBody>
      </p:sp>
      <p:sp>
        <p:nvSpPr>
          <p:cNvPr id="3" name="Text 1"/>
          <p:cNvSpPr/>
          <p:nvPr/>
        </p:nvSpPr>
        <p:spPr>
          <a:xfrm>
            <a:off x="548640" y="621792"/>
            <a:ext cx="11064240" cy="566928"/>
          </a:xfrm>
          <a:prstGeom prst="rect">
            <a:avLst/>
          </a:prstGeom>
          <a:noFill/>
          <a:ln/>
        </p:spPr>
        <p:txBody>
          <a:bodyPr wrap="square" lIns="0" tIns="0" rIns="0" bIns="0" rtlCol="0" anchor="ctr"/>
          <a:lstStyle/>
          <a:p>
            <a:pPr indent="0" marL="0">
              <a:buNone/>
            </a:pPr>
            <a:r>
              <a:rPr lang="en-US" sz="2600" b="1" dirty="0">
                <a:solidFill>
                  <a:srgbClr val="034694"/>
                </a:solidFill>
                <a:latin typeface="Century Gothic" pitchFamily="34" charset="0"/>
                <a:ea typeface="Century Gothic" pitchFamily="34" charset="-122"/>
                <a:cs typeface="Century Gothic" pitchFamily="34" charset="-120"/>
              </a:rPr>
              <a:t>Agree these items, then rewrite the material</a:t>
            </a:r>
            <a:endParaRPr lang="en-US" sz="2600" dirty="0"/>
          </a:p>
        </p:txBody>
      </p:sp>
      <p:sp>
        <p:nvSpPr>
          <p:cNvPr id="4" name="Shape 2"/>
          <p:cNvSpPr/>
          <p:nvPr/>
        </p:nvSpPr>
        <p:spPr>
          <a:xfrm>
            <a:off x="548640" y="1353312"/>
            <a:ext cx="6903720" cy="896112"/>
          </a:xfrm>
          <a:prstGeom prst="rect">
            <a:avLst/>
          </a:prstGeom>
          <a:solidFill>
            <a:srgbClr val="F5F3EC"/>
          </a:solidFill>
          <a:ln/>
        </p:spPr>
      </p:sp>
      <p:sp>
        <p:nvSpPr>
          <p:cNvPr id="5" name="Shape 3"/>
          <p:cNvSpPr/>
          <p:nvPr/>
        </p:nvSpPr>
        <p:spPr>
          <a:xfrm>
            <a:off x="548640" y="1353312"/>
            <a:ext cx="457200" cy="896112"/>
          </a:xfrm>
          <a:prstGeom prst="rect">
            <a:avLst/>
          </a:prstGeom>
          <a:solidFill>
            <a:srgbClr val="034694"/>
          </a:solidFill>
          <a:ln/>
        </p:spPr>
      </p:sp>
      <p:sp>
        <p:nvSpPr>
          <p:cNvPr id="6" name="Text 4"/>
          <p:cNvSpPr/>
          <p:nvPr/>
        </p:nvSpPr>
        <p:spPr>
          <a:xfrm>
            <a:off x="548640" y="1353312"/>
            <a:ext cx="457200" cy="896112"/>
          </a:xfrm>
          <a:prstGeom prst="rect">
            <a:avLst/>
          </a:prstGeom>
          <a:noFill/>
          <a:ln/>
        </p:spPr>
        <p:txBody>
          <a:bodyPr wrap="square" lIns="0" tIns="0" rIns="0" bIns="0" rtlCol="0" anchor="ctr"/>
          <a:lstStyle/>
          <a:p>
            <a:pPr algn="ctr" indent="0" marL="0">
              <a:buNone/>
            </a:pPr>
            <a:r>
              <a:rPr lang="en-US" sz="1600" b="1" dirty="0">
                <a:solidFill>
                  <a:srgbClr val="FFFFFF"/>
                </a:solidFill>
                <a:latin typeface="Century Gothic" pitchFamily="34" charset="0"/>
                <a:ea typeface="Century Gothic" pitchFamily="34" charset="-122"/>
                <a:cs typeface="Century Gothic" pitchFamily="34" charset="-120"/>
              </a:rPr>
              <a:t>1</a:t>
            </a:r>
            <a:endParaRPr lang="en-US" sz="1600" dirty="0"/>
          </a:p>
        </p:txBody>
      </p:sp>
      <p:sp>
        <p:nvSpPr>
          <p:cNvPr id="7" name="Text 5"/>
          <p:cNvSpPr/>
          <p:nvPr/>
        </p:nvSpPr>
        <p:spPr>
          <a:xfrm>
            <a:off x="1143000" y="1426464"/>
            <a:ext cx="6126480" cy="749808"/>
          </a:xfrm>
          <a:prstGeom prst="rect">
            <a:avLst/>
          </a:prstGeom>
          <a:noFill/>
          <a:ln/>
        </p:spPr>
        <p:txBody>
          <a:bodyPr wrap="square" lIns="0" tIns="0" rIns="0" bIns="0" rtlCol="0" anchor="ctr"/>
          <a:lstStyle/>
          <a:p>
            <a:pPr indent="0" marL="0">
              <a:buNone/>
            </a:pPr>
            <a:r>
              <a:rPr lang="en-US" sz="1400" b="1" dirty="0">
                <a:solidFill>
                  <a:srgbClr val="034694"/>
                </a:solidFill>
                <a:latin typeface="Calibri" pitchFamily="34" charset="0"/>
                <a:ea typeface="Calibri" pitchFamily="34" charset="-122"/>
                <a:cs typeface="Calibri" pitchFamily="34" charset="-120"/>
              </a:rPr>
              <a:t>Weekday map</a:t>
            </a:r>
            <a:endParaRPr lang="en-US" sz="1400" dirty="0"/>
          </a:p>
          <a:p>
            <a:pPr indent="0" marL="0">
              <a:buNone/>
            </a:pPr>
            <a:r>
              <a:rPr lang="en-US" sz="1300" dirty="0">
                <a:solidFill>
                  <a:srgbClr val="111827"/>
                </a:solidFill>
                <a:latin typeface="Calibri" pitchFamily="34" charset="0"/>
                <a:ea typeface="Calibri" pitchFamily="34" charset="-122"/>
                <a:cs typeface="Calibri" pitchFamily="34" charset="-120"/>
              </a:rPr>
              <a:t>Confirm Mon SE / Tue NET / Wed SW / Thu Admin / Fri flex — or name the swap.</a:t>
            </a:r>
            <a:endParaRPr lang="en-US" sz="1400" dirty="0"/>
          </a:p>
        </p:txBody>
      </p:sp>
      <p:sp>
        <p:nvSpPr>
          <p:cNvPr id="8" name="Shape 6"/>
          <p:cNvSpPr/>
          <p:nvPr/>
        </p:nvSpPr>
        <p:spPr>
          <a:xfrm>
            <a:off x="548640" y="2340864"/>
            <a:ext cx="6903720" cy="896112"/>
          </a:xfrm>
          <a:prstGeom prst="rect">
            <a:avLst/>
          </a:prstGeom>
          <a:solidFill>
            <a:srgbClr val="F5F3EC"/>
          </a:solidFill>
          <a:ln/>
        </p:spPr>
      </p:sp>
      <p:sp>
        <p:nvSpPr>
          <p:cNvPr id="9" name="Shape 7"/>
          <p:cNvSpPr/>
          <p:nvPr/>
        </p:nvSpPr>
        <p:spPr>
          <a:xfrm>
            <a:off x="548640" y="2340864"/>
            <a:ext cx="457200" cy="896112"/>
          </a:xfrm>
          <a:prstGeom prst="rect">
            <a:avLst/>
          </a:prstGeom>
          <a:solidFill>
            <a:srgbClr val="034694"/>
          </a:solidFill>
          <a:ln/>
        </p:spPr>
      </p:sp>
      <p:sp>
        <p:nvSpPr>
          <p:cNvPr id="10" name="Text 8"/>
          <p:cNvSpPr/>
          <p:nvPr/>
        </p:nvSpPr>
        <p:spPr>
          <a:xfrm>
            <a:off x="548640" y="2340864"/>
            <a:ext cx="457200" cy="896112"/>
          </a:xfrm>
          <a:prstGeom prst="rect">
            <a:avLst/>
          </a:prstGeom>
          <a:noFill/>
          <a:ln/>
        </p:spPr>
        <p:txBody>
          <a:bodyPr wrap="square" lIns="0" tIns="0" rIns="0" bIns="0" rtlCol="0" anchor="ctr"/>
          <a:lstStyle/>
          <a:p>
            <a:pPr algn="ctr" indent="0" marL="0">
              <a:buNone/>
            </a:pPr>
            <a:r>
              <a:rPr lang="en-US" sz="1600" b="1" dirty="0">
                <a:solidFill>
                  <a:srgbClr val="FFFFFF"/>
                </a:solidFill>
                <a:latin typeface="Century Gothic" pitchFamily="34" charset="0"/>
                <a:ea typeface="Century Gothic" pitchFamily="34" charset="-122"/>
                <a:cs typeface="Century Gothic" pitchFamily="34" charset="-120"/>
              </a:rPr>
              <a:t>2</a:t>
            </a:r>
            <a:endParaRPr lang="en-US" sz="1600" dirty="0"/>
          </a:p>
        </p:txBody>
      </p:sp>
      <p:sp>
        <p:nvSpPr>
          <p:cNvPr id="11" name="Text 9"/>
          <p:cNvSpPr/>
          <p:nvPr/>
        </p:nvSpPr>
        <p:spPr>
          <a:xfrm>
            <a:off x="1143000" y="2414016"/>
            <a:ext cx="6126480" cy="749808"/>
          </a:xfrm>
          <a:prstGeom prst="rect">
            <a:avLst/>
          </a:prstGeom>
          <a:noFill/>
          <a:ln/>
        </p:spPr>
        <p:txBody>
          <a:bodyPr wrap="square" lIns="0" tIns="0" rIns="0" bIns="0" rtlCol="0" anchor="ctr"/>
          <a:lstStyle/>
          <a:p>
            <a:pPr indent="0" marL="0">
              <a:buNone/>
            </a:pPr>
            <a:r>
              <a:rPr lang="en-US" sz="1400" b="1" dirty="0">
                <a:solidFill>
                  <a:srgbClr val="034694"/>
                </a:solidFill>
                <a:latin typeface="Calibri" pitchFamily="34" charset="0"/>
                <a:ea typeface="Calibri" pitchFamily="34" charset="-122"/>
                <a:cs typeface="Calibri" pitchFamily="34" charset="-120"/>
              </a:rPr>
              <a:t>Elective rule</a:t>
            </a:r>
            <a:endParaRPr lang="en-US" sz="1400" dirty="0"/>
          </a:p>
          <a:p>
            <a:pPr indent="0" marL="0">
              <a:buNone/>
            </a:pPr>
            <a:r>
              <a:rPr lang="en-US" sz="1300" dirty="0">
                <a:solidFill>
                  <a:srgbClr val="111827"/>
                </a:solidFill>
                <a:latin typeface="Calibri" pitchFamily="34" charset="0"/>
                <a:ea typeface="Calibri" pitchFamily="34" charset="-122"/>
                <a:cs typeface="Calibri" pitchFamily="34" charset="-120"/>
              </a:rPr>
              <a:t>Must an intern keep at least one specialty, or may they sit SE-only after week 4?</a:t>
            </a:r>
            <a:endParaRPr lang="en-US" sz="1400" dirty="0"/>
          </a:p>
        </p:txBody>
      </p:sp>
      <p:sp>
        <p:nvSpPr>
          <p:cNvPr id="12" name="Shape 10"/>
          <p:cNvSpPr/>
          <p:nvPr/>
        </p:nvSpPr>
        <p:spPr>
          <a:xfrm>
            <a:off x="548640" y="3328416"/>
            <a:ext cx="6903720" cy="896112"/>
          </a:xfrm>
          <a:prstGeom prst="rect">
            <a:avLst/>
          </a:prstGeom>
          <a:solidFill>
            <a:srgbClr val="F5F3EC"/>
          </a:solidFill>
          <a:ln/>
        </p:spPr>
      </p:sp>
      <p:sp>
        <p:nvSpPr>
          <p:cNvPr id="13" name="Shape 11"/>
          <p:cNvSpPr/>
          <p:nvPr/>
        </p:nvSpPr>
        <p:spPr>
          <a:xfrm>
            <a:off x="548640" y="3328416"/>
            <a:ext cx="457200" cy="896112"/>
          </a:xfrm>
          <a:prstGeom prst="rect">
            <a:avLst/>
          </a:prstGeom>
          <a:solidFill>
            <a:srgbClr val="034694"/>
          </a:solidFill>
          <a:ln/>
        </p:spPr>
      </p:sp>
      <p:sp>
        <p:nvSpPr>
          <p:cNvPr id="14" name="Text 12"/>
          <p:cNvSpPr/>
          <p:nvPr/>
        </p:nvSpPr>
        <p:spPr>
          <a:xfrm>
            <a:off x="548640" y="3328416"/>
            <a:ext cx="457200" cy="896112"/>
          </a:xfrm>
          <a:prstGeom prst="rect">
            <a:avLst/>
          </a:prstGeom>
          <a:noFill/>
          <a:ln/>
        </p:spPr>
        <p:txBody>
          <a:bodyPr wrap="square" lIns="0" tIns="0" rIns="0" bIns="0" rtlCol="0" anchor="ctr"/>
          <a:lstStyle/>
          <a:p>
            <a:pPr algn="ctr" indent="0" marL="0">
              <a:buNone/>
            </a:pPr>
            <a:r>
              <a:rPr lang="en-US" sz="1600" b="1" dirty="0">
                <a:solidFill>
                  <a:srgbClr val="FFFFFF"/>
                </a:solidFill>
                <a:latin typeface="Century Gothic" pitchFamily="34" charset="0"/>
                <a:ea typeface="Century Gothic" pitchFamily="34" charset="-122"/>
                <a:cs typeface="Century Gothic" pitchFamily="34" charset="-120"/>
              </a:rPr>
              <a:t>3</a:t>
            </a:r>
            <a:endParaRPr lang="en-US" sz="1600" dirty="0"/>
          </a:p>
        </p:txBody>
      </p:sp>
      <p:sp>
        <p:nvSpPr>
          <p:cNvPr id="15" name="Text 13"/>
          <p:cNvSpPr/>
          <p:nvPr/>
        </p:nvSpPr>
        <p:spPr>
          <a:xfrm>
            <a:off x="1143000" y="3401568"/>
            <a:ext cx="6126480" cy="749808"/>
          </a:xfrm>
          <a:prstGeom prst="rect">
            <a:avLst/>
          </a:prstGeom>
          <a:noFill/>
          <a:ln/>
        </p:spPr>
        <p:txBody>
          <a:bodyPr wrap="square" lIns="0" tIns="0" rIns="0" bIns="0" rtlCol="0" anchor="ctr"/>
          <a:lstStyle/>
          <a:p>
            <a:pPr indent="0" marL="0">
              <a:buNone/>
            </a:pPr>
            <a:r>
              <a:rPr lang="en-US" sz="1400" b="1" dirty="0">
                <a:solidFill>
                  <a:srgbClr val="034694"/>
                </a:solidFill>
                <a:latin typeface="Calibri" pitchFamily="34" charset="0"/>
                <a:ea typeface="Calibri" pitchFamily="34" charset="-122"/>
                <a:cs typeface="Calibri" pitchFamily="34" charset="-120"/>
              </a:rPr>
              <a:t>TAA owner</a:t>
            </a:r>
            <a:endParaRPr lang="en-US" sz="1400" dirty="0"/>
          </a:p>
          <a:p>
            <a:pPr indent="0" marL="0">
              <a:buNone/>
            </a:pPr>
            <a:r>
              <a:rPr lang="en-US" sz="1300" dirty="0">
                <a:solidFill>
                  <a:srgbClr val="111827"/>
                </a:solidFill>
                <a:latin typeface="Calibri" pitchFamily="34" charset="0"/>
                <a:ea typeface="Calibri" pitchFamily="34" charset="-122"/>
                <a:cs typeface="Calibri" pitchFamily="34" charset="-120"/>
              </a:rPr>
              <a:t>Who reviews each military lecture against the TAA before it is put on the calendar?</a:t>
            </a:r>
            <a:endParaRPr lang="en-US" sz="1400" dirty="0"/>
          </a:p>
        </p:txBody>
      </p:sp>
      <p:sp>
        <p:nvSpPr>
          <p:cNvPr id="16" name="Shape 14"/>
          <p:cNvSpPr/>
          <p:nvPr/>
        </p:nvSpPr>
        <p:spPr>
          <a:xfrm>
            <a:off x="548640" y="4315968"/>
            <a:ext cx="6903720" cy="896112"/>
          </a:xfrm>
          <a:prstGeom prst="rect">
            <a:avLst/>
          </a:prstGeom>
          <a:solidFill>
            <a:srgbClr val="F5F3EC"/>
          </a:solidFill>
          <a:ln/>
        </p:spPr>
      </p:sp>
      <p:sp>
        <p:nvSpPr>
          <p:cNvPr id="17" name="Shape 15"/>
          <p:cNvSpPr/>
          <p:nvPr/>
        </p:nvSpPr>
        <p:spPr>
          <a:xfrm>
            <a:off x="548640" y="4315968"/>
            <a:ext cx="457200" cy="896112"/>
          </a:xfrm>
          <a:prstGeom prst="rect">
            <a:avLst/>
          </a:prstGeom>
          <a:solidFill>
            <a:srgbClr val="034694"/>
          </a:solidFill>
          <a:ln/>
        </p:spPr>
      </p:sp>
      <p:sp>
        <p:nvSpPr>
          <p:cNvPr id="18" name="Text 16"/>
          <p:cNvSpPr/>
          <p:nvPr/>
        </p:nvSpPr>
        <p:spPr>
          <a:xfrm>
            <a:off x="548640" y="4315968"/>
            <a:ext cx="457200" cy="896112"/>
          </a:xfrm>
          <a:prstGeom prst="rect">
            <a:avLst/>
          </a:prstGeom>
          <a:noFill/>
          <a:ln/>
        </p:spPr>
        <p:txBody>
          <a:bodyPr wrap="square" lIns="0" tIns="0" rIns="0" bIns="0" rtlCol="0" anchor="ctr"/>
          <a:lstStyle/>
          <a:p>
            <a:pPr algn="ctr" indent="0" marL="0">
              <a:buNone/>
            </a:pPr>
            <a:r>
              <a:rPr lang="en-US" sz="1600" b="1" dirty="0">
                <a:solidFill>
                  <a:srgbClr val="FFFFFF"/>
                </a:solidFill>
                <a:latin typeface="Century Gothic" pitchFamily="34" charset="0"/>
                <a:ea typeface="Century Gothic" pitchFamily="34" charset="-122"/>
                <a:cs typeface="Century Gothic" pitchFamily="34" charset="-120"/>
              </a:rPr>
              <a:t>4</a:t>
            </a:r>
            <a:endParaRPr lang="en-US" sz="1600" dirty="0"/>
          </a:p>
        </p:txBody>
      </p:sp>
      <p:sp>
        <p:nvSpPr>
          <p:cNvPr id="19" name="Text 17"/>
          <p:cNvSpPr/>
          <p:nvPr/>
        </p:nvSpPr>
        <p:spPr>
          <a:xfrm>
            <a:off x="1143000" y="4389120"/>
            <a:ext cx="6126480" cy="749808"/>
          </a:xfrm>
          <a:prstGeom prst="rect">
            <a:avLst/>
          </a:prstGeom>
          <a:noFill/>
          <a:ln/>
        </p:spPr>
        <p:txBody>
          <a:bodyPr wrap="square" lIns="0" tIns="0" rIns="0" bIns="0" rtlCol="0" anchor="ctr"/>
          <a:lstStyle/>
          <a:p>
            <a:pPr indent="0" marL="0">
              <a:buNone/>
            </a:pPr>
            <a:r>
              <a:rPr lang="en-US" sz="1400" b="1" dirty="0">
                <a:solidFill>
                  <a:srgbClr val="034694"/>
                </a:solidFill>
                <a:latin typeface="Calibri" pitchFamily="34" charset="0"/>
                <a:ea typeface="Calibri" pitchFamily="34" charset="-122"/>
                <a:cs typeface="Calibri" pitchFamily="34" charset="-120"/>
              </a:rPr>
              <a:t>SDC chase</a:t>
            </a:r>
            <a:endParaRPr lang="en-US" sz="1400" dirty="0"/>
          </a:p>
          <a:p>
            <a:pPr indent="0" marL="0">
              <a:buNone/>
            </a:pPr>
            <a:r>
              <a:rPr lang="en-US" sz="1300" dirty="0">
                <a:solidFill>
                  <a:srgbClr val="111827"/>
                </a:solidFill>
                <a:latin typeface="Calibri" pitchFamily="34" charset="0"/>
                <a:ea typeface="Calibri" pitchFamily="34" charset="-122"/>
                <a:cs typeface="Calibri" pitchFamily="34" charset="-120"/>
              </a:rPr>
              <a:t>Who owns the approval path, and what is the earliest honest date we might hear?</a:t>
            </a:r>
            <a:endParaRPr lang="en-US" sz="1400" dirty="0"/>
          </a:p>
        </p:txBody>
      </p:sp>
      <p:sp>
        <p:nvSpPr>
          <p:cNvPr id="20" name="Shape 18"/>
          <p:cNvSpPr/>
          <p:nvPr/>
        </p:nvSpPr>
        <p:spPr>
          <a:xfrm>
            <a:off x="7635240" y="1353312"/>
            <a:ext cx="4005072" cy="4160520"/>
          </a:xfrm>
          <a:prstGeom prst="rect">
            <a:avLst/>
          </a:prstGeom>
          <a:solidFill>
            <a:srgbClr val="021F47"/>
          </a:solidFill>
          <a:ln/>
        </p:spPr>
      </p:sp>
      <p:sp>
        <p:nvSpPr>
          <p:cNvPr id="21" name="Text 19"/>
          <p:cNvSpPr/>
          <p:nvPr/>
        </p:nvSpPr>
        <p:spPr>
          <a:xfrm>
            <a:off x="7863840" y="1554480"/>
            <a:ext cx="3611880" cy="292608"/>
          </a:xfrm>
          <a:prstGeom prst="rect">
            <a:avLst/>
          </a:prstGeom>
          <a:noFill/>
          <a:ln/>
        </p:spPr>
        <p:txBody>
          <a:bodyPr wrap="square" lIns="0" tIns="0" rIns="0" bIns="0" rtlCol="0" anchor="ctr"/>
          <a:lstStyle/>
          <a:p>
            <a:pPr indent="0" marL="0">
              <a:buNone/>
            </a:pPr>
            <a:r>
              <a:rPr lang="en-US" sz="1200" b="1" spc="180" kern="0" dirty="0">
                <a:solidFill>
                  <a:srgbClr val="DBA111"/>
                </a:solidFill>
                <a:latin typeface="Calibri" pitchFamily="34" charset="0"/>
                <a:ea typeface="Calibri" pitchFamily="34" charset="-122"/>
                <a:cs typeface="Calibri" pitchFamily="34" charset="-120"/>
              </a:rPr>
              <a:t>AFTER AGREEMENT</a:t>
            </a:r>
            <a:endParaRPr lang="en-US" sz="1200" dirty="0"/>
          </a:p>
        </p:txBody>
      </p:sp>
      <p:sp>
        <p:nvSpPr>
          <p:cNvPr id="22" name="Text 20"/>
          <p:cNvSpPr/>
          <p:nvPr/>
        </p:nvSpPr>
        <p:spPr>
          <a:xfrm>
            <a:off x="7863840" y="1965960"/>
            <a:ext cx="3611880" cy="62179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1.  Split each track into Foundation (W1–4), Kickoff (W5), and Depth (W6+).</a:t>
            </a:r>
            <a:endParaRPr lang="en-US" sz="1300" dirty="0"/>
          </a:p>
        </p:txBody>
      </p:sp>
      <p:sp>
        <p:nvSpPr>
          <p:cNvPr id="23" name="Text 21"/>
          <p:cNvSpPr/>
          <p:nvPr/>
        </p:nvSpPr>
        <p:spPr>
          <a:xfrm>
            <a:off x="7863840" y="2606040"/>
            <a:ext cx="3611880" cy="62179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2.  Write the four Week-5 “what we must accomplish” briefs.</a:t>
            </a:r>
            <a:endParaRPr lang="en-US" sz="1300" dirty="0"/>
          </a:p>
        </p:txBody>
      </p:sp>
      <p:sp>
        <p:nvSpPr>
          <p:cNvPr id="24" name="Text 22"/>
          <p:cNvSpPr/>
          <p:nvPr/>
        </p:nvSpPr>
        <p:spPr>
          <a:xfrm>
            <a:off x="7863840" y="3246120"/>
            <a:ext cx="3611880" cy="62179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3.  Build the weekly assign/review packets against the capstone, not against a generic syllabus.</a:t>
            </a:r>
            <a:endParaRPr lang="en-US" sz="1300" dirty="0"/>
          </a:p>
        </p:txBody>
      </p:sp>
      <p:sp>
        <p:nvSpPr>
          <p:cNvPr id="25" name="Text 23"/>
          <p:cNvSpPr/>
          <p:nvPr/>
        </p:nvSpPr>
        <p:spPr>
          <a:xfrm>
            <a:off x="7863840" y="3886200"/>
            <a:ext cx="3611880" cy="62179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4.  Park military modules until TAA review returns a yes or a rewrite.</a:t>
            </a:r>
            <a:endParaRPr lang="en-US" sz="1300" dirty="0"/>
          </a:p>
        </p:txBody>
      </p:sp>
      <p:sp>
        <p:nvSpPr>
          <p:cNvPr id="26" name="Text 24"/>
          <p:cNvSpPr/>
          <p:nvPr/>
        </p:nvSpPr>
        <p:spPr>
          <a:xfrm>
            <a:off x="7863840" y="4526280"/>
            <a:ext cx="3611880" cy="62179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5.  Leave SDC weeks off the intern-facing calendar until approvals exist.</a:t>
            </a:r>
            <a:endParaRPr lang="en-US" sz="1300" dirty="0"/>
          </a:p>
        </p:txBody>
      </p:sp>
      <p:sp>
        <p:nvSpPr>
          <p:cNvPr id="27" name="Shape 25"/>
          <p:cNvSpPr/>
          <p:nvPr/>
        </p:nvSpPr>
        <p:spPr>
          <a:xfrm>
            <a:off x="548640" y="6501384"/>
            <a:ext cx="320040" cy="36576"/>
          </a:xfrm>
          <a:prstGeom prst="rect">
            <a:avLst/>
          </a:prstGeom>
          <a:solidFill>
            <a:srgbClr val="DBA111"/>
          </a:solidFill>
          <a:ln/>
        </p:spPr>
      </p:sp>
      <p:sp>
        <p:nvSpPr>
          <p:cNvPr id="28" name="Text 26"/>
          <p:cNvSpPr/>
          <p:nvPr/>
        </p:nvSpPr>
        <p:spPr>
          <a:xfrm>
            <a:off x="960120" y="6382512"/>
            <a:ext cx="6583680" cy="274320"/>
          </a:xfrm>
          <a:prstGeom prst="rect">
            <a:avLst/>
          </a:prstGeom>
          <a:noFill/>
          <a:ln/>
        </p:spPr>
        <p:txBody>
          <a:bodyPr wrap="square" lIns="0" tIns="0" rIns="0" bIns="0" rtlCol="0" anchor="ctr"/>
          <a:lstStyle/>
          <a:p>
            <a:pPr indent="0" marL="0">
              <a:buNone/>
            </a:pPr>
            <a:r>
              <a:rPr lang="en-US" sz="1000" b="1" spc="160" kern="0" dirty="0">
                <a:solidFill>
                  <a:srgbClr val="475569"/>
                </a:solidFill>
                <a:latin typeface="Calibri" pitchFamily="34" charset="0"/>
                <a:ea typeface="Calibri" pitchFamily="34" charset="-122"/>
                <a:cs typeface="Calibri" pitchFamily="34" charset="-120"/>
              </a:rPr>
              <a:t>CISS INTERNSHIP  |  DELIVERY APPROACH</a:t>
            </a:r>
            <a:endParaRPr lang="en-US" sz="1000" dirty="0"/>
          </a:p>
        </p:txBody>
      </p:sp>
      <p:sp>
        <p:nvSpPr>
          <p:cNvPr id="29" name="Text 27"/>
          <p:cNvSpPr/>
          <p:nvPr/>
        </p:nvSpPr>
        <p:spPr>
          <a:xfrm>
            <a:off x="7406640" y="6382512"/>
            <a:ext cx="3291840" cy="274320"/>
          </a:xfrm>
          <a:prstGeom prst="rect">
            <a:avLst/>
          </a:prstGeom>
          <a:noFill/>
          <a:ln/>
        </p:spPr>
        <p:txBody>
          <a:bodyPr wrap="square" lIns="0" tIns="0" rIns="0" bIns="0" rtlCol="0" anchor="ctr"/>
          <a:lstStyle/>
          <a:p>
            <a:pPr algn="r" indent="0" marL="0">
              <a:buNone/>
            </a:pPr>
            <a:r>
              <a:rPr lang="en-US" sz="1000" i="1" dirty="0">
                <a:solidFill>
                  <a:srgbClr val="475569"/>
                </a:solidFill>
                <a:latin typeface="Calibri" pitchFamily="34" charset="0"/>
                <a:ea typeface="Calibri" pitchFamily="34" charset="-122"/>
                <a:cs typeface="Calibri" pitchFamily="34" charset="-120"/>
              </a:rPr>
              <a:t>Decisions</a:t>
            </a:r>
            <a:endParaRPr lang="en-US" sz="1000" dirty="0"/>
          </a:p>
        </p:txBody>
      </p:sp>
      <p:sp>
        <p:nvSpPr>
          <p:cNvPr id="30" name="Text 28"/>
          <p:cNvSpPr/>
          <p:nvPr/>
        </p:nvSpPr>
        <p:spPr>
          <a:xfrm>
            <a:off x="10835640" y="6382512"/>
            <a:ext cx="777240" cy="274320"/>
          </a:xfrm>
          <a:prstGeom prst="rect">
            <a:avLst/>
          </a:prstGeom>
          <a:noFill/>
          <a:ln/>
        </p:spPr>
        <p:txBody>
          <a:bodyPr wrap="square" lIns="0" tIns="0" rIns="0" bIns="0" rtlCol="0" anchor="ctr"/>
          <a:lstStyle/>
          <a:p>
            <a:pPr algn="r" indent="0" marL="0">
              <a:buNone/>
            </a:pPr>
            <a:r>
              <a:rPr lang="en-US" sz="1200" b="1" dirty="0">
                <a:solidFill>
                  <a:srgbClr val="034694"/>
                </a:solidFill>
                <a:latin typeface="Century Gothic" pitchFamily="34" charset="0"/>
                <a:ea typeface="Century Gothic" pitchFamily="34" charset="-122"/>
                <a:cs typeface="Century Gothic" pitchFamily="34" charset="-120"/>
              </a:rPr>
              <a:t>18</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CISS Internship Delivery Approach</dc:title>
  <dc:subject>36-week intern delivery model: Masdar afternoons, common foundation, capstone</dc:subject>
  <dc:creator>Lockheed Martin — CISS Training</dc:creator>
  <cp:lastModifiedBy>Lockheed Martin — CISS Training</cp:lastModifiedBy>
  <cp:revision>1</cp:revision>
  <dcterms:created xsi:type="dcterms:W3CDTF">2026-09-11T11:15:10Z</dcterms:created>
  <dcterms:modified xsi:type="dcterms:W3CDTF">2026-09-11T11:15:10Z</dcterms:modified>
</cp:coreProperties>
</file>