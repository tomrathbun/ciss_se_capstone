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1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7" d="100"/>
          <a:sy n="77" d="100"/>
        </p:scale>
        <p:origin x="1350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Concept of Operations (CONOPS)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Air Operations Center (AOC)</a:t>
            </a:r>
          </a:p>
          <a:p>
            <a:r>
              <a:t>Voice Communication Systems</a:t>
            </a:r>
          </a:p>
          <a:p>
            <a:r>
              <a:t>Training Lecture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Learning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• Define CONOPS</a:t>
            </a:r>
          </a:p>
          <a:p>
            <a:pPr>
              <a:defRPr sz="2200"/>
            </a:pPr>
            <a:r>
              <a:t>• Understand AOC operations</a:t>
            </a:r>
          </a:p>
          <a:p>
            <a:pPr>
              <a:defRPr sz="2200"/>
            </a:pPr>
            <a:r>
              <a:t>• Communication workflow</a:t>
            </a:r>
          </a:p>
          <a:p>
            <a:pPr>
              <a:defRPr sz="2200"/>
            </a:pPr>
            <a:r>
              <a:t>• Operator responsibilities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CONOPS?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• Describes how a system is used</a:t>
            </a:r>
          </a:p>
          <a:p>
            <a:pPr>
              <a:defRPr sz="2200"/>
            </a:pPr>
            <a:r>
              <a:t>• Defines users, missions, and operational concepts</a:t>
            </a:r>
          </a:p>
          <a:p>
            <a:pPr>
              <a:defRPr sz="2200"/>
            </a:pPr>
            <a:r>
              <a:t>• Bridges requirements and design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Purpose of CONOPS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• Standardize operations</a:t>
            </a:r>
          </a:p>
          <a:p>
            <a:pPr>
              <a:defRPr sz="2200"/>
            </a:pPr>
            <a:r>
              <a:t>• Improve readiness</a:t>
            </a:r>
          </a:p>
          <a:p>
            <a:pPr>
              <a:defRPr sz="2200"/>
            </a:pPr>
            <a:r>
              <a:t>• Enhance decision-making</a:t>
            </a:r>
          </a:p>
          <a:p>
            <a:pPr>
              <a:defRPr sz="2200"/>
            </a:pPr>
            <a:r>
              <a:t>• Increase mission success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Operational Environment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• Radar</a:t>
            </a:r>
          </a:p>
          <a:p>
            <a:pPr>
              <a:defRPr sz="2200"/>
            </a:pPr>
            <a:r>
              <a:t>• Link 16</a:t>
            </a:r>
          </a:p>
          <a:p>
            <a:pPr>
              <a:defRPr sz="2200"/>
            </a:pPr>
            <a:r>
              <a:t>• EW</a:t>
            </a:r>
          </a:p>
          <a:p>
            <a:pPr>
              <a:defRPr sz="2200"/>
            </a:pPr>
            <a:r>
              <a:t>• Intelligence</a:t>
            </a:r>
          </a:p>
          <a:p>
            <a:pPr>
              <a:defRPr sz="2200"/>
            </a:pPr>
            <a:r>
              <a:t>• Weather</a:t>
            </a:r>
          </a:p>
          <a:p>
            <a:pPr>
              <a:defRPr sz="2200"/>
            </a:pPr>
            <a:r>
              <a:t>• Headquarters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AOC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Strategic HQ</a:t>
            </a:r>
          </a:p>
          <a:p>
            <a:pPr>
              <a:defRPr sz="2200"/>
            </a:pPr>
            <a:r>
              <a:t>↓</a:t>
            </a:r>
          </a:p>
          <a:p>
            <a:pPr>
              <a:defRPr sz="2200"/>
            </a:pPr>
            <a:r>
              <a:t>AOC</a:t>
            </a:r>
          </a:p>
          <a:p>
            <a:pPr>
              <a:defRPr sz="2200"/>
            </a:pPr>
            <a:r>
              <a:t>↓</a:t>
            </a:r>
          </a:p>
          <a:p>
            <a:pPr>
              <a:defRPr sz="2200"/>
            </a:pPr>
            <a:r>
              <a:t>C2 / TEWA / COP</a:t>
            </a:r>
          </a:p>
          <a:p>
            <a:pPr>
              <a:defRPr sz="2200"/>
            </a:pPr>
            <a:r>
              <a:t>↓</a:t>
            </a:r>
          </a:p>
          <a:p>
            <a:pPr>
              <a:defRPr sz="2200"/>
            </a:pPr>
            <a:r>
              <a:t>Frequentis VCS + Link16</a:t>
            </a:r>
          </a:p>
          <a:p>
            <a:pPr>
              <a:defRPr sz="2200"/>
            </a:pPr>
            <a:r>
              <a:t>↓</a:t>
            </a:r>
          </a:p>
          <a:p>
            <a:pPr>
              <a:defRPr sz="2200"/>
            </a:pPr>
            <a:r>
              <a:t>SAM / Aircraft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Major 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• Sensors</a:t>
            </a:r>
          </a:p>
          <a:p>
            <a:pPr>
              <a:defRPr sz="2200"/>
            </a:pPr>
            <a:r>
              <a:t>• C2 System</a:t>
            </a:r>
          </a:p>
          <a:p>
            <a:pPr>
              <a:defRPr sz="2200"/>
            </a:pPr>
            <a:r>
              <a:t>• Voice Communications</a:t>
            </a:r>
          </a:p>
          <a:p>
            <a:pPr>
              <a:defRPr sz="2200"/>
            </a:pPr>
            <a:r>
              <a:t>• Data Links</a:t>
            </a:r>
          </a:p>
          <a:p>
            <a:pPr>
              <a:defRPr sz="2200"/>
            </a:pPr>
            <a:r>
              <a:t>• Mission Planning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Operational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Detect → Track → Identify → Evaluate → Assign → Communicate → Execute → Assess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Roles &amp; Responsibilities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Operator</a:t>
            </a:r>
          </a:p>
          <a:p>
            <a:pPr>
              <a:defRPr sz="2200"/>
            </a:pPr>
            <a:r>
              <a:t>Supervisor</a:t>
            </a:r>
          </a:p>
          <a:p>
            <a:pPr>
              <a:defRPr sz="2200"/>
            </a:pPr>
            <a:r>
              <a:t>Commander</a:t>
            </a:r>
          </a:p>
          <a:p>
            <a:pPr>
              <a:defRPr sz="2200"/>
            </a:pPr>
            <a:r>
              <a:t>Communication Operator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Frequentis Voice Communication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• Radio</a:t>
            </a:r>
          </a:p>
          <a:p>
            <a:pPr>
              <a:defRPr sz="2200"/>
            </a:pPr>
            <a:r>
              <a:t>• Telephone</a:t>
            </a:r>
          </a:p>
          <a:p>
            <a:pPr>
              <a:defRPr sz="2200"/>
            </a:pPr>
            <a:r>
              <a:t>• VoIP</a:t>
            </a:r>
          </a:p>
          <a:p>
            <a:pPr>
              <a:defRPr sz="2200"/>
            </a:pPr>
            <a:r>
              <a:t>• Recording</a:t>
            </a:r>
          </a:p>
          <a:p>
            <a:pPr>
              <a:defRPr sz="2200"/>
            </a:pPr>
            <a:r>
              <a:t>• Redundancy</a:t>
            </a:r>
          </a:p>
          <a:p>
            <a:pPr>
              <a:defRPr sz="2200"/>
            </a:pPr>
            <a:r>
              <a:t>• Emergency Calls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Communication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rPr dirty="0"/>
              <a:t>Radar → C2 → TEWA → Supervisor → </a:t>
            </a:r>
            <a:r>
              <a:rPr dirty="0" err="1"/>
              <a:t>Frequentis</a:t>
            </a:r>
            <a:r>
              <a:rPr dirty="0"/>
              <a:t> → SAM/Aircraft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Operational Scenarios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• Normal Mission</a:t>
            </a:r>
          </a:p>
          <a:p>
            <a:pPr>
              <a:defRPr sz="2200"/>
            </a:pPr>
            <a:r>
              <a:t>• Emergency Communications</a:t>
            </a:r>
          </a:p>
          <a:p>
            <a:pPr>
              <a:defRPr sz="2200"/>
            </a:pPr>
            <a:r>
              <a:t>• Multiple Threat Response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Voice Communication 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• Standard phraseology</a:t>
            </a:r>
          </a:p>
          <a:p>
            <a:pPr>
              <a:defRPr sz="2200"/>
            </a:pPr>
            <a:r>
              <a:t>• Read-back</a:t>
            </a:r>
          </a:p>
          <a:p>
            <a:pPr>
              <a:defRPr sz="2200"/>
            </a:pPr>
            <a:r>
              <a:t>• Clear communication</a:t>
            </a:r>
          </a:p>
          <a:p>
            <a:pPr>
              <a:defRPr sz="2200"/>
            </a:pPr>
            <a:r>
              <a:t>• Record critical traffic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Cybersecurity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• Secure credentials</a:t>
            </a:r>
          </a:p>
          <a:p>
            <a:pPr>
              <a:defRPr sz="2200"/>
            </a:pPr>
            <a:r>
              <a:t>• Approved channels</a:t>
            </a:r>
          </a:p>
          <a:p>
            <a:pPr>
              <a:defRPr sz="2200"/>
            </a:pPr>
            <a:r>
              <a:t>• Report incidents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People + Procedures + Technology + Communications = Mission Success</a:t>
            </a:r>
          </a:p>
          <a:p>
            <a:pPr>
              <a:defRPr sz="2200"/>
            </a:pPr>
            <a:endParaRPr/>
          </a:p>
          <a:p>
            <a:pPr>
              <a:defRPr sz="2200"/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233</Words>
  <Application>Microsoft Office PowerPoint</Application>
  <PresentationFormat>On-screen Show (4:3)</PresentationFormat>
  <Paragraphs>74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Concept of Operations (CONOPS)</vt:lpstr>
      <vt:lpstr>Learning Objectives</vt:lpstr>
      <vt:lpstr>What is CONOPS?</vt:lpstr>
      <vt:lpstr>Purpose of CONOPS</vt:lpstr>
      <vt:lpstr>Operational Environment</vt:lpstr>
      <vt:lpstr>AOC Architecture</vt:lpstr>
      <vt:lpstr>Major Components</vt:lpstr>
      <vt:lpstr>Operational Workflow</vt:lpstr>
      <vt:lpstr>Roles &amp; Responsibilities</vt:lpstr>
      <vt:lpstr>Frequentis Voice Communication System</vt:lpstr>
      <vt:lpstr>Communication Flow</vt:lpstr>
      <vt:lpstr>Operational Scenarios</vt:lpstr>
      <vt:lpstr>Voice Communication Best Practices</vt:lpstr>
      <vt:lpstr>Cybersecurity</vt:lpstr>
      <vt:lpstr>Summary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Al Mazrouei, Rashed A (AE)</dc:creator>
  <cp:keywords/>
  <dc:description>generated using python-pptx</dc:description>
  <cp:lastModifiedBy>Rathbun, Thomas F (AE)</cp:lastModifiedBy>
  <cp:revision>3</cp:revision>
  <dcterms:created xsi:type="dcterms:W3CDTF">2013-01-27T09:14:16Z</dcterms:created>
  <dcterms:modified xsi:type="dcterms:W3CDTF">2026-08-04T09:41:59Z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ac884d6-46ec-40ca-a4e4-d9a7c6a7c5c9_Enabled">
    <vt:lpwstr>true</vt:lpwstr>
  </property>
  <property fmtid="{D5CDD505-2E9C-101B-9397-08002B2CF9AE}" pid="3" name="MSIP_Label_aac884d6-46ec-40ca-a4e4-d9a7c6a7c5c9_SetDate">
    <vt:lpwstr>2026-08-04T05:05:25Z</vt:lpwstr>
  </property>
  <property fmtid="{D5CDD505-2E9C-101B-9397-08002B2CF9AE}" pid="4" name="MSIP_Label_aac884d6-46ec-40ca-a4e4-d9a7c6a7c5c9_Method">
    <vt:lpwstr>Privileged</vt:lpwstr>
  </property>
  <property fmtid="{D5CDD505-2E9C-101B-9397-08002B2CF9AE}" pid="5" name="MSIP_Label_aac884d6-46ec-40ca-a4e4-d9a7c6a7c5c9_Name">
    <vt:lpwstr>Unrestricted</vt:lpwstr>
  </property>
  <property fmtid="{D5CDD505-2E9C-101B-9397-08002B2CF9AE}" pid="6" name="MSIP_Label_aac884d6-46ec-40ca-a4e4-d9a7c6a7c5c9_SiteId">
    <vt:lpwstr>3465c5b6-dc75-4b16-8bc3-8e00d98d1b0d</vt:lpwstr>
  </property>
  <property fmtid="{D5CDD505-2E9C-101B-9397-08002B2CF9AE}" pid="7" name="MSIP_Label_aac884d6-46ec-40ca-a4e4-d9a7c6a7c5c9_ActionId">
    <vt:lpwstr>dafd812f-34b7-4ced-a64b-b47ec10965c9</vt:lpwstr>
  </property>
  <property fmtid="{D5CDD505-2E9C-101B-9397-08002B2CF9AE}" pid="8" name="MSIP_Label_aac884d6-46ec-40ca-a4e4-d9a7c6a7c5c9_ContentBits">
    <vt:lpwstr>0</vt:lpwstr>
  </property>
  <property fmtid="{D5CDD505-2E9C-101B-9397-08002B2CF9AE}" pid="9" name="MSIP_Label_aac884d6-46ec-40ca-a4e4-d9a7c6a7c5c9_Tag">
    <vt:lpwstr>10, 0, 1, 1</vt:lpwstr>
  </property>
  <property fmtid="{D5CDD505-2E9C-101B-9397-08002B2CF9AE}" pid="10" name="MSIP_Label_502bc7c3-f152-4da1-98bd-f7a1bebdf752_Enabled">
    <vt:lpwstr>true</vt:lpwstr>
  </property>
  <property fmtid="{D5CDD505-2E9C-101B-9397-08002B2CF9AE}" pid="11" name="MSIP_Label_502bc7c3-f152-4da1-98bd-f7a1bebdf752_SetDate">
    <vt:lpwstr>2026-08-04T09:41:49Z</vt:lpwstr>
  </property>
  <property fmtid="{D5CDD505-2E9C-101B-9397-08002B2CF9AE}" pid="12" name="MSIP_Label_502bc7c3-f152-4da1-98bd-f7a1bebdf752_Method">
    <vt:lpwstr>Privileged</vt:lpwstr>
  </property>
  <property fmtid="{D5CDD505-2E9C-101B-9397-08002B2CF9AE}" pid="13" name="MSIP_Label_502bc7c3-f152-4da1-98bd-f7a1bebdf752_Name">
    <vt:lpwstr>Unrestricted</vt:lpwstr>
  </property>
  <property fmtid="{D5CDD505-2E9C-101B-9397-08002B2CF9AE}" pid="14" name="MSIP_Label_502bc7c3-f152-4da1-98bd-f7a1bebdf752_SiteId">
    <vt:lpwstr>b18f006c-b0fc-467d-b23a-a35b5695b5dc</vt:lpwstr>
  </property>
  <property fmtid="{D5CDD505-2E9C-101B-9397-08002B2CF9AE}" pid="15" name="MSIP_Label_502bc7c3-f152-4da1-98bd-f7a1bebdf752_ActionId">
    <vt:lpwstr>21d8899c-6e73-469f-859a-749d5e4b8dfa</vt:lpwstr>
  </property>
  <property fmtid="{D5CDD505-2E9C-101B-9397-08002B2CF9AE}" pid="16" name="MSIP_Label_502bc7c3-f152-4da1-98bd-f7a1bebdf752_ContentBits">
    <vt:lpwstr>0</vt:lpwstr>
  </property>
  <property fmtid="{D5CDD505-2E9C-101B-9397-08002B2CF9AE}" pid="17" name="MSIP_Label_502bc7c3-f152-4da1-98bd-f7a1bebdf752_Tag">
    <vt:lpwstr>10, 0, 1, 1</vt:lpwstr>
  </property>
</Properties>
</file>